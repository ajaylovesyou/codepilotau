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B21B6"/>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4C1D95"/>
          </a:solidFill>
          <a:ln w="12700">
            <a:solidFill>
              <a:srgbClr val="4C1D95"/>
            </a:solidFill>
            <a:prstDash val="solid"/>
          </a:ln>
        </p:spPr>
      </p:sp>
      <p:sp>
        <p:nvSpPr>
          <p:cNvPr id="3" name="Shape 1"/>
          <p:cNvSpPr/>
          <p:nvPr/>
        </p:nvSpPr>
        <p:spPr>
          <a:xfrm>
            <a:off x="6080760" y="0"/>
            <a:ext cx="137160" cy="5143500"/>
          </a:xfrm>
          <a:prstGeom prst="rect">
            <a:avLst/>
          </a:prstGeom>
          <a:solidFill>
            <a:srgbClr val="DB2777"/>
          </a:solidFill>
          <a:ln w="12700">
            <a:solidFill>
              <a:srgbClr val="DB2777"/>
            </a:solidFill>
            <a:prstDash val="solid"/>
          </a:ln>
        </p:spPr>
      </p:sp>
      <p:sp>
        <p:nvSpPr>
          <p:cNvPr id="4" name="Shape 2"/>
          <p:cNvSpPr/>
          <p:nvPr/>
        </p:nvSpPr>
        <p:spPr>
          <a:xfrm>
            <a:off x="6492240" y="365760"/>
            <a:ext cx="2194560" cy="2194560"/>
          </a:xfrm>
          <a:prstGeom prst="ellipse">
            <a:avLst/>
          </a:prstGeom>
          <a:solidFill>
            <a:srgbClr val="6D28D9">
              <a:alpha val="50000"/>
            </a:srgbClr>
          </a:solidFill>
          <a:ln w="12700">
            <a:solidFill>
              <a:srgbClr val="6D28D9"/>
            </a:solidFill>
            <a:prstDash val="solid"/>
          </a:ln>
        </p:spPr>
      </p:sp>
      <p:sp>
        <p:nvSpPr>
          <p:cNvPr id="5" name="Shape 3"/>
          <p:cNvSpPr/>
          <p:nvPr/>
        </p:nvSpPr>
        <p:spPr>
          <a:xfrm>
            <a:off x="6949440" y="2560320"/>
            <a:ext cx="1645920" cy="1645920"/>
          </a:xfrm>
          <a:prstGeom prst="ellipse">
            <a:avLst/>
          </a:prstGeom>
          <a:solidFill>
            <a:srgbClr val="DB2777">
              <a:alpha val="30000"/>
            </a:srgbClr>
          </a:solidFill>
          <a:ln w="12700">
            <a:solidFill>
              <a:srgbClr val="DB2777"/>
            </a:solidFill>
            <a:prstDash val="solid"/>
          </a:ln>
        </p:spPr>
      </p:sp>
      <p:sp>
        <p:nvSpPr>
          <p:cNvPr id="6" name="Shape 4"/>
          <p:cNvSpPr/>
          <p:nvPr/>
        </p:nvSpPr>
        <p:spPr>
          <a:xfrm>
            <a:off x="502920" y="438912"/>
            <a:ext cx="2377440" cy="310896"/>
          </a:xfrm>
          <a:prstGeom prst="roundRect">
            <a:avLst>
              <a:gd name="adj" fmla="val 11765"/>
            </a:avLst>
          </a:prstGeom>
          <a:solidFill>
            <a:srgbClr val="DB2777">
              <a:alpha val="85000"/>
            </a:srgbClr>
          </a:solidFill>
          <a:ln w="12700">
            <a:solidFill>
              <a:srgbClr val="DB2777"/>
            </a:solidFill>
            <a:prstDash val="solid"/>
          </a:ln>
        </p:spPr>
      </p:sp>
      <p:sp>
        <p:nvSpPr>
          <p:cNvPr id="7" name="Text 5"/>
          <p:cNvSpPr/>
          <p:nvPr/>
        </p:nvSpPr>
        <p:spPr>
          <a:xfrm>
            <a:off x="502920" y="438912"/>
            <a:ext cx="2377440" cy="310896"/>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onsolas" pitchFamily="34" charset="0"/>
                <a:ea typeface="Consolas" pitchFamily="34" charset="-122"/>
                <a:cs typeface="Consolas" pitchFamily="34" charset="-120"/>
              </a:rPr>
              <a:t>PS-11  ·  HACKATHON 2026</a:t>
            </a:r>
            <a:endParaRPr lang="en-US" sz="900" dirty="0"/>
          </a:p>
        </p:txBody>
      </p:sp>
      <p:sp>
        <p:nvSpPr>
          <p:cNvPr id="8" name="Text 6"/>
          <p:cNvSpPr/>
          <p:nvPr/>
        </p:nvSpPr>
        <p:spPr>
          <a:xfrm>
            <a:off x="457200" y="896112"/>
            <a:ext cx="5394960" cy="1371600"/>
          </a:xfrm>
          <a:prstGeom prst="rect">
            <a:avLst/>
          </a:prstGeom>
          <a:noFill/>
          <a:ln/>
        </p:spPr>
        <p:txBody>
          <a:bodyPr wrap="square"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CodePilot</a:t>
            </a:r>
            <a:endParaRPr lang="en-US" sz="6400" dirty="0"/>
          </a:p>
        </p:txBody>
      </p:sp>
      <p:sp>
        <p:nvSpPr>
          <p:cNvPr id="9" name="Shape 7"/>
          <p:cNvSpPr/>
          <p:nvPr/>
        </p:nvSpPr>
        <p:spPr>
          <a:xfrm>
            <a:off x="502920" y="2304288"/>
            <a:ext cx="3291840" cy="54864"/>
          </a:xfrm>
          <a:prstGeom prst="rect">
            <a:avLst/>
          </a:prstGeom>
          <a:solidFill>
            <a:srgbClr val="DB2777"/>
          </a:solidFill>
          <a:ln w="12700">
            <a:solidFill>
              <a:srgbClr val="DB2777"/>
            </a:solidFill>
            <a:prstDash val="solid"/>
          </a:ln>
        </p:spPr>
      </p:sp>
      <p:sp>
        <p:nvSpPr>
          <p:cNvPr id="10" name="Text 8"/>
          <p:cNvSpPr/>
          <p:nvPr/>
        </p:nvSpPr>
        <p:spPr>
          <a:xfrm>
            <a:off x="502920" y="2450592"/>
            <a:ext cx="5394960" cy="438912"/>
          </a:xfrm>
          <a:prstGeom prst="rect">
            <a:avLst/>
          </a:prstGeom>
          <a:noFill/>
          <a:ln/>
        </p:spPr>
        <p:txBody>
          <a:bodyPr wrap="square" rtlCol="0" anchor="ctr"/>
          <a:lstStyle/>
          <a:p>
            <a:pPr indent="0" marL="0">
              <a:buNone/>
            </a:pPr>
            <a:r>
              <a:rPr lang="en-US" sz="1800" i="1" dirty="0">
                <a:solidFill>
                  <a:srgbClr val="C4B5FD"/>
                </a:solidFill>
                <a:latin typeface="Calibri" pitchFamily="34" charset="0"/>
                <a:ea typeface="Calibri" pitchFamily="34" charset="-122"/>
                <a:cs typeface="Calibri" pitchFamily="34" charset="-120"/>
              </a:rPr>
              <a:t>AI Music &amp; Sound Therapy Studio</a:t>
            </a:r>
            <a:endParaRPr lang="en-US" sz="1800" dirty="0"/>
          </a:p>
        </p:txBody>
      </p:sp>
      <p:sp>
        <p:nvSpPr>
          <p:cNvPr id="11" name="Text 9"/>
          <p:cNvSpPr/>
          <p:nvPr/>
        </p:nvSpPr>
        <p:spPr>
          <a:xfrm>
            <a:off x="502920" y="2944368"/>
            <a:ext cx="5394960" cy="731520"/>
          </a:xfrm>
          <a:prstGeom prst="rect">
            <a:avLst/>
          </a:prstGeom>
          <a:noFill/>
          <a:ln/>
        </p:spPr>
        <p:txBody>
          <a:bodyPr wrap="square" rtlCol="0" anchor="ctr"/>
          <a:lstStyle/>
          <a:p>
            <a:pPr indent="0" marL="0">
              <a:lnSpc>
                <a:spcPct val="140000"/>
              </a:lnSpc>
              <a:buNone/>
            </a:pPr>
            <a:r>
              <a:rPr lang="en-US" sz="1250" dirty="0">
                <a:solidFill>
                  <a:srgbClr val="A5B4FC"/>
                </a:solidFill>
                <a:latin typeface="Calibri" pitchFamily="34" charset="0"/>
                <a:ea typeface="Calibri" pitchFamily="34" charset="-122"/>
                <a:cs typeface="Calibri" pitchFamily="34" charset="-120"/>
              </a:rPr>
              <a:t>Hum any tune  →  Claude AI turns it into real music</a:t>
            </a:r>
            <a:endParaRPr lang="en-US" sz="1250" dirty="0"/>
          </a:p>
          <a:p>
            <a:pPr indent="0" marL="0">
              <a:lnSpc>
                <a:spcPct val="140000"/>
              </a:lnSpc>
              <a:buNone/>
            </a:pPr>
            <a:r>
              <a:rPr lang="en-US" sz="1250" dirty="0">
                <a:solidFill>
                  <a:srgbClr val="A5B4FC"/>
                </a:solidFill>
                <a:latin typeface="Calibri" pitchFamily="34" charset="0"/>
                <a:ea typeface="Calibri" pitchFamily="34" charset="-122"/>
                <a:cs typeface="Calibri" pitchFamily="34" charset="-120"/>
              </a:rPr>
              <a:t>+ Real Sound Therapy to calm your mind</a:t>
            </a:r>
            <a:endParaRPr lang="en-US" sz="1250" dirty="0"/>
          </a:p>
        </p:txBody>
      </p:sp>
      <p:sp>
        <p:nvSpPr>
          <p:cNvPr id="12" name="Text 10"/>
          <p:cNvSpPr/>
          <p:nvPr/>
        </p:nvSpPr>
        <p:spPr>
          <a:xfrm>
            <a:off x="6309360" y="914400"/>
            <a:ext cx="2560320" cy="292608"/>
          </a:xfrm>
          <a:prstGeom prst="rect">
            <a:avLst/>
          </a:prstGeom>
          <a:noFill/>
          <a:ln/>
        </p:spPr>
        <p:txBody>
          <a:bodyPr wrap="square" rtlCol="0" anchor="ctr"/>
          <a:lstStyle/>
          <a:p>
            <a:pPr algn="ctr" indent="0" marL="0">
              <a:buNone/>
            </a:pPr>
            <a:r>
              <a:rPr lang="en-US" sz="900" b="1" spc="100" kern="0" dirty="0">
                <a:solidFill>
                  <a:srgbClr val="C4B5FD"/>
                </a:solidFill>
                <a:latin typeface="Consolas" pitchFamily="34" charset="0"/>
                <a:ea typeface="Consolas" pitchFamily="34" charset="-122"/>
                <a:cs typeface="Consolas" pitchFamily="34" charset="-120"/>
              </a:rPr>
              <a:t>Team Members</a:t>
            </a:r>
            <a:endParaRPr lang="en-US" sz="900" dirty="0"/>
          </a:p>
        </p:txBody>
      </p:sp>
      <p:sp>
        <p:nvSpPr>
          <p:cNvPr id="13" name="Text 11"/>
          <p:cNvSpPr/>
          <p:nvPr/>
        </p:nvSpPr>
        <p:spPr>
          <a:xfrm>
            <a:off x="6309360" y="1261872"/>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Ajay Kushwaha</a:t>
            </a:r>
            <a:endParaRPr lang="en-US" sz="1200" dirty="0"/>
          </a:p>
        </p:txBody>
      </p:sp>
      <p:sp>
        <p:nvSpPr>
          <p:cNvPr id="14" name="Text 12"/>
          <p:cNvSpPr/>
          <p:nvPr/>
        </p:nvSpPr>
        <p:spPr>
          <a:xfrm>
            <a:off x="6309360" y="1682496"/>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Foram Upadhyay</a:t>
            </a:r>
            <a:endParaRPr lang="en-US" sz="1200" dirty="0"/>
          </a:p>
        </p:txBody>
      </p:sp>
      <p:sp>
        <p:nvSpPr>
          <p:cNvPr id="15" name="Text 13"/>
          <p:cNvSpPr/>
          <p:nvPr/>
        </p:nvSpPr>
        <p:spPr>
          <a:xfrm>
            <a:off x="6309360" y="2103120"/>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Kaushal Zala</a:t>
            </a:r>
            <a:endParaRPr lang="en-US" sz="1200" dirty="0"/>
          </a:p>
        </p:txBody>
      </p:sp>
      <p:sp>
        <p:nvSpPr>
          <p:cNvPr id="16" name="Text 14"/>
          <p:cNvSpPr/>
          <p:nvPr/>
        </p:nvSpPr>
        <p:spPr>
          <a:xfrm>
            <a:off x="6309360" y="2523744"/>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Riya Sakariya</a:t>
            </a:r>
            <a:endParaRPr lang="en-US" sz="1200" dirty="0"/>
          </a:p>
        </p:txBody>
      </p:sp>
      <p:sp>
        <p:nvSpPr>
          <p:cNvPr id="17" name="Shape 15"/>
          <p:cNvSpPr/>
          <p:nvPr/>
        </p:nvSpPr>
        <p:spPr>
          <a:xfrm>
            <a:off x="6400800" y="3200400"/>
            <a:ext cx="2377440" cy="0"/>
          </a:xfrm>
          <a:prstGeom prst="line">
            <a:avLst/>
          </a:prstGeom>
          <a:noFill/>
          <a:ln w="12700">
            <a:solidFill>
              <a:srgbClr val="6D28D9"/>
            </a:solidFill>
            <a:prstDash val="solid"/>
          </a:ln>
        </p:spPr>
      </p:sp>
      <p:sp>
        <p:nvSpPr>
          <p:cNvPr id="18" name="Text 16"/>
          <p:cNvSpPr/>
          <p:nvPr/>
        </p:nvSpPr>
        <p:spPr>
          <a:xfrm>
            <a:off x="6309360" y="3273552"/>
            <a:ext cx="2560320" cy="310896"/>
          </a:xfrm>
          <a:prstGeom prst="rect">
            <a:avLst/>
          </a:prstGeom>
          <a:noFill/>
          <a:ln/>
        </p:spPr>
        <p:txBody>
          <a:bodyPr wrap="square"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BCA  4th Semester</a:t>
            </a:r>
            <a:endParaRPr lang="en-US" sz="1100" dirty="0"/>
          </a:p>
        </p:txBody>
      </p:sp>
      <p:sp>
        <p:nvSpPr>
          <p:cNvPr id="19" name="Text 17"/>
          <p:cNvSpPr/>
          <p:nvPr/>
        </p:nvSpPr>
        <p:spPr>
          <a:xfrm>
            <a:off x="6309360" y="3602736"/>
            <a:ext cx="2560320" cy="4572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2026</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B21B6"/>
          </a:solidFill>
          <a:ln w="12700">
            <a:solidFill>
              <a:srgbClr val="5B21B6"/>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Table of Contents</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22960"/>
            <a:ext cx="4206240" cy="603504"/>
          </a:xfrm>
          <a:prstGeom prst="rect">
            <a:avLst/>
          </a:prstGeom>
          <a:solidFill>
            <a:srgbClr val="F7F6FF"/>
          </a:solidFill>
          <a:ln w="12700">
            <a:solidFill>
              <a:srgbClr val="E5E7EB"/>
            </a:solidFill>
            <a:prstDash val="solid"/>
          </a:ln>
        </p:spPr>
      </p:sp>
      <p:sp>
        <p:nvSpPr>
          <p:cNvPr id="7" name="Shape 5"/>
          <p:cNvSpPr/>
          <p:nvPr/>
        </p:nvSpPr>
        <p:spPr>
          <a:xfrm>
            <a:off x="493776" y="914400"/>
            <a:ext cx="420624" cy="420624"/>
          </a:xfrm>
          <a:prstGeom prst="ellipse">
            <a:avLst/>
          </a:prstGeom>
          <a:solidFill>
            <a:srgbClr val="7C3AED"/>
          </a:solidFill>
          <a:ln w="12700">
            <a:solidFill>
              <a:srgbClr val="7C3AED"/>
            </a:solidFill>
            <a:prstDash val="solid"/>
          </a:ln>
        </p:spPr>
      </p:sp>
      <p:sp>
        <p:nvSpPr>
          <p:cNvPr id="8" name="Text 6"/>
          <p:cNvSpPr/>
          <p:nvPr/>
        </p:nvSpPr>
        <p:spPr>
          <a:xfrm>
            <a:off x="493776" y="914400"/>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9" name="Text 7"/>
          <p:cNvSpPr/>
          <p:nvPr/>
        </p:nvSpPr>
        <p:spPr>
          <a:xfrm>
            <a:off x="1005840" y="868680"/>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Introduction</a:t>
            </a:r>
            <a:endParaRPr lang="en-US" sz="1200" dirty="0"/>
          </a:p>
        </p:txBody>
      </p:sp>
      <p:sp>
        <p:nvSpPr>
          <p:cNvPr id="10" name="Text 8"/>
          <p:cNvSpPr/>
          <p:nvPr/>
        </p:nvSpPr>
        <p:spPr>
          <a:xfrm>
            <a:off x="1005840" y="1152144"/>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What is CodePilot?</a:t>
            </a:r>
            <a:endParaRPr lang="en-US" sz="950" dirty="0"/>
          </a:p>
        </p:txBody>
      </p:sp>
      <p:sp>
        <p:nvSpPr>
          <p:cNvPr id="11" name="Shape 9"/>
          <p:cNvSpPr/>
          <p:nvPr/>
        </p:nvSpPr>
        <p:spPr>
          <a:xfrm>
            <a:off x="4846320" y="822960"/>
            <a:ext cx="4206240" cy="603504"/>
          </a:xfrm>
          <a:prstGeom prst="rect">
            <a:avLst/>
          </a:prstGeom>
          <a:solidFill>
            <a:srgbClr val="EDE9FE"/>
          </a:solidFill>
          <a:ln w="12700">
            <a:solidFill>
              <a:srgbClr val="E5E7EB"/>
            </a:solidFill>
            <a:prstDash val="solid"/>
          </a:ln>
        </p:spPr>
      </p:sp>
      <p:sp>
        <p:nvSpPr>
          <p:cNvPr id="12" name="Shape 10"/>
          <p:cNvSpPr/>
          <p:nvPr/>
        </p:nvSpPr>
        <p:spPr>
          <a:xfrm>
            <a:off x="4956048" y="914400"/>
            <a:ext cx="420624" cy="420624"/>
          </a:xfrm>
          <a:prstGeom prst="ellipse">
            <a:avLst/>
          </a:prstGeom>
          <a:solidFill>
            <a:srgbClr val="DB2777"/>
          </a:solidFill>
          <a:ln w="12700">
            <a:solidFill>
              <a:srgbClr val="DB2777"/>
            </a:solidFill>
            <a:prstDash val="solid"/>
          </a:ln>
        </p:spPr>
      </p:sp>
      <p:sp>
        <p:nvSpPr>
          <p:cNvPr id="13" name="Text 11"/>
          <p:cNvSpPr/>
          <p:nvPr/>
        </p:nvSpPr>
        <p:spPr>
          <a:xfrm>
            <a:off x="4956048" y="914400"/>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4" name="Text 12"/>
          <p:cNvSpPr/>
          <p:nvPr/>
        </p:nvSpPr>
        <p:spPr>
          <a:xfrm>
            <a:off x="5468112" y="868680"/>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What is a Melody?</a:t>
            </a:r>
            <a:endParaRPr lang="en-US" sz="1200" dirty="0"/>
          </a:p>
        </p:txBody>
      </p:sp>
      <p:sp>
        <p:nvSpPr>
          <p:cNvPr id="15" name="Text 13"/>
          <p:cNvSpPr/>
          <p:nvPr/>
        </p:nvSpPr>
        <p:spPr>
          <a:xfrm>
            <a:off x="5468112" y="1152144"/>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Understanding melodies in CodePilot</a:t>
            </a:r>
            <a:endParaRPr lang="en-US" sz="950" dirty="0"/>
          </a:p>
        </p:txBody>
      </p:sp>
      <p:sp>
        <p:nvSpPr>
          <p:cNvPr id="16" name="Shape 14"/>
          <p:cNvSpPr/>
          <p:nvPr/>
        </p:nvSpPr>
        <p:spPr>
          <a:xfrm>
            <a:off x="384048" y="1572768"/>
            <a:ext cx="4206240" cy="603504"/>
          </a:xfrm>
          <a:prstGeom prst="rect">
            <a:avLst/>
          </a:prstGeom>
          <a:solidFill>
            <a:srgbClr val="F7F6FF"/>
          </a:solidFill>
          <a:ln w="12700">
            <a:solidFill>
              <a:srgbClr val="E5E7EB"/>
            </a:solidFill>
            <a:prstDash val="solid"/>
          </a:ln>
        </p:spPr>
      </p:sp>
      <p:sp>
        <p:nvSpPr>
          <p:cNvPr id="17" name="Shape 15"/>
          <p:cNvSpPr/>
          <p:nvPr/>
        </p:nvSpPr>
        <p:spPr>
          <a:xfrm>
            <a:off x="493776" y="1664208"/>
            <a:ext cx="420624" cy="420624"/>
          </a:xfrm>
          <a:prstGeom prst="ellipse">
            <a:avLst/>
          </a:prstGeom>
          <a:solidFill>
            <a:srgbClr val="0891B2"/>
          </a:solidFill>
          <a:ln w="12700">
            <a:solidFill>
              <a:srgbClr val="0891B2"/>
            </a:solidFill>
            <a:prstDash val="solid"/>
          </a:ln>
        </p:spPr>
      </p:sp>
      <p:sp>
        <p:nvSpPr>
          <p:cNvPr id="18" name="Text 16"/>
          <p:cNvSpPr/>
          <p:nvPr/>
        </p:nvSpPr>
        <p:spPr>
          <a:xfrm>
            <a:off x="493776" y="1664208"/>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9" name="Text 17"/>
          <p:cNvSpPr/>
          <p:nvPr/>
        </p:nvSpPr>
        <p:spPr>
          <a:xfrm>
            <a:off x="1005840" y="1618488"/>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Key Features</a:t>
            </a:r>
            <a:endParaRPr lang="en-US" sz="1200" dirty="0"/>
          </a:p>
        </p:txBody>
      </p:sp>
      <p:sp>
        <p:nvSpPr>
          <p:cNvPr id="20" name="Text 18"/>
          <p:cNvSpPr/>
          <p:nvPr/>
        </p:nvSpPr>
        <p:spPr>
          <a:xfrm>
            <a:off x="1005840" y="1901952"/>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Everything the app can do</a:t>
            </a:r>
            <a:endParaRPr lang="en-US" sz="950" dirty="0"/>
          </a:p>
        </p:txBody>
      </p:sp>
      <p:sp>
        <p:nvSpPr>
          <p:cNvPr id="21" name="Shape 19"/>
          <p:cNvSpPr/>
          <p:nvPr/>
        </p:nvSpPr>
        <p:spPr>
          <a:xfrm>
            <a:off x="4846320" y="1572768"/>
            <a:ext cx="4206240" cy="603504"/>
          </a:xfrm>
          <a:prstGeom prst="rect">
            <a:avLst/>
          </a:prstGeom>
          <a:solidFill>
            <a:srgbClr val="EDE9FE"/>
          </a:solidFill>
          <a:ln w="12700">
            <a:solidFill>
              <a:srgbClr val="E5E7EB"/>
            </a:solidFill>
            <a:prstDash val="solid"/>
          </a:ln>
        </p:spPr>
      </p:sp>
      <p:sp>
        <p:nvSpPr>
          <p:cNvPr id="22" name="Shape 20"/>
          <p:cNvSpPr/>
          <p:nvPr/>
        </p:nvSpPr>
        <p:spPr>
          <a:xfrm>
            <a:off x="4956048" y="1664208"/>
            <a:ext cx="420624" cy="420624"/>
          </a:xfrm>
          <a:prstGeom prst="ellipse">
            <a:avLst/>
          </a:prstGeom>
          <a:solidFill>
            <a:srgbClr val="D97706"/>
          </a:solidFill>
          <a:ln w="12700">
            <a:solidFill>
              <a:srgbClr val="D97706"/>
            </a:solidFill>
            <a:prstDash val="solid"/>
          </a:ln>
        </p:spPr>
      </p:sp>
      <p:sp>
        <p:nvSpPr>
          <p:cNvPr id="23" name="Text 21"/>
          <p:cNvSpPr/>
          <p:nvPr/>
        </p:nvSpPr>
        <p:spPr>
          <a:xfrm>
            <a:off x="4956048" y="1664208"/>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4" name="Text 22"/>
          <p:cNvSpPr/>
          <p:nvPr/>
        </p:nvSpPr>
        <p:spPr>
          <a:xfrm>
            <a:off x="5468112" y="1618488"/>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Use Cases</a:t>
            </a:r>
            <a:endParaRPr lang="en-US" sz="1200" dirty="0"/>
          </a:p>
        </p:txBody>
      </p:sp>
      <p:sp>
        <p:nvSpPr>
          <p:cNvPr id="25" name="Text 23"/>
          <p:cNvSpPr/>
          <p:nvPr/>
        </p:nvSpPr>
        <p:spPr>
          <a:xfrm>
            <a:off x="5468112" y="1901952"/>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Who uses it and how?</a:t>
            </a:r>
            <a:endParaRPr lang="en-US" sz="950" dirty="0"/>
          </a:p>
        </p:txBody>
      </p:sp>
      <p:sp>
        <p:nvSpPr>
          <p:cNvPr id="26" name="Shape 24"/>
          <p:cNvSpPr/>
          <p:nvPr/>
        </p:nvSpPr>
        <p:spPr>
          <a:xfrm>
            <a:off x="384048" y="2322576"/>
            <a:ext cx="4206240" cy="603504"/>
          </a:xfrm>
          <a:prstGeom prst="rect">
            <a:avLst/>
          </a:prstGeom>
          <a:solidFill>
            <a:srgbClr val="F7F6FF"/>
          </a:solidFill>
          <a:ln w="12700">
            <a:solidFill>
              <a:srgbClr val="E5E7EB"/>
            </a:solidFill>
            <a:prstDash val="solid"/>
          </a:ln>
        </p:spPr>
      </p:sp>
      <p:sp>
        <p:nvSpPr>
          <p:cNvPr id="27" name="Shape 25"/>
          <p:cNvSpPr/>
          <p:nvPr/>
        </p:nvSpPr>
        <p:spPr>
          <a:xfrm>
            <a:off x="493776" y="2414016"/>
            <a:ext cx="420624" cy="420624"/>
          </a:xfrm>
          <a:prstGeom prst="ellipse">
            <a:avLst/>
          </a:prstGeom>
          <a:solidFill>
            <a:srgbClr val="059669"/>
          </a:solidFill>
          <a:ln w="12700">
            <a:solidFill>
              <a:srgbClr val="059669"/>
            </a:solidFill>
            <a:prstDash val="solid"/>
          </a:ln>
        </p:spPr>
      </p:sp>
      <p:sp>
        <p:nvSpPr>
          <p:cNvPr id="28" name="Text 26"/>
          <p:cNvSpPr/>
          <p:nvPr/>
        </p:nvSpPr>
        <p:spPr>
          <a:xfrm>
            <a:off x="493776" y="2414016"/>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9" name="Text 27"/>
          <p:cNvSpPr/>
          <p:nvPr/>
        </p:nvSpPr>
        <p:spPr>
          <a:xfrm>
            <a:off x="1005840" y="2368296"/>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Why Use CodePilot?</a:t>
            </a:r>
            <a:endParaRPr lang="en-US" sz="1200" dirty="0"/>
          </a:p>
        </p:txBody>
      </p:sp>
      <p:sp>
        <p:nvSpPr>
          <p:cNvPr id="30" name="Text 28"/>
          <p:cNvSpPr/>
          <p:nvPr/>
        </p:nvSpPr>
        <p:spPr>
          <a:xfrm>
            <a:off x="1005840" y="2651760"/>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Benefits and advantages</a:t>
            </a:r>
            <a:endParaRPr lang="en-US" sz="950" dirty="0"/>
          </a:p>
        </p:txBody>
      </p:sp>
      <p:sp>
        <p:nvSpPr>
          <p:cNvPr id="31" name="Shape 29"/>
          <p:cNvSpPr/>
          <p:nvPr/>
        </p:nvSpPr>
        <p:spPr>
          <a:xfrm>
            <a:off x="4846320" y="2322576"/>
            <a:ext cx="4206240" cy="603504"/>
          </a:xfrm>
          <a:prstGeom prst="rect">
            <a:avLst/>
          </a:prstGeom>
          <a:solidFill>
            <a:srgbClr val="EDE9FE"/>
          </a:solidFill>
          <a:ln w="12700">
            <a:solidFill>
              <a:srgbClr val="E5E7EB"/>
            </a:solidFill>
            <a:prstDash val="solid"/>
          </a:ln>
        </p:spPr>
      </p:sp>
      <p:sp>
        <p:nvSpPr>
          <p:cNvPr id="32" name="Shape 30"/>
          <p:cNvSpPr/>
          <p:nvPr/>
        </p:nvSpPr>
        <p:spPr>
          <a:xfrm>
            <a:off x="4956048" y="2414016"/>
            <a:ext cx="420624" cy="420624"/>
          </a:xfrm>
          <a:prstGeom prst="ellipse">
            <a:avLst/>
          </a:prstGeom>
          <a:solidFill>
            <a:srgbClr val="4338CA"/>
          </a:solidFill>
          <a:ln w="12700">
            <a:solidFill>
              <a:srgbClr val="4338CA"/>
            </a:solidFill>
            <a:prstDash val="solid"/>
          </a:ln>
        </p:spPr>
      </p:sp>
      <p:sp>
        <p:nvSpPr>
          <p:cNvPr id="33" name="Text 31"/>
          <p:cNvSpPr/>
          <p:nvPr/>
        </p:nvSpPr>
        <p:spPr>
          <a:xfrm>
            <a:off x="4956048" y="2414016"/>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34" name="Text 32"/>
          <p:cNvSpPr/>
          <p:nvPr/>
        </p:nvSpPr>
        <p:spPr>
          <a:xfrm>
            <a:off x="5468112" y="2368296"/>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How to Use</a:t>
            </a:r>
            <a:endParaRPr lang="en-US" sz="1200" dirty="0"/>
          </a:p>
        </p:txBody>
      </p:sp>
      <p:sp>
        <p:nvSpPr>
          <p:cNvPr id="35" name="Text 33"/>
          <p:cNvSpPr/>
          <p:nvPr/>
        </p:nvSpPr>
        <p:spPr>
          <a:xfrm>
            <a:off x="5468112" y="2651760"/>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Step-by-step walkthrough</a:t>
            </a:r>
            <a:endParaRPr lang="en-US" sz="950" dirty="0"/>
          </a:p>
        </p:txBody>
      </p:sp>
      <p:sp>
        <p:nvSpPr>
          <p:cNvPr id="36" name="Shape 34"/>
          <p:cNvSpPr/>
          <p:nvPr/>
        </p:nvSpPr>
        <p:spPr>
          <a:xfrm>
            <a:off x="384048" y="3072384"/>
            <a:ext cx="4206240" cy="603504"/>
          </a:xfrm>
          <a:prstGeom prst="rect">
            <a:avLst/>
          </a:prstGeom>
          <a:solidFill>
            <a:srgbClr val="F7F6FF"/>
          </a:solidFill>
          <a:ln w="12700">
            <a:solidFill>
              <a:srgbClr val="E5E7EB"/>
            </a:solidFill>
            <a:prstDash val="solid"/>
          </a:ln>
        </p:spPr>
      </p:sp>
      <p:sp>
        <p:nvSpPr>
          <p:cNvPr id="37" name="Shape 35"/>
          <p:cNvSpPr/>
          <p:nvPr/>
        </p:nvSpPr>
        <p:spPr>
          <a:xfrm>
            <a:off x="493776" y="3163824"/>
            <a:ext cx="420624" cy="420624"/>
          </a:xfrm>
          <a:prstGeom prst="ellipse">
            <a:avLst/>
          </a:prstGeom>
          <a:solidFill>
            <a:srgbClr val="0D9488"/>
          </a:solidFill>
          <a:ln w="12700">
            <a:solidFill>
              <a:srgbClr val="0D9488"/>
            </a:solidFill>
            <a:prstDash val="solid"/>
          </a:ln>
        </p:spPr>
      </p:sp>
      <p:sp>
        <p:nvSpPr>
          <p:cNvPr id="38" name="Text 36"/>
          <p:cNvSpPr/>
          <p:nvPr/>
        </p:nvSpPr>
        <p:spPr>
          <a:xfrm>
            <a:off x="493776" y="3163824"/>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9" name="Text 37"/>
          <p:cNvSpPr/>
          <p:nvPr/>
        </p:nvSpPr>
        <p:spPr>
          <a:xfrm>
            <a:off x="1005840" y="3118104"/>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What is Sound Therapy?</a:t>
            </a:r>
            <a:endParaRPr lang="en-US" sz="1200" dirty="0"/>
          </a:p>
        </p:txBody>
      </p:sp>
      <p:sp>
        <p:nvSpPr>
          <p:cNvPr id="40" name="Text 38"/>
          <p:cNvSpPr/>
          <p:nvPr/>
        </p:nvSpPr>
        <p:spPr>
          <a:xfrm>
            <a:off x="1005840" y="3401568"/>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Science behind the therapy modes</a:t>
            </a:r>
            <a:endParaRPr lang="en-US" sz="950" dirty="0"/>
          </a:p>
        </p:txBody>
      </p:sp>
      <p:sp>
        <p:nvSpPr>
          <p:cNvPr id="41" name="Shape 39"/>
          <p:cNvSpPr/>
          <p:nvPr/>
        </p:nvSpPr>
        <p:spPr>
          <a:xfrm>
            <a:off x="4846320" y="3072384"/>
            <a:ext cx="4206240" cy="603504"/>
          </a:xfrm>
          <a:prstGeom prst="rect">
            <a:avLst/>
          </a:prstGeom>
          <a:solidFill>
            <a:srgbClr val="EDE9FE"/>
          </a:solidFill>
          <a:ln w="12700">
            <a:solidFill>
              <a:srgbClr val="E5E7EB"/>
            </a:solidFill>
            <a:prstDash val="solid"/>
          </a:ln>
        </p:spPr>
      </p:sp>
      <p:sp>
        <p:nvSpPr>
          <p:cNvPr id="42" name="Shape 40"/>
          <p:cNvSpPr/>
          <p:nvPr/>
        </p:nvSpPr>
        <p:spPr>
          <a:xfrm>
            <a:off x="4956048" y="3163824"/>
            <a:ext cx="420624" cy="420624"/>
          </a:xfrm>
          <a:prstGeom prst="ellipse">
            <a:avLst/>
          </a:prstGeom>
          <a:solidFill>
            <a:srgbClr val="E11D48"/>
          </a:solidFill>
          <a:ln w="12700">
            <a:solidFill>
              <a:srgbClr val="E11D48"/>
            </a:solidFill>
            <a:prstDash val="solid"/>
          </a:ln>
        </p:spPr>
      </p:sp>
      <p:sp>
        <p:nvSpPr>
          <p:cNvPr id="43" name="Text 41"/>
          <p:cNvSpPr/>
          <p:nvPr/>
        </p:nvSpPr>
        <p:spPr>
          <a:xfrm>
            <a:off x="4956048" y="3163824"/>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44" name="Text 42"/>
          <p:cNvSpPr/>
          <p:nvPr/>
        </p:nvSpPr>
        <p:spPr>
          <a:xfrm>
            <a:off x="5468112" y="3118104"/>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Libraries &amp; Functions</a:t>
            </a:r>
            <a:endParaRPr lang="en-US" sz="1200" dirty="0"/>
          </a:p>
        </p:txBody>
      </p:sp>
      <p:sp>
        <p:nvSpPr>
          <p:cNvPr id="45" name="Text 43"/>
          <p:cNvSpPr/>
          <p:nvPr/>
        </p:nvSpPr>
        <p:spPr>
          <a:xfrm>
            <a:off x="5468112" y="3401568"/>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Tech stack deep-dive</a:t>
            </a:r>
            <a:endParaRPr lang="en-US" sz="950" dirty="0"/>
          </a:p>
        </p:txBody>
      </p:sp>
      <p:sp>
        <p:nvSpPr>
          <p:cNvPr id="46" name="Shape 44"/>
          <p:cNvSpPr/>
          <p:nvPr/>
        </p:nvSpPr>
        <p:spPr>
          <a:xfrm>
            <a:off x="384048" y="3822192"/>
            <a:ext cx="4206240" cy="603504"/>
          </a:xfrm>
          <a:prstGeom prst="rect">
            <a:avLst/>
          </a:prstGeom>
          <a:solidFill>
            <a:srgbClr val="F7F6FF"/>
          </a:solidFill>
          <a:ln w="12700">
            <a:solidFill>
              <a:srgbClr val="E5E7EB"/>
            </a:solidFill>
            <a:prstDash val="solid"/>
          </a:ln>
        </p:spPr>
      </p:sp>
      <p:sp>
        <p:nvSpPr>
          <p:cNvPr id="47" name="Shape 45"/>
          <p:cNvSpPr/>
          <p:nvPr/>
        </p:nvSpPr>
        <p:spPr>
          <a:xfrm>
            <a:off x="493776" y="3913632"/>
            <a:ext cx="420624" cy="420624"/>
          </a:xfrm>
          <a:prstGeom prst="ellipse">
            <a:avLst/>
          </a:prstGeom>
          <a:solidFill>
            <a:srgbClr val="5B21B6"/>
          </a:solidFill>
          <a:ln w="12700">
            <a:solidFill>
              <a:srgbClr val="5B21B6"/>
            </a:solidFill>
            <a:prstDash val="solid"/>
          </a:ln>
        </p:spPr>
      </p:sp>
      <p:sp>
        <p:nvSpPr>
          <p:cNvPr id="48" name="Text 46"/>
          <p:cNvSpPr/>
          <p:nvPr/>
        </p:nvSpPr>
        <p:spPr>
          <a:xfrm>
            <a:off x="493776" y="3913632"/>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49" name="Text 47"/>
          <p:cNvSpPr/>
          <p:nvPr/>
        </p:nvSpPr>
        <p:spPr>
          <a:xfrm>
            <a:off x="1005840" y="3867912"/>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Architecture &amp; Flow</a:t>
            </a:r>
            <a:endParaRPr lang="en-US" sz="1200" dirty="0"/>
          </a:p>
        </p:txBody>
      </p:sp>
      <p:sp>
        <p:nvSpPr>
          <p:cNvPr id="50" name="Text 48"/>
          <p:cNvSpPr/>
          <p:nvPr/>
        </p:nvSpPr>
        <p:spPr>
          <a:xfrm>
            <a:off x="1005840" y="4151376"/>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How everything connects</a:t>
            </a:r>
            <a:endParaRPr lang="en-US" sz="950" dirty="0"/>
          </a:p>
        </p:txBody>
      </p:sp>
      <p:sp>
        <p:nvSpPr>
          <p:cNvPr id="51" name="Shape 49"/>
          <p:cNvSpPr/>
          <p:nvPr/>
        </p:nvSpPr>
        <p:spPr>
          <a:xfrm>
            <a:off x="4846320" y="3822192"/>
            <a:ext cx="4206240" cy="603504"/>
          </a:xfrm>
          <a:prstGeom prst="rect">
            <a:avLst/>
          </a:prstGeom>
          <a:solidFill>
            <a:srgbClr val="EDE9FE"/>
          </a:solidFill>
          <a:ln w="12700">
            <a:solidFill>
              <a:srgbClr val="E5E7EB"/>
            </a:solidFill>
            <a:prstDash val="solid"/>
          </a:ln>
        </p:spPr>
      </p:sp>
      <p:sp>
        <p:nvSpPr>
          <p:cNvPr id="52" name="Shape 50"/>
          <p:cNvSpPr/>
          <p:nvPr/>
        </p:nvSpPr>
        <p:spPr>
          <a:xfrm>
            <a:off x="4956048" y="3913632"/>
            <a:ext cx="420624" cy="420624"/>
          </a:xfrm>
          <a:prstGeom prst="ellipse">
            <a:avLst/>
          </a:prstGeom>
          <a:solidFill>
            <a:srgbClr val="DB2777"/>
          </a:solidFill>
          <a:ln w="12700">
            <a:solidFill>
              <a:srgbClr val="DB2777"/>
            </a:solidFill>
            <a:prstDash val="solid"/>
          </a:ln>
        </p:spPr>
      </p:sp>
      <p:sp>
        <p:nvSpPr>
          <p:cNvPr id="53" name="Text 51"/>
          <p:cNvSpPr/>
          <p:nvPr/>
        </p:nvSpPr>
        <p:spPr>
          <a:xfrm>
            <a:off x="4956048" y="3913632"/>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54" name="Text 52"/>
          <p:cNvSpPr/>
          <p:nvPr/>
        </p:nvSpPr>
        <p:spPr>
          <a:xfrm>
            <a:off x="5468112" y="3867912"/>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Meet The Team</a:t>
            </a:r>
            <a:endParaRPr lang="en-US" sz="1200" dirty="0"/>
          </a:p>
        </p:txBody>
      </p:sp>
      <p:sp>
        <p:nvSpPr>
          <p:cNvPr id="55" name="Text 53"/>
          <p:cNvSpPr/>
          <p:nvPr/>
        </p:nvSpPr>
        <p:spPr>
          <a:xfrm>
            <a:off x="5468112" y="4151376"/>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The people behind CodePilot</a:t>
            </a:r>
            <a:endParaRPr lang="en-US" sz="950" dirty="0"/>
          </a:p>
        </p:txBody>
      </p:sp>
      <p:sp>
        <p:nvSpPr>
          <p:cNvPr id="56" name="Shape 54"/>
          <p:cNvSpPr/>
          <p:nvPr/>
        </p:nvSpPr>
        <p:spPr>
          <a:xfrm>
            <a:off x="384048" y="4572000"/>
            <a:ext cx="4206240" cy="603504"/>
          </a:xfrm>
          <a:prstGeom prst="rect">
            <a:avLst/>
          </a:prstGeom>
          <a:solidFill>
            <a:srgbClr val="F7F6FF"/>
          </a:solidFill>
          <a:ln w="12700">
            <a:solidFill>
              <a:srgbClr val="E5E7EB"/>
            </a:solidFill>
            <a:prstDash val="solid"/>
          </a:ln>
        </p:spPr>
      </p:sp>
      <p:sp>
        <p:nvSpPr>
          <p:cNvPr id="57" name="Shape 55"/>
          <p:cNvSpPr/>
          <p:nvPr/>
        </p:nvSpPr>
        <p:spPr>
          <a:xfrm>
            <a:off x="493776" y="4663440"/>
            <a:ext cx="420624" cy="420624"/>
          </a:xfrm>
          <a:prstGeom prst="ellipse">
            <a:avLst/>
          </a:prstGeom>
          <a:solidFill>
            <a:srgbClr val="7C3AED"/>
          </a:solidFill>
          <a:ln w="12700">
            <a:solidFill>
              <a:srgbClr val="7C3AED"/>
            </a:solidFill>
            <a:prstDash val="solid"/>
          </a:ln>
        </p:spPr>
      </p:sp>
      <p:sp>
        <p:nvSpPr>
          <p:cNvPr id="58" name="Text 56"/>
          <p:cNvSpPr/>
          <p:nvPr/>
        </p:nvSpPr>
        <p:spPr>
          <a:xfrm>
            <a:off x="493776" y="4663440"/>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59" name="Text 57"/>
          <p:cNvSpPr/>
          <p:nvPr/>
        </p:nvSpPr>
        <p:spPr>
          <a:xfrm>
            <a:off x="1005840" y="4617720"/>
            <a:ext cx="3383280" cy="292608"/>
          </a:xfrm>
          <a:prstGeom prst="rect">
            <a:avLst/>
          </a:prstGeom>
          <a:noFill/>
          <a:ln/>
        </p:spPr>
        <p:txBody>
          <a:bodyPr wrap="square" lIns="0" tIns="0" rIns="0" bIns="0"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Thank You</a:t>
            </a:r>
            <a:endParaRPr lang="en-US" sz="1200" dirty="0"/>
          </a:p>
        </p:txBody>
      </p:sp>
      <p:sp>
        <p:nvSpPr>
          <p:cNvPr id="60" name="Text 58"/>
          <p:cNvSpPr/>
          <p:nvPr/>
        </p:nvSpPr>
        <p:spPr>
          <a:xfrm>
            <a:off x="1005840" y="4901184"/>
            <a:ext cx="3383280" cy="23774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Closing &amp; Future Vision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B21B6"/>
          </a:solidFill>
          <a:ln w="12700">
            <a:solidFill>
              <a:srgbClr val="5B21B6"/>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Introduction — What is CodePilot?</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22960"/>
            <a:ext cx="5120640" cy="1920240"/>
          </a:xfrm>
          <a:prstGeom prst="rect">
            <a:avLst/>
          </a:prstGeom>
          <a:solidFill>
            <a:srgbClr val="EDE9FE"/>
          </a:solidFill>
          <a:ln w="12700">
            <a:solidFill>
              <a:srgbClr val="DDD6FE"/>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822960"/>
            <a:ext cx="50292" cy="1920240"/>
          </a:xfrm>
          <a:prstGeom prst="rect">
            <a:avLst/>
          </a:prstGeom>
          <a:solidFill>
            <a:srgbClr val="7C3AED"/>
          </a:solidFill>
          <a:ln w="12700">
            <a:solidFill>
              <a:srgbClr val="7C3AED"/>
            </a:solidFill>
            <a:prstDash val="solid"/>
          </a:ln>
        </p:spPr>
      </p:sp>
      <p:sp>
        <p:nvSpPr>
          <p:cNvPr id="8" name="Text 6"/>
          <p:cNvSpPr/>
          <p:nvPr/>
        </p:nvSpPr>
        <p:spPr>
          <a:xfrm>
            <a:off x="566928" y="896112"/>
            <a:ext cx="4754880" cy="402336"/>
          </a:xfrm>
          <a:prstGeom prst="rect">
            <a:avLst/>
          </a:prstGeom>
          <a:noFill/>
          <a:ln/>
        </p:spPr>
        <p:txBody>
          <a:bodyPr wrap="square" rtlCol="0" anchor="ctr"/>
          <a:lstStyle/>
          <a:p>
            <a:pPr indent="0" marL="0">
              <a:buNone/>
            </a:pPr>
            <a:r>
              <a:rPr lang="en-US" sz="2000" b="1" dirty="0">
                <a:solidFill>
                  <a:srgbClr val="5B21B6"/>
                </a:solidFill>
                <a:latin typeface="Calibri" pitchFamily="34" charset="0"/>
                <a:ea typeface="Calibri" pitchFamily="34" charset="-122"/>
                <a:cs typeface="Calibri" pitchFamily="34" charset="-120"/>
              </a:rPr>
              <a:t>CodePilot</a:t>
            </a:r>
            <a:endParaRPr lang="en-US" sz="2000" dirty="0"/>
          </a:p>
        </p:txBody>
      </p:sp>
      <p:sp>
        <p:nvSpPr>
          <p:cNvPr id="9" name="Text 7"/>
          <p:cNvSpPr/>
          <p:nvPr/>
        </p:nvSpPr>
        <p:spPr>
          <a:xfrm>
            <a:off x="566928" y="1316736"/>
            <a:ext cx="4754880" cy="1325880"/>
          </a:xfrm>
          <a:prstGeom prst="rect">
            <a:avLst/>
          </a:prstGeom>
          <a:noFill/>
          <a:ln/>
        </p:spPr>
        <p:txBody>
          <a:bodyPr wrap="square" rtlCol="0" anchor="ctr"/>
          <a:lstStyle/>
          <a:p>
            <a:pPr indent="0" marL="0">
              <a:lnSpc>
                <a:spcPct val="145000"/>
              </a:lnSpc>
              <a:buNone/>
            </a:pPr>
            <a:r>
              <a:rPr lang="en-US" sz="1200" dirty="0">
                <a:solidFill>
                  <a:srgbClr val="374151"/>
                </a:solidFill>
                <a:latin typeface="Calibri" pitchFamily="34" charset="0"/>
                <a:ea typeface="Calibri" pitchFamily="34" charset="-122"/>
                <a:cs typeface="Calibri" pitchFamily="34" charset="-120"/>
              </a:rPr>
              <a:t>is a 100% browser-based AI studio that converts your voice into real music. Hum any tune into the microphone — it detects your musical notes in real-time, then uses Claude AI (Anthropic) to compose a full personalized melody. No download, no login, no musical training required.</a:t>
            </a:r>
            <a:endParaRPr lang="en-US" sz="1200" dirty="0"/>
          </a:p>
        </p:txBody>
      </p:sp>
      <p:sp>
        <p:nvSpPr>
          <p:cNvPr id="10" name="Shape 8"/>
          <p:cNvSpPr/>
          <p:nvPr/>
        </p:nvSpPr>
        <p:spPr>
          <a:xfrm>
            <a:off x="5742432" y="822960"/>
            <a:ext cx="3017520" cy="5486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1" name="Shape 9"/>
          <p:cNvSpPr/>
          <p:nvPr/>
        </p:nvSpPr>
        <p:spPr>
          <a:xfrm>
            <a:off x="5742432" y="822960"/>
            <a:ext cx="50292" cy="548640"/>
          </a:xfrm>
          <a:prstGeom prst="rect">
            <a:avLst/>
          </a:prstGeom>
          <a:solidFill>
            <a:srgbClr val="7C3AED"/>
          </a:solidFill>
          <a:ln w="12700">
            <a:solidFill>
              <a:srgbClr val="7C3AED"/>
            </a:solidFill>
            <a:prstDash val="solid"/>
          </a:ln>
        </p:spPr>
      </p:sp>
      <p:sp>
        <p:nvSpPr>
          <p:cNvPr id="12" name="Text 10"/>
          <p:cNvSpPr/>
          <p:nvPr/>
        </p:nvSpPr>
        <p:spPr>
          <a:xfrm>
            <a:off x="5961888" y="859536"/>
            <a:ext cx="1005840" cy="256032"/>
          </a:xfrm>
          <a:prstGeom prst="rect">
            <a:avLst/>
          </a:prstGeom>
          <a:noFill/>
          <a:ln/>
        </p:spPr>
        <p:txBody>
          <a:bodyPr wrap="square" lIns="0" tIns="0" rIns="0" bIns="0" rtlCol="0" anchor="ctr"/>
          <a:lstStyle/>
          <a:p>
            <a:pPr indent="0" marL="0">
              <a:buNone/>
            </a:pPr>
            <a:r>
              <a:rPr lang="en-US" sz="900" b="1" dirty="0">
                <a:solidFill>
                  <a:srgbClr val="7C3AED"/>
                </a:solidFill>
                <a:latin typeface="Consolas" pitchFamily="34" charset="0"/>
                <a:ea typeface="Consolas" pitchFamily="34" charset="-122"/>
                <a:cs typeface="Consolas" pitchFamily="34" charset="-120"/>
              </a:rPr>
              <a:t>Platform:</a:t>
            </a:r>
            <a:endParaRPr lang="en-US" sz="900" dirty="0"/>
          </a:p>
        </p:txBody>
      </p:sp>
      <p:sp>
        <p:nvSpPr>
          <p:cNvPr id="13" name="Text 11"/>
          <p:cNvSpPr/>
          <p:nvPr/>
        </p:nvSpPr>
        <p:spPr>
          <a:xfrm>
            <a:off x="5961888" y="1115568"/>
            <a:ext cx="2651760" cy="20116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100% Browser — no install needed</a:t>
            </a:r>
            <a:endParaRPr lang="en-US" sz="1050" dirty="0"/>
          </a:p>
        </p:txBody>
      </p:sp>
      <p:sp>
        <p:nvSpPr>
          <p:cNvPr id="14" name="Shape 12"/>
          <p:cNvSpPr/>
          <p:nvPr/>
        </p:nvSpPr>
        <p:spPr>
          <a:xfrm>
            <a:off x="5742432" y="1481328"/>
            <a:ext cx="3017520" cy="5486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5" name="Shape 13"/>
          <p:cNvSpPr/>
          <p:nvPr/>
        </p:nvSpPr>
        <p:spPr>
          <a:xfrm>
            <a:off x="5742432" y="1481328"/>
            <a:ext cx="50292" cy="548640"/>
          </a:xfrm>
          <a:prstGeom prst="rect">
            <a:avLst/>
          </a:prstGeom>
          <a:solidFill>
            <a:srgbClr val="DB2777"/>
          </a:solidFill>
          <a:ln w="12700">
            <a:solidFill>
              <a:srgbClr val="DB2777"/>
            </a:solidFill>
            <a:prstDash val="solid"/>
          </a:ln>
        </p:spPr>
      </p:sp>
      <p:sp>
        <p:nvSpPr>
          <p:cNvPr id="16" name="Text 14"/>
          <p:cNvSpPr/>
          <p:nvPr/>
        </p:nvSpPr>
        <p:spPr>
          <a:xfrm>
            <a:off x="5961888" y="1517904"/>
            <a:ext cx="1005840" cy="256032"/>
          </a:xfrm>
          <a:prstGeom prst="rect">
            <a:avLst/>
          </a:prstGeom>
          <a:noFill/>
          <a:ln/>
        </p:spPr>
        <p:txBody>
          <a:bodyPr wrap="square" lIns="0" tIns="0" rIns="0" bIns="0" rtlCol="0" anchor="ctr"/>
          <a:lstStyle/>
          <a:p>
            <a:pPr indent="0" marL="0">
              <a:buNone/>
            </a:pPr>
            <a:r>
              <a:rPr lang="en-US" sz="900" b="1" dirty="0">
                <a:solidFill>
                  <a:srgbClr val="DB2777"/>
                </a:solidFill>
                <a:latin typeface="Consolas" pitchFamily="34" charset="0"/>
                <a:ea typeface="Consolas" pitchFamily="34" charset="-122"/>
                <a:cs typeface="Consolas" pitchFamily="34" charset="-120"/>
              </a:rPr>
              <a:t>AI Engine:</a:t>
            </a:r>
            <a:endParaRPr lang="en-US" sz="900" dirty="0"/>
          </a:p>
        </p:txBody>
      </p:sp>
      <p:sp>
        <p:nvSpPr>
          <p:cNvPr id="17" name="Text 15"/>
          <p:cNvSpPr/>
          <p:nvPr/>
        </p:nvSpPr>
        <p:spPr>
          <a:xfrm>
            <a:off x="5961888" y="1773936"/>
            <a:ext cx="2651760" cy="20116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Claude AI by Anthropic</a:t>
            </a:r>
            <a:endParaRPr lang="en-US" sz="1050" dirty="0"/>
          </a:p>
        </p:txBody>
      </p:sp>
      <p:sp>
        <p:nvSpPr>
          <p:cNvPr id="18" name="Shape 16"/>
          <p:cNvSpPr/>
          <p:nvPr/>
        </p:nvSpPr>
        <p:spPr>
          <a:xfrm>
            <a:off x="5742432" y="2139696"/>
            <a:ext cx="3017520" cy="54864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5742432" y="2139696"/>
            <a:ext cx="50292" cy="548640"/>
          </a:xfrm>
          <a:prstGeom prst="rect">
            <a:avLst/>
          </a:prstGeom>
          <a:solidFill>
            <a:srgbClr val="0891B2"/>
          </a:solidFill>
          <a:ln w="12700">
            <a:solidFill>
              <a:srgbClr val="0891B2"/>
            </a:solidFill>
            <a:prstDash val="solid"/>
          </a:ln>
        </p:spPr>
      </p:sp>
      <p:sp>
        <p:nvSpPr>
          <p:cNvPr id="20" name="Text 18"/>
          <p:cNvSpPr/>
          <p:nvPr/>
        </p:nvSpPr>
        <p:spPr>
          <a:xfrm>
            <a:off x="5961888" y="2176272"/>
            <a:ext cx="1005840" cy="256032"/>
          </a:xfrm>
          <a:prstGeom prst="rect">
            <a:avLst/>
          </a:prstGeom>
          <a:noFill/>
          <a:ln/>
        </p:spPr>
        <p:txBody>
          <a:bodyPr wrap="square" lIns="0" tIns="0" rIns="0" bIns="0" rtlCol="0" anchor="ctr"/>
          <a:lstStyle/>
          <a:p>
            <a:pPr indent="0" marL="0">
              <a:buNone/>
            </a:pPr>
            <a:r>
              <a:rPr lang="en-US" sz="900" b="1" dirty="0">
                <a:solidFill>
                  <a:srgbClr val="0891B2"/>
                </a:solidFill>
                <a:latin typeface="Consolas" pitchFamily="34" charset="0"/>
                <a:ea typeface="Consolas" pitchFamily="34" charset="-122"/>
                <a:cs typeface="Consolas" pitchFamily="34" charset="-120"/>
              </a:rPr>
              <a:t>Built With:</a:t>
            </a:r>
            <a:endParaRPr lang="en-US" sz="900" dirty="0"/>
          </a:p>
        </p:txBody>
      </p:sp>
      <p:sp>
        <p:nvSpPr>
          <p:cNvPr id="21" name="Text 19"/>
          <p:cNvSpPr/>
          <p:nvPr/>
        </p:nvSpPr>
        <p:spPr>
          <a:xfrm>
            <a:off x="5961888" y="2432304"/>
            <a:ext cx="2651760" cy="20116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Web Audio API + Tone.js + Vanilla JS</a:t>
            </a:r>
            <a:endParaRPr lang="en-US" sz="1050" dirty="0"/>
          </a:p>
        </p:txBody>
      </p:sp>
      <p:sp>
        <p:nvSpPr>
          <p:cNvPr id="22" name="Shape 20"/>
          <p:cNvSpPr/>
          <p:nvPr/>
        </p:nvSpPr>
        <p:spPr>
          <a:xfrm>
            <a:off x="384048" y="2907792"/>
            <a:ext cx="8375904" cy="1810512"/>
          </a:xfrm>
          <a:prstGeom prst="rect">
            <a:avLst/>
          </a:prstGeom>
          <a:solidFill>
            <a:srgbClr val="EEF0FF"/>
          </a:solidFill>
          <a:ln w="12700">
            <a:solidFill>
              <a:srgbClr val="DDD6FE"/>
            </a:solidFill>
            <a:prstDash val="solid"/>
          </a:ln>
        </p:spPr>
      </p:sp>
      <p:sp>
        <p:nvSpPr>
          <p:cNvPr id="23" name="Text 21"/>
          <p:cNvSpPr/>
          <p:nvPr/>
        </p:nvSpPr>
        <p:spPr>
          <a:xfrm>
            <a:off x="566928" y="2980944"/>
            <a:ext cx="3657600" cy="329184"/>
          </a:xfrm>
          <a:prstGeom prst="rect">
            <a:avLst/>
          </a:prstGeom>
          <a:noFill/>
          <a:ln/>
        </p:spPr>
        <p:txBody>
          <a:bodyPr wrap="square" rtlCol="0" anchor="ctr"/>
          <a:lstStyle/>
          <a:p>
            <a:pPr indent="0" marL="0">
              <a:buNone/>
            </a:pPr>
            <a:r>
              <a:rPr lang="en-US" sz="1300" b="1" dirty="0">
                <a:solidFill>
                  <a:srgbClr val="5B21B6"/>
                </a:solidFill>
                <a:latin typeface="Calibri" pitchFamily="34" charset="0"/>
                <a:ea typeface="Calibri" pitchFamily="34" charset="-122"/>
                <a:cs typeface="Calibri" pitchFamily="34" charset="-120"/>
              </a:rPr>
              <a:t>The Problem It Solves</a:t>
            </a:r>
            <a:endParaRPr lang="en-US" sz="1300" dirty="0"/>
          </a:p>
        </p:txBody>
      </p:sp>
      <p:sp>
        <p:nvSpPr>
          <p:cNvPr id="24" name="Shape 22"/>
          <p:cNvSpPr/>
          <p:nvPr/>
        </p:nvSpPr>
        <p:spPr>
          <a:xfrm>
            <a:off x="566928" y="3346704"/>
            <a:ext cx="274320" cy="274320"/>
          </a:xfrm>
          <a:prstGeom prst="ellipse">
            <a:avLst/>
          </a:prstGeom>
          <a:solidFill>
            <a:srgbClr val="7C3AED"/>
          </a:solidFill>
          <a:ln w="12700">
            <a:solidFill>
              <a:srgbClr val="7C3AED"/>
            </a:solidFill>
            <a:prstDash val="solid"/>
          </a:ln>
        </p:spPr>
      </p:sp>
      <p:sp>
        <p:nvSpPr>
          <p:cNvPr id="25" name="Text 23"/>
          <p:cNvSpPr/>
          <p:nvPr/>
        </p:nvSpPr>
        <p:spPr>
          <a:xfrm>
            <a:off x="932688" y="3310128"/>
            <a:ext cx="2423160" cy="256032"/>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Music is inaccessible</a:t>
            </a:r>
            <a:endParaRPr lang="en-US" sz="1100" dirty="0"/>
          </a:p>
        </p:txBody>
      </p:sp>
      <p:sp>
        <p:nvSpPr>
          <p:cNvPr id="26" name="Text 24"/>
          <p:cNvSpPr/>
          <p:nvPr/>
        </p:nvSpPr>
        <p:spPr>
          <a:xfrm>
            <a:off x="932688" y="3584448"/>
            <a:ext cx="2423160" cy="87782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Most people have musical ideas but lack training or instruments</a:t>
            </a:r>
            <a:endParaRPr lang="en-US" sz="1000" dirty="0"/>
          </a:p>
        </p:txBody>
      </p:sp>
      <p:sp>
        <p:nvSpPr>
          <p:cNvPr id="27" name="Shape 25"/>
          <p:cNvSpPr/>
          <p:nvPr/>
        </p:nvSpPr>
        <p:spPr>
          <a:xfrm>
            <a:off x="3310128" y="3346704"/>
            <a:ext cx="274320" cy="274320"/>
          </a:xfrm>
          <a:prstGeom prst="ellipse">
            <a:avLst/>
          </a:prstGeom>
          <a:solidFill>
            <a:srgbClr val="7C3AED"/>
          </a:solidFill>
          <a:ln w="12700">
            <a:solidFill>
              <a:srgbClr val="7C3AED"/>
            </a:solidFill>
            <a:prstDash val="solid"/>
          </a:ln>
        </p:spPr>
      </p:sp>
      <p:sp>
        <p:nvSpPr>
          <p:cNvPr id="28" name="Text 26"/>
          <p:cNvSpPr/>
          <p:nvPr/>
        </p:nvSpPr>
        <p:spPr>
          <a:xfrm>
            <a:off x="3675888" y="3310128"/>
            <a:ext cx="2423160" cy="256032"/>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Therapy tools are expensive</a:t>
            </a:r>
            <a:endParaRPr lang="en-US" sz="1100" dirty="0"/>
          </a:p>
        </p:txBody>
      </p:sp>
      <p:sp>
        <p:nvSpPr>
          <p:cNvPr id="29" name="Text 27"/>
          <p:cNvSpPr/>
          <p:nvPr/>
        </p:nvSpPr>
        <p:spPr>
          <a:xfrm>
            <a:off x="3675888" y="3584448"/>
            <a:ext cx="2423160" cy="87782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Sound therapy apps are costly or need professional guidance</a:t>
            </a:r>
            <a:endParaRPr lang="en-US" sz="1000" dirty="0"/>
          </a:p>
        </p:txBody>
      </p:sp>
      <p:sp>
        <p:nvSpPr>
          <p:cNvPr id="30" name="Shape 28"/>
          <p:cNvSpPr/>
          <p:nvPr/>
        </p:nvSpPr>
        <p:spPr>
          <a:xfrm>
            <a:off x="6053328" y="3346704"/>
            <a:ext cx="274320" cy="274320"/>
          </a:xfrm>
          <a:prstGeom prst="ellipse">
            <a:avLst/>
          </a:prstGeom>
          <a:solidFill>
            <a:srgbClr val="7C3AED"/>
          </a:solidFill>
          <a:ln w="12700">
            <a:solidFill>
              <a:srgbClr val="7C3AED"/>
            </a:solidFill>
            <a:prstDash val="solid"/>
          </a:ln>
        </p:spPr>
      </p:sp>
      <p:sp>
        <p:nvSpPr>
          <p:cNvPr id="31" name="Text 29"/>
          <p:cNvSpPr/>
          <p:nvPr/>
        </p:nvSpPr>
        <p:spPr>
          <a:xfrm>
            <a:off x="6419088" y="3310128"/>
            <a:ext cx="2423160" cy="256032"/>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No unified tool exists</a:t>
            </a:r>
            <a:endParaRPr lang="en-US" sz="1100" dirty="0"/>
          </a:p>
        </p:txBody>
      </p:sp>
      <p:sp>
        <p:nvSpPr>
          <p:cNvPr id="32" name="Text 30"/>
          <p:cNvSpPr/>
          <p:nvPr/>
        </p:nvSpPr>
        <p:spPr>
          <a:xfrm>
            <a:off x="6419088" y="3584448"/>
            <a:ext cx="2423160" cy="87782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No app combines AI music creation + sound therapy together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B2777"/>
          </a:solidFill>
          <a:ln w="12700">
            <a:solidFill>
              <a:srgbClr val="DB2777"/>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a Melody?</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04672"/>
            <a:ext cx="8375904" cy="960120"/>
          </a:xfrm>
          <a:prstGeom prst="rect">
            <a:avLst/>
          </a:prstGeom>
          <a:solidFill>
            <a:srgbClr val="FCE7F3"/>
          </a:solidFill>
          <a:ln w="12700">
            <a:solidFill>
              <a:srgbClr val="FCE7F3"/>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804672"/>
            <a:ext cx="50292" cy="960120"/>
          </a:xfrm>
          <a:prstGeom prst="rect">
            <a:avLst/>
          </a:prstGeom>
          <a:solidFill>
            <a:srgbClr val="DB2777"/>
          </a:solidFill>
          <a:ln w="12700">
            <a:solidFill>
              <a:srgbClr val="DB2777"/>
            </a:solidFill>
            <a:prstDash val="solid"/>
          </a:ln>
        </p:spPr>
      </p:sp>
      <p:sp>
        <p:nvSpPr>
          <p:cNvPr id="8" name="Text 6"/>
          <p:cNvSpPr/>
          <p:nvPr/>
        </p:nvSpPr>
        <p:spPr>
          <a:xfrm>
            <a:off x="594360" y="877824"/>
            <a:ext cx="8028432" cy="731520"/>
          </a:xfrm>
          <a:prstGeom prst="rect">
            <a:avLst/>
          </a:prstGeom>
          <a:noFill/>
          <a:ln/>
        </p:spPr>
        <p:txBody>
          <a:bodyPr wrap="square" rtlCol="0" anchor="ctr"/>
          <a:lstStyle/>
          <a:p>
            <a:pPr indent="0" marL="0">
              <a:lnSpc>
                <a:spcPct val="145000"/>
              </a:lnSpc>
              <a:buNone/>
            </a:pPr>
            <a:r>
              <a:rPr lang="en-US" sz="1300" i="1" dirty="0">
                <a:solidFill>
                  <a:srgbClr val="374151"/>
                </a:solidFill>
                <a:latin typeface="Calibri" pitchFamily="34" charset="0"/>
                <a:ea typeface="Calibri" pitchFamily="34" charset="-122"/>
                <a:cs typeface="Calibri" pitchFamily="34" charset="-120"/>
              </a:rPr>
              <a:t>A melody is a sequence of musical notes played in a particular order and rhythm to form a recognizable tune. It is the main "singable" part of a song — the part you hum or whistle.</a:t>
            </a:r>
            <a:endParaRPr lang="en-US" sz="1300" dirty="0"/>
          </a:p>
        </p:txBody>
      </p:sp>
      <p:sp>
        <p:nvSpPr>
          <p:cNvPr id="9" name="Shape 7"/>
          <p:cNvSpPr/>
          <p:nvPr/>
        </p:nvSpPr>
        <p:spPr>
          <a:xfrm>
            <a:off x="384048" y="1901952"/>
            <a:ext cx="2697480" cy="1874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0" name="Shape 8"/>
          <p:cNvSpPr/>
          <p:nvPr/>
        </p:nvSpPr>
        <p:spPr>
          <a:xfrm>
            <a:off x="384048" y="1901952"/>
            <a:ext cx="2697480" cy="54864"/>
          </a:xfrm>
          <a:prstGeom prst="rect">
            <a:avLst/>
          </a:prstGeom>
          <a:solidFill>
            <a:srgbClr val="DB2777"/>
          </a:solidFill>
          <a:ln w="12700">
            <a:solidFill>
              <a:srgbClr val="DB2777"/>
            </a:solidFill>
            <a:prstDash val="solid"/>
          </a:ln>
        </p:spPr>
      </p:sp>
      <p:sp>
        <p:nvSpPr>
          <p:cNvPr id="11" name="Text 9"/>
          <p:cNvSpPr/>
          <p:nvPr/>
        </p:nvSpPr>
        <p:spPr>
          <a:xfrm>
            <a:off x="548640" y="2048256"/>
            <a:ext cx="2377440" cy="365760"/>
          </a:xfrm>
          <a:prstGeom prst="rect">
            <a:avLst/>
          </a:prstGeom>
          <a:noFill/>
          <a:ln/>
        </p:spPr>
        <p:txBody>
          <a:bodyPr wrap="square" rtlCol="0" anchor="ctr"/>
          <a:lstStyle/>
          <a:p>
            <a:pPr indent="0" marL="0">
              <a:buNone/>
            </a:pPr>
            <a:r>
              <a:rPr lang="en-US" sz="1600" b="1" dirty="0">
                <a:solidFill>
                  <a:srgbClr val="DB2777"/>
                </a:solidFill>
                <a:latin typeface="Calibri" pitchFamily="34" charset="0"/>
                <a:ea typeface="Calibri" pitchFamily="34" charset="-122"/>
                <a:cs typeface="Calibri" pitchFamily="34" charset="-120"/>
              </a:rPr>
              <a:t>Notes</a:t>
            </a:r>
            <a:endParaRPr lang="en-US" sz="1600" dirty="0"/>
          </a:p>
        </p:txBody>
      </p:sp>
      <p:sp>
        <p:nvSpPr>
          <p:cNvPr id="12" name="Text 10"/>
          <p:cNvSpPr/>
          <p:nvPr/>
        </p:nvSpPr>
        <p:spPr>
          <a:xfrm>
            <a:off x="548640" y="2432304"/>
            <a:ext cx="2377440" cy="1234440"/>
          </a:xfrm>
          <a:prstGeom prst="rect">
            <a:avLst/>
          </a:prstGeom>
          <a:noFill/>
          <a:ln/>
        </p:spPr>
        <p:txBody>
          <a:bodyPr wrap="square" rtlCol="0" anchor="ctr"/>
          <a:lstStyle/>
          <a:p>
            <a:pPr indent="0" marL="0">
              <a:lnSpc>
                <a:spcPct val="140000"/>
              </a:lnSpc>
              <a:buNone/>
            </a:pPr>
            <a:r>
              <a:rPr lang="en-US" sz="1050" dirty="0">
                <a:solidFill>
                  <a:srgbClr val="374151"/>
                </a:solidFill>
                <a:latin typeface="Calibri" pitchFamily="34" charset="0"/>
                <a:ea typeface="Calibri" pitchFamily="34" charset="-122"/>
                <a:cs typeface="Calibri" pitchFamily="34" charset="-120"/>
              </a:rPr>
              <a:t>Individual musical tones — like C, D, E, F, G, A, B — each with a specific frequency (pitch). CodePilot detects these from your voice in real-time.</a:t>
            </a:r>
            <a:endParaRPr lang="en-US" sz="1050" dirty="0"/>
          </a:p>
        </p:txBody>
      </p:sp>
      <p:sp>
        <p:nvSpPr>
          <p:cNvPr id="13" name="Shape 11"/>
          <p:cNvSpPr/>
          <p:nvPr/>
        </p:nvSpPr>
        <p:spPr>
          <a:xfrm>
            <a:off x="3236976" y="1901952"/>
            <a:ext cx="2697480" cy="1874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4" name="Shape 12"/>
          <p:cNvSpPr/>
          <p:nvPr/>
        </p:nvSpPr>
        <p:spPr>
          <a:xfrm>
            <a:off x="3236976" y="1901952"/>
            <a:ext cx="2697480" cy="54864"/>
          </a:xfrm>
          <a:prstGeom prst="rect">
            <a:avLst/>
          </a:prstGeom>
          <a:solidFill>
            <a:srgbClr val="7C3AED"/>
          </a:solidFill>
          <a:ln w="12700">
            <a:solidFill>
              <a:srgbClr val="7C3AED"/>
            </a:solidFill>
            <a:prstDash val="solid"/>
          </a:ln>
        </p:spPr>
      </p:sp>
      <p:sp>
        <p:nvSpPr>
          <p:cNvPr id="15" name="Text 13"/>
          <p:cNvSpPr/>
          <p:nvPr/>
        </p:nvSpPr>
        <p:spPr>
          <a:xfrm>
            <a:off x="3401568" y="2048256"/>
            <a:ext cx="2377440" cy="365760"/>
          </a:xfrm>
          <a:prstGeom prst="rect">
            <a:avLst/>
          </a:prstGeom>
          <a:noFill/>
          <a:ln/>
        </p:spPr>
        <p:txBody>
          <a:bodyPr wrap="square" rtlCol="0" anchor="ctr"/>
          <a:lstStyle/>
          <a:p>
            <a:pPr indent="0" marL="0">
              <a:buNone/>
            </a:pPr>
            <a:r>
              <a:rPr lang="en-US" sz="1600" b="1" dirty="0">
                <a:solidFill>
                  <a:srgbClr val="7C3AED"/>
                </a:solidFill>
                <a:latin typeface="Calibri" pitchFamily="34" charset="0"/>
                <a:ea typeface="Calibri" pitchFamily="34" charset="-122"/>
                <a:cs typeface="Calibri" pitchFamily="34" charset="-120"/>
              </a:rPr>
              <a:t>Rhythm</a:t>
            </a:r>
            <a:endParaRPr lang="en-US" sz="1600" dirty="0"/>
          </a:p>
        </p:txBody>
      </p:sp>
      <p:sp>
        <p:nvSpPr>
          <p:cNvPr id="16" name="Text 14"/>
          <p:cNvSpPr/>
          <p:nvPr/>
        </p:nvSpPr>
        <p:spPr>
          <a:xfrm>
            <a:off x="3401568" y="2432304"/>
            <a:ext cx="2377440" cy="1234440"/>
          </a:xfrm>
          <a:prstGeom prst="rect">
            <a:avLst/>
          </a:prstGeom>
          <a:noFill/>
          <a:ln/>
        </p:spPr>
        <p:txBody>
          <a:bodyPr wrap="square" rtlCol="0" anchor="ctr"/>
          <a:lstStyle/>
          <a:p>
            <a:pPr indent="0" marL="0">
              <a:lnSpc>
                <a:spcPct val="140000"/>
              </a:lnSpc>
              <a:buNone/>
            </a:pPr>
            <a:r>
              <a:rPr lang="en-US" sz="1050" dirty="0">
                <a:solidFill>
                  <a:srgbClr val="374151"/>
                </a:solidFill>
                <a:latin typeface="Calibri" pitchFamily="34" charset="0"/>
                <a:ea typeface="Calibri" pitchFamily="34" charset="-122"/>
                <a:cs typeface="Calibri" pitchFamily="34" charset="-120"/>
              </a:rPr>
              <a:t>The timing and duration of each note. A melody has fast notes, slow notes, pauses (rests). CodePilot's AI sets BPM (Beats Per Minute) for your melody.</a:t>
            </a:r>
            <a:endParaRPr lang="en-US" sz="1050" dirty="0"/>
          </a:p>
        </p:txBody>
      </p:sp>
      <p:sp>
        <p:nvSpPr>
          <p:cNvPr id="17" name="Shape 15"/>
          <p:cNvSpPr/>
          <p:nvPr/>
        </p:nvSpPr>
        <p:spPr>
          <a:xfrm>
            <a:off x="6089904" y="1901952"/>
            <a:ext cx="2697480" cy="187452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8" name="Shape 16"/>
          <p:cNvSpPr/>
          <p:nvPr/>
        </p:nvSpPr>
        <p:spPr>
          <a:xfrm>
            <a:off x="6089904" y="1901952"/>
            <a:ext cx="2697480" cy="54864"/>
          </a:xfrm>
          <a:prstGeom prst="rect">
            <a:avLst/>
          </a:prstGeom>
          <a:solidFill>
            <a:srgbClr val="0891B2"/>
          </a:solidFill>
          <a:ln w="12700">
            <a:solidFill>
              <a:srgbClr val="0891B2"/>
            </a:solidFill>
            <a:prstDash val="solid"/>
          </a:ln>
        </p:spPr>
      </p:sp>
      <p:sp>
        <p:nvSpPr>
          <p:cNvPr id="19" name="Text 17"/>
          <p:cNvSpPr/>
          <p:nvPr/>
        </p:nvSpPr>
        <p:spPr>
          <a:xfrm>
            <a:off x="6254496" y="2048256"/>
            <a:ext cx="2377440" cy="365760"/>
          </a:xfrm>
          <a:prstGeom prst="rect">
            <a:avLst/>
          </a:prstGeom>
          <a:noFill/>
          <a:ln/>
        </p:spPr>
        <p:txBody>
          <a:bodyPr wrap="square" rtlCol="0" anchor="ctr"/>
          <a:lstStyle/>
          <a:p>
            <a:pPr indent="0" marL="0">
              <a:buNone/>
            </a:pPr>
            <a:r>
              <a:rPr lang="en-US" sz="1600" b="1" dirty="0">
                <a:solidFill>
                  <a:srgbClr val="0891B2"/>
                </a:solidFill>
                <a:latin typeface="Calibri" pitchFamily="34" charset="0"/>
                <a:ea typeface="Calibri" pitchFamily="34" charset="-122"/>
                <a:cs typeface="Calibri" pitchFamily="34" charset="-120"/>
              </a:rPr>
              <a:t>Pattern</a:t>
            </a:r>
            <a:endParaRPr lang="en-US" sz="1600" dirty="0"/>
          </a:p>
        </p:txBody>
      </p:sp>
      <p:sp>
        <p:nvSpPr>
          <p:cNvPr id="20" name="Text 18"/>
          <p:cNvSpPr/>
          <p:nvPr/>
        </p:nvSpPr>
        <p:spPr>
          <a:xfrm>
            <a:off x="6254496" y="2432304"/>
            <a:ext cx="2377440" cy="1234440"/>
          </a:xfrm>
          <a:prstGeom prst="rect">
            <a:avLst/>
          </a:prstGeom>
          <a:noFill/>
          <a:ln/>
        </p:spPr>
        <p:txBody>
          <a:bodyPr wrap="square" rtlCol="0" anchor="ctr"/>
          <a:lstStyle/>
          <a:p>
            <a:pPr indent="0" marL="0">
              <a:lnSpc>
                <a:spcPct val="140000"/>
              </a:lnSpc>
              <a:buNone/>
            </a:pPr>
            <a:r>
              <a:rPr lang="en-US" sz="1050" dirty="0">
                <a:solidFill>
                  <a:srgbClr val="374151"/>
                </a:solidFill>
                <a:latin typeface="Calibri" pitchFamily="34" charset="0"/>
                <a:ea typeface="Calibri" pitchFamily="34" charset="-122"/>
                <a:cs typeface="Calibri" pitchFamily="34" charset="-120"/>
              </a:rPr>
              <a:t>The unique combination of notes and rhythm that creates a recognizable tune. When you hum, CodePilot captures your pattern and reproduces it as music.</a:t>
            </a:r>
            <a:endParaRPr lang="en-US" sz="1050" dirty="0"/>
          </a:p>
        </p:txBody>
      </p:sp>
      <p:sp>
        <p:nvSpPr>
          <p:cNvPr id="21" name="Shape 19"/>
          <p:cNvSpPr/>
          <p:nvPr/>
        </p:nvSpPr>
        <p:spPr>
          <a:xfrm>
            <a:off x="384048" y="3886200"/>
            <a:ext cx="8375904" cy="804672"/>
          </a:xfrm>
          <a:prstGeom prst="rect">
            <a:avLst/>
          </a:prstGeom>
          <a:solidFill>
            <a:srgbClr val="EDE9FE"/>
          </a:solidFill>
          <a:ln w="12700">
            <a:solidFill>
              <a:srgbClr val="DDD6FE"/>
            </a:solidFill>
            <a:prstDash val="solid"/>
          </a:ln>
          <a:effectLst>
            <a:outerShdw sx="100000" sy="100000" kx="0" ky="0" algn="bl" rotWithShape="0" blurRad="101600" dist="25400" dir="8100000">
              <a:srgbClr val="000000">
                <a:alpha val="8000"/>
              </a:srgbClr>
            </a:outerShdw>
          </a:effectLst>
        </p:spPr>
      </p:sp>
      <p:sp>
        <p:nvSpPr>
          <p:cNvPr id="22" name="Shape 20"/>
          <p:cNvSpPr/>
          <p:nvPr/>
        </p:nvSpPr>
        <p:spPr>
          <a:xfrm>
            <a:off x="384048" y="3886200"/>
            <a:ext cx="50292" cy="804672"/>
          </a:xfrm>
          <a:prstGeom prst="rect">
            <a:avLst/>
          </a:prstGeom>
          <a:solidFill>
            <a:srgbClr val="7C3AED"/>
          </a:solidFill>
          <a:ln w="12700">
            <a:solidFill>
              <a:srgbClr val="7C3AED"/>
            </a:solidFill>
            <a:prstDash val="solid"/>
          </a:ln>
        </p:spPr>
      </p:sp>
      <p:sp>
        <p:nvSpPr>
          <p:cNvPr id="23" name="Text 21"/>
          <p:cNvSpPr/>
          <p:nvPr/>
        </p:nvSpPr>
        <p:spPr>
          <a:xfrm>
            <a:off x="594360" y="3931920"/>
            <a:ext cx="2926080" cy="274320"/>
          </a:xfrm>
          <a:prstGeom prst="rect">
            <a:avLst/>
          </a:prstGeom>
          <a:noFill/>
          <a:ln/>
        </p:spPr>
        <p:txBody>
          <a:bodyPr wrap="square" rtlCol="0" anchor="ctr"/>
          <a:lstStyle/>
          <a:p>
            <a:pPr indent="0" marL="0">
              <a:buNone/>
            </a:pPr>
            <a:r>
              <a:rPr lang="en-US" sz="1150" b="1" dirty="0">
                <a:solidFill>
                  <a:srgbClr val="5B21B6"/>
                </a:solidFill>
                <a:latin typeface="Calibri" pitchFamily="34" charset="0"/>
                <a:ea typeface="Calibri" pitchFamily="34" charset="-122"/>
                <a:cs typeface="Calibri" pitchFamily="34" charset="-120"/>
              </a:rPr>
              <a:t>How CodePilot Creates Your Melody:</a:t>
            </a:r>
            <a:endParaRPr lang="en-US" sz="1150" dirty="0"/>
          </a:p>
        </p:txBody>
      </p:sp>
      <p:sp>
        <p:nvSpPr>
          <p:cNvPr id="24" name="Text 22"/>
          <p:cNvSpPr/>
          <p:nvPr/>
        </p:nvSpPr>
        <p:spPr>
          <a:xfrm>
            <a:off x="594360" y="4224528"/>
            <a:ext cx="8028432" cy="347472"/>
          </a:xfrm>
          <a:prstGeom prst="rect">
            <a:avLst/>
          </a:prstGeom>
          <a:noFill/>
          <a:ln/>
        </p:spPr>
        <p:txBody>
          <a:bodyPr wrap="square"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You hum  →  Mic captures audio  →  Autocorrelation detects pitch  →  Notes saved  →  Claude AI composes  →  Tone.js plays it back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891B2"/>
          </a:solidFill>
          <a:ln w="12700">
            <a:solidFill>
              <a:srgbClr val="0891B2"/>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Features  (1 of 2)</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2296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822960"/>
            <a:ext cx="50292" cy="1810512"/>
          </a:xfrm>
          <a:prstGeom prst="rect">
            <a:avLst/>
          </a:prstGeom>
          <a:solidFill>
            <a:srgbClr val="7C3AED"/>
          </a:solidFill>
          <a:ln w="12700">
            <a:solidFill>
              <a:srgbClr val="7C3AED"/>
            </a:solidFill>
            <a:prstDash val="solid"/>
          </a:ln>
        </p:spPr>
      </p:sp>
      <p:sp>
        <p:nvSpPr>
          <p:cNvPr id="8" name="Shape 6"/>
          <p:cNvSpPr/>
          <p:nvPr/>
        </p:nvSpPr>
        <p:spPr>
          <a:xfrm>
            <a:off x="548640" y="969264"/>
            <a:ext cx="347472" cy="347472"/>
          </a:xfrm>
          <a:prstGeom prst="ellipse">
            <a:avLst/>
          </a:prstGeom>
          <a:solidFill>
            <a:srgbClr val="7C3AED"/>
          </a:solidFill>
          <a:ln w="12700">
            <a:solidFill>
              <a:srgbClr val="7C3AED"/>
            </a:solidFill>
            <a:prstDash val="solid"/>
          </a:ln>
        </p:spPr>
      </p:sp>
      <p:sp>
        <p:nvSpPr>
          <p:cNvPr id="9" name="Text 7"/>
          <p:cNvSpPr/>
          <p:nvPr/>
        </p:nvSpPr>
        <p:spPr>
          <a:xfrm>
            <a:off x="548640" y="96926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10" name="Text 8"/>
          <p:cNvSpPr/>
          <p:nvPr/>
        </p:nvSpPr>
        <p:spPr>
          <a:xfrm>
            <a:off x="1005840" y="95097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Voice-to-Melody (AI)</a:t>
            </a:r>
            <a:endParaRPr lang="en-US" sz="1300" dirty="0"/>
          </a:p>
        </p:txBody>
      </p:sp>
      <p:sp>
        <p:nvSpPr>
          <p:cNvPr id="11" name="Text 9"/>
          <p:cNvSpPr/>
          <p:nvPr/>
        </p:nvSpPr>
        <p:spPr>
          <a:xfrm>
            <a:off x="548640" y="140817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Hum or sing into your microphone. The Web Audio API captures audio in real-time, uses autocorrelation (YIN algorithm) to detect pitch, and builds a list of musical notes from your voice. Claude AI then composes a full melody from those notes.</a:t>
            </a:r>
            <a:endParaRPr lang="en-US" sz="1000" dirty="0"/>
          </a:p>
        </p:txBody>
      </p:sp>
      <p:sp>
        <p:nvSpPr>
          <p:cNvPr id="12" name="Shape 10"/>
          <p:cNvSpPr/>
          <p:nvPr/>
        </p:nvSpPr>
        <p:spPr>
          <a:xfrm>
            <a:off x="4700016" y="82296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4700016" y="822960"/>
            <a:ext cx="50292" cy="1810512"/>
          </a:xfrm>
          <a:prstGeom prst="rect">
            <a:avLst/>
          </a:prstGeom>
          <a:solidFill>
            <a:srgbClr val="DB2777"/>
          </a:solidFill>
          <a:ln w="12700">
            <a:solidFill>
              <a:srgbClr val="DB2777"/>
            </a:solidFill>
            <a:prstDash val="solid"/>
          </a:ln>
        </p:spPr>
      </p:sp>
      <p:sp>
        <p:nvSpPr>
          <p:cNvPr id="14" name="Shape 12"/>
          <p:cNvSpPr/>
          <p:nvPr/>
        </p:nvSpPr>
        <p:spPr>
          <a:xfrm>
            <a:off x="4864608" y="969264"/>
            <a:ext cx="347472" cy="347472"/>
          </a:xfrm>
          <a:prstGeom prst="ellipse">
            <a:avLst/>
          </a:prstGeom>
          <a:solidFill>
            <a:srgbClr val="DB2777"/>
          </a:solidFill>
          <a:ln w="12700">
            <a:solidFill>
              <a:srgbClr val="DB2777"/>
            </a:solidFill>
            <a:prstDash val="solid"/>
          </a:ln>
        </p:spPr>
      </p:sp>
      <p:sp>
        <p:nvSpPr>
          <p:cNvPr id="15" name="Text 13"/>
          <p:cNvSpPr/>
          <p:nvPr/>
        </p:nvSpPr>
        <p:spPr>
          <a:xfrm>
            <a:off x="4864608" y="96926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6" name="Text 14"/>
          <p:cNvSpPr/>
          <p:nvPr/>
        </p:nvSpPr>
        <p:spPr>
          <a:xfrm>
            <a:off x="5321808" y="95097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5 Instrument Playback Modes</a:t>
            </a:r>
            <a:endParaRPr lang="en-US" sz="1300" dirty="0"/>
          </a:p>
        </p:txBody>
      </p:sp>
      <p:sp>
        <p:nvSpPr>
          <p:cNvPr id="17" name="Text 15"/>
          <p:cNvSpPr/>
          <p:nvPr/>
        </p:nvSpPr>
        <p:spPr>
          <a:xfrm>
            <a:off x="4864608" y="140817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Play your generated melody in 5 different instrument sounds: Grand Piano (rich warm tones with reverb), Acoustic Guitar (plucked string simulation), Crystal Bell (ethereal FM shimmer), Flute (breathy woodwind), and My Hum (replays your actual voice recording).</a:t>
            </a:r>
            <a:endParaRPr lang="en-US" sz="1000" dirty="0"/>
          </a:p>
        </p:txBody>
      </p:sp>
      <p:sp>
        <p:nvSpPr>
          <p:cNvPr id="18" name="Shape 16"/>
          <p:cNvSpPr/>
          <p:nvPr/>
        </p:nvSpPr>
        <p:spPr>
          <a:xfrm>
            <a:off x="384048" y="278892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384048" y="2788920"/>
            <a:ext cx="50292" cy="1810512"/>
          </a:xfrm>
          <a:prstGeom prst="rect">
            <a:avLst/>
          </a:prstGeom>
          <a:solidFill>
            <a:srgbClr val="0891B2"/>
          </a:solidFill>
          <a:ln w="12700">
            <a:solidFill>
              <a:srgbClr val="0891B2"/>
            </a:solidFill>
            <a:prstDash val="solid"/>
          </a:ln>
        </p:spPr>
      </p:sp>
      <p:sp>
        <p:nvSpPr>
          <p:cNvPr id="20" name="Shape 18"/>
          <p:cNvSpPr/>
          <p:nvPr/>
        </p:nvSpPr>
        <p:spPr>
          <a:xfrm>
            <a:off x="548640" y="2935224"/>
            <a:ext cx="347472" cy="347472"/>
          </a:xfrm>
          <a:prstGeom prst="ellipse">
            <a:avLst/>
          </a:prstGeom>
          <a:solidFill>
            <a:srgbClr val="0891B2"/>
          </a:solidFill>
          <a:ln w="12700">
            <a:solidFill>
              <a:srgbClr val="0891B2"/>
            </a:solidFill>
            <a:prstDash val="solid"/>
          </a:ln>
        </p:spPr>
      </p:sp>
      <p:sp>
        <p:nvSpPr>
          <p:cNvPr id="21" name="Text 19"/>
          <p:cNvSpPr/>
          <p:nvPr/>
        </p:nvSpPr>
        <p:spPr>
          <a:xfrm>
            <a:off x="548640" y="293522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2" name="Text 20"/>
          <p:cNvSpPr/>
          <p:nvPr/>
        </p:nvSpPr>
        <p:spPr>
          <a:xfrm>
            <a:off x="1005840" y="291693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4 Music Styles</a:t>
            </a:r>
            <a:endParaRPr lang="en-US" sz="1300" dirty="0"/>
          </a:p>
        </p:txBody>
      </p:sp>
      <p:sp>
        <p:nvSpPr>
          <p:cNvPr id="23" name="Text 21"/>
          <p:cNvSpPr/>
          <p:nvPr/>
        </p:nvSpPr>
        <p:spPr>
          <a:xfrm>
            <a:off x="548640" y="337413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Before generating, choose a music style that shapes how Claude AI composes: Jingle (catchy, simple), Jazz (complex chords, syncopation), Pop (modern melodic structure), Classical (structured, formal composition). Each style produces a distinctly different melody.</a:t>
            </a:r>
            <a:endParaRPr lang="en-US" sz="1000" dirty="0"/>
          </a:p>
        </p:txBody>
      </p:sp>
      <p:sp>
        <p:nvSpPr>
          <p:cNvPr id="24" name="Shape 22"/>
          <p:cNvSpPr/>
          <p:nvPr/>
        </p:nvSpPr>
        <p:spPr>
          <a:xfrm>
            <a:off x="4700016" y="278892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5" name="Shape 23"/>
          <p:cNvSpPr/>
          <p:nvPr/>
        </p:nvSpPr>
        <p:spPr>
          <a:xfrm>
            <a:off x="4700016" y="2788920"/>
            <a:ext cx="50292" cy="1810512"/>
          </a:xfrm>
          <a:prstGeom prst="rect">
            <a:avLst/>
          </a:prstGeom>
          <a:solidFill>
            <a:srgbClr val="D97706"/>
          </a:solidFill>
          <a:ln w="12700">
            <a:solidFill>
              <a:srgbClr val="D97706"/>
            </a:solidFill>
            <a:prstDash val="solid"/>
          </a:ln>
        </p:spPr>
      </p:sp>
      <p:sp>
        <p:nvSpPr>
          <p:cNvPr id="26" name="Shape 24"/>
          <p:cNvSpPr/>
          <p:nvPr/>
        </p:nvSpPr>
        <p:spPr>
          <a:xfrm>
            <a:off x="4864608" y="2935224"/>
            <a:ext cx="347472" cy="347472"/>
          </a:xfrm>
          <a:prstGeom prst="ellipse">
            <a:avLst/>
          </a:prstGeom>
          <a:solidFill>
            <a:srgbClr val="D97706"/>
          </a:solidFill>
          <a:ln w="12700">
            <a:solidFill>
              <a:srgbClr val="D97706"/>
            </a:solidFill>
            <a:prstDash val="solid"/>
          </a:ln>
        </p:spPr>
      </p:sp>
      <p:sp>
        <p:nvSpPr>
          <p:cNvPr id="27" name="Text 25"/>
          <p:cNvSpPr/>
          <p:nvPr/>
        </p:nvSpPr>
        <p:spPr>
          <a:xfrm>
            <a:off x="4864608" y="293522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8" name="Text 26"/>
          <p:cNvSpPr/>
          <p:nvPr/>
        </p:nvSpPr>
        <p:spPr>
          <a:xfrm>
            <a:off x="5321808" y="291693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Interactive 3-Octave Piano</a:t>
            </a:r>
            <a:endParaRPr lang="en-US" sz="1300" dirty="0"/>
          </a:p>
        </p:txBody>
      </p:sp>
      <p:sp>
        <p:nvSpPr>
          <p:cNvPr id="29" name="Text 27"/>
          <p:cNvSpPr/>
          <p:nvPr/>
        </p:nvSpPr>
        <p:spPr>
          <a:xfrm>
            <a:off x="4864608" y="337413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A fully playable virtual piano keyboard rendered in the browser. Click or touch white and black keys to play individual notes using Tone.js synthesis. Supports mouse clicks, touch events (mobile), and lights up keys during melody playback.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891B2"/>
          </a:solidFill>
          <a:ln w="12700">
            <a:solidFill>
              <a:srgbClr val="0891B2"/>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Features  (2 of 2)</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2296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822960"/>
            <a:ext cx="50292" cy="1810512"/>
          </a:xfrm>
          <a:prstGeom prst="rect">
            <a:avLst/>
          </a:prstGeom>
          <a:solidFill>
            <a:srgbClr val="059669"/>
          </a:solidFill>
          <a:ln w="12700">
            <a:solidFill>
              <a:srgbClr val="059669"/>
            </a:solidFill>
            <a:prstDash val="solid"/>
          </a:ln>
        </p:spPr>
      </p:sp>
      <p:sp>
        <p:nvSpPr>
          <p:cNvPr id="8" name="Shape 6"/>
          <p:cNvSpPr/>
          <p:nvPr/>
        </p:nvSpPr>
        <p:spPr>
          <a:xfrm>
            <a:off x="548640" y="969264"/>
            <a:ext cx="347472" cy="347472"/>
          </a:xfrm>
          <a:prstGeom prst="ellipse">
            <a:avLst/>
          </a:prstGeom>
          <a:solidFill>
            <a:srgbClr val="059669"/>
          </a:solidFill>
          <a:ln w="12700">
            <a:solidFill>
              <a:srgbClr val="059669"/>
            </a:solidFill>
            <a:prstDash val="solid"/>
          </a:ln>
        </p:spPr>
      </p:sp>
      <p:sp>
        <p:nvSpPr>
          <p:cNvPr id="9" name="Text 7"/>
          <p:cNvSpPr/>
          <p:nvPr/>
        </p:nvSpPr>
        <p:spPr>
          <a:xfrm>
            <a:off x="548640" y="96926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10" name="Text 8"/>
          <p:cNvSpPr/>
          <p:nvPr/>
        </p:nvSpPr>
        <p:spPr>
          <a:xfrm>
            <a:off x="1005840" y="95097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Melody Library (Auto-Save)</a:t>
            </a:r>
            <a:endParaRPr lang="en-US" sz="1300" dirty="0"/>
          </a:p>
        </p:txBody>
      </p:sp>
      <p:sp>
        <p:nvSpPr>
          <p:cNvPr id="11" name="Text 9"/>
          <p:cNvSpPr/>
          <p:nvPr/>
        </p:nvSpPr>
        <p:spPr>
          <a:xfrm>
            <a:off x="548640" y="140817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Every AI-generated melody is automatically saved to the user's personal library using localStorage. Users can replay saved melodies, download them again as WAV files, or delete them. Library holds up to 50 melodies per user.</a:t>
            </a:r>
            <a:endParaRPr lang="en-US" sz="1000" dirty="0"/>
          </a:p>
        </p:txBody>
      </p:sp>
      <p:sp>
        <p:nvSpPr>
          <p:cNvPr id="12" name="Shape 10"/>
          <p:cNvSpPr/>
          <p:nvPr/>
        </p:nvSpPr>
        <p:spPr>
          <a:xfrm>
            <a:off x="4700016" y="82296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4700016" y="822960"/>
            <a:ext cx="50292" cy="1810512"/>
          </a:xfrm>
          <a:prstGeom prst="rect">
            <a:avLst/>
          </a:prstGeom>
          <a:solidFill>
            <a:srgbClr val="4338CA"/>
          </a:solidFill>
          <a:ln w="12700">
            <a:solidFill>
              <a:srgbClr val="4338CA"/>
            </a:solidFill>
            <a:prstDash val="solid"/>
          </a:ln>
        </p:spPr>
      </p:sp>
      <p:sp>
        <p:nvSpPr>
          <p:cNvPr id="14" name="Shape 12"/>
          <p:cNvSpPr/>
          <p:nvPr/>
        </p:nvSpPr>
        <p:spPr>
          <a:xfrm>
            <a:off x="4864608" y="969264"/>
            <a:ext cx="347472" cy="347472"/>
          </a:xfrm>
          <a:prstGeom prst="ellipse">
            <a:avLst/>
          </a:prstGeom>
          <a:solidFill>
            <a:srgbClr val="4338CA"/>
          </a:solidFill>
          <a:ln w="12700">
            <a:solidFill>
              <a:srgbClr val="4338CA"/>
            </a:solidFill>
            <a:prstDash val="solid"/>
          </a:ln>
        </p:spPr>
      </p:sp>
      <p:sp>
        <p:nvSpPr>
          <p:cNvPr id="15" name="Text 13"/>
          <p:cNvSpPr/>
          <p:nvPr/>
        </p:nvSpPr>
        <p:spPr>
          <a:xfrm>
            <a:off x="4864608" y="96926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16" name="Text 14"/>
          <p:cNvSpPr/>
          <p:nvPr/>
        </p:nvSpPr>
        <p:spPr>
          <a:xfrm>
            <a:off x="5321808" y="95097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Export — WAV &amp; MP4</a:t>
            </a:r>
            <a:endParaRPr lang="en-US" sz="1300" dirty="0"/>
          </a:p>
        </p:txBody>
      </p:sp>
      <p:sp>
        <p:nvSpPr>
          <p:cNvPr id="17" name="Text 15"/>
          <p:cNvSpPr/>
          <p:nvPr/>
        </p:nvSpPr>
        <p:spPr>
          <a:xfrm>
            <a:off x="4864608" y="140817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Download melodies as high-quality .wav audio files captured via the MediaRecorder API with full reverb and mastering effects applied. Alternatively, convert to .mp4 video with a visualizer using the Canvas API — great for sharing on social media.</a:t>
            </a:r>
            <a:endParaRPr lang="en-US" sz="1000" dirty="0"/>
          </a:p>
        </p:txBody>
      </p:sp>
      <p:sp>
        <p:nvSpPr>
          <p:cNvPr id="18" name="Shape 16"/>
          <p:cNvSpPr/>
          <p:nvPr/>
        </p:nvSpPr>
        <p:spPr>
          <a:xfrm>
            <a:off x="384048" y="278892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384048" y="2788920"/>
            <a:ext cx="50292" cy="1810512"/>
          </a:xfrm>
          <a:prstGeom prst="rect">
            <a:avLst/>
          </a:prstGeom>
          <a:solidFill>
            <a:srgbClr val="0D9488"/>
          </a:solidFill>
          <a:ln w="12700">
            <a:solidFill>
              <a:srgbClr val="0D9488"/>
            </a:solidFill>
            <a:prstDash val="solid"/>
          </a:ln>
        </p:spPr>
      </p:sp>
      <p:sp>
        <p:nvSpPr>
          <p:cNvPr id="20" name="Shape 18"/>
          <p:cNvSpPr/>
          <p:nvPr/>
        </p:nvSpPr>
        <p:spPr>
          <a:xfrm>
            <a:off x="548640" y="2935224"/>
            <a:ext cx="347472" cy="347472"/>
          </a:xfrm>
          <a:prstGeom prst="ellipse">
            <a:avLst/>
          </a:prstGeom>
          <a:solidFill>
            <a:srgbClr val="0D9488"/>
          </a:solidFill>
          <a:ln w="12700">
            <a:solidFill>
              <a:srgbClr val="0D9488"/>
            </a:solidFill>
            <a:prstDash val="solid"/>
          </a:ln>
        </p:spPr>
      </p:sp>
      <p:sp>
        <p:nvSpPr>
          <p:cNvPr id="21" name="Text 19"/>
          <p:cNvSpPr/>
          <p:nvPr/>
        </p:nvSpPr>
        <p:spPr>
          <a:xfrm>
            <a:off x="548640" y="293522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07</a:t>
            </a:r>
            <a:endParaRPr lang="en-US" sz="900" dirty="0"/>
          </a:p>
        </p:txBody>
      </p:sp>
      <p:sp>
        <p:nvSpPr>
          <p:cNvPr id="22" name="Text 20"/>
          <p:cNvSpPr/>
          <p:nvPr/>
        </p:nvSpPr>
        <p:spPr>
          <a:xfrm>
            <a:off x="1005840" y="291693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Playback Speed Control</a:t>
            </a:r>
            <a:endParaRPr lang="en-US" sz="1300" dirty="0"/>
          </a:p>
        </p:txBody>
      </p:sp>
      <p:sp>
        <p:nvSpPr>
          <p:cNvPr id="23" name="Text 21"/>
          <p:cNvSpPr/>
          <p:nvPr/>
        </p:nvSpPr>
        <p:spPr>
          <a:xfrm>
            <a:off x="548640" y="337413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An animated Canvas-rendered speedometer dial lets users adjust melody playback speed from 0.3x (very slow) to 3.0x (triple speed) using a smooth slider. Preset speed buttons (0.5x, 0.75x, 1x, 1.5x, 2x, 3x) allow quick selection.</a:t>
            </a:r>
            <a:endParaRPr lang="en-US" sz="1000" dirty="0"/>
          </a:p>
        </p:txBody>
      </p:sp>
      <p:sp>
        <p:nvSpPr>
          <p:cNvPr id="24" name="Shape 22"/>
          <p:cNvSpPr/>
          <p:nvPr/>
        </p:nvSpPr>
        <p:spPr>
          <a:xfrm>
            <a:off x="4700016" y="2788920"/>
            <a:ext cx="4096512" cy="181051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5" name="Shape 23"/>
          <p:cNvSpPr/>
          <p:nvPr/>
        </p:nvSpPr>
        <p:spPr>
          <a:xfrm>
            <a:off x="4700016" y="2788920"/>
            <a:ext cx="50292" cy="1810512"/>
          </a:xfrm>
          <a:prstGeom prst="rect">
            <a:avLst/>
          </a:prstGeom>
          <a:solidFill>
            <a:srgbClr val="E11D48"/>
          </a:solidFill>
          <a:ln w="12700">
            <a:solidFill>
              <a:srgbClr val="E11D48"/>
            </a:solidFill>
            <a:prstDash val="solid"/>
          </a:ln>
        </p:spPr>
      </p:sp>
      <p:sp>
        <p:nvSpPr>
          <p:cNvPr id="26" name="Shape 24"/>
          <p:cNvSpPr/>
          <p:nvPr/>
        </p:nvSpPr>
        <p:spPr>
          <a:xfrm>
            <a:off x="4864608" y="2935224"/>
            <a:ext cx="347472" cy="347472"/>
          </a:xfrm>
          <a:prstGeom prst="ellipse">
            <a:avLst/>
          </a:prstGeom>
          <a:solidFill>
            <a:srgbClr val="E11D48"/>
          </a:solidFill>
          <a:ln w="12700">
            <a:solidFill>
              <a:srgbClr val="E11D48"/>
            </a:solidFill>
            <a:prstDash val="solid"/>
          </a:ln>
        </p:spPr>
      </p:sp>
      <p:sp>
        <p:nvSpPr>
          <p:cNvPr id="27" name="Text 25"/>
          <p:cNvSpPr/>
          <p:nvPr/>
        </p:nvSpPr>
        <p:spPr>
          <a:xfrm>
            <a:off x="4864608" y="293522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08</a:t>
            </a:r>
            <a:endParaRPr lang="en-US" sz="900" dirty="0"/>
          </a:p>
        </p:txBody>
      </p:sp>
      <p:sp>
        <p:nvSpPr>
          <p:cNvPr id="28" name="Text 26"/>
          <p:cNvSpPr/>
          <p:nvPr/>
        </p:nvSpPr>
        <p:spPr>
          <a:xfrm>
            <a:off x="5321808" y="2916936"/>
            <a:ext cx="3291840" cy="384048"/>
          </a:xfrm>
          <a:prstGeom prst="rect">
            <a:avLst/>
          </a:prstGeom>
          <a:noFill/>
          <a:ln/>
        </p:spPr>
        <p:txBody>
          <a:bodyPr wrap="square" rtlCol="0" anchor="ctr"/>
          <a:lstStyle/>
          <a:p>
            <a:pPr indent="0" marL="0">
              <a:buNone/>
            </a:pPr>
            <a:r>
              <a:rPr lang="en-US" sz="1300" b="1" dirty="0">
                <a:solidFill>
                  <a:srgbClr val="1E1B4B"/>
                </a:solidFill>
                <a:latin typeface="Calibri" pitchFamily="34" charset="0"/>
                <a:ea typeface="Calibri" pitchFamily="34" charset="-122"/>
                <a:cs typeface="Calibri" pitchFamily="34" charset="-120"/>
              </a:rPr>
              <a:t>Personalization &amp; Themes</a:t>
            </a:r>
            <a:endParaRPr lang="en-US" sz="1300" dirty="0"/>
          </a:p>
        </p:txBody>
      </p:sp>
      <p:sp>
        <p:nvSpPr>
          <p:cNvPr id="29" name="Text 27"/>
          <p:cNvSpPr/>
          <p:nvPr/>
        </p:nvSpPr>
        <p:spPr>
          <a:xfrm>
            <a:off x="4864608" y="3374136"/>
            <a:ext cx="3749040" cy="1133856"/>
          </a:xfrm>
          <a:prstGeom prst="rect">
            <a:avLst/>
          </a:prstGeom>
          <a:noFill/>
          <a:ln/>
        </p:spPr>
        <p:txBody>
          <a:bodyPr wrap="square" rtlCol="0" anchor="ctr"/>
          <a:lstStyle/>
          <a:p>
            <a:pPr indent="0" marL="0">
              <a:lnSpc>
                <a:spcPct val="140000"/>
              </a:lnSpc>
              <a:buNone/>
            </a:pPr>
            <a:r>
              <a:rPr lang="en-US" sz="1000" dirty="0">
                <a:solidFill>
                  <a:srgbClr val="374151"/>
                </a:solidFill>
                <a:latin typeface="Calibri" pitchFamily="34" charset="0"/>
                <a:ea typeface="Calibri" pitchFamily="34" charset="-122"/>
                <a:cs typeface="Calibri" pitchFamily="34" charset="-120"/>
              </a:rPr>
              <a:t>User enters their name which personalizes melodies, greetings, and the library. Name, preferred theme (Dark / Light / Mystic) and playback speed are all saved via cookies and localStorage so settings persist across browser sessions.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97706"/>
          </a:solidFill>
          <a:ln w="12700">
            <a:solidFill>
              <a:srgbClr val="D97706"/>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Use Cases — Who Uses CodePilot?</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22960"/>
            <a:ext cx="2697480" cy="182880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822960"/>
            <a:ext cx="2697480" cy="54864"/>
          </a:xfrm>
          <a:prstGeom prst="rect">
            <a:avLst/>
          </a:prstGeom>
          <a:solidFill>
            <a:srgbClr val="7C3AED"/>
          </a:solidFill>
          <a:ln w="12700">
            <a:solidFill>
              <a:srgbClr val="7C3AED"/>
            </a:solidFill>
            <a:prstDash val="solid"/>
          </a:ln>
        </p:spPr>
      </p:sp>
      <p:sp>
        <p:nvSpPr>
          <p:cNvPr id="8" name="Shape 6"/>
          <p:cNvSpPr/>
          <p:nvPr/>
        </p:nvSpPr>
        <p:spPr>
          <a:xfrm>
            <a:off x="548640" y="1024128"/>
            <a:ext cx="420624" cy="420624"/>
          </a:xfrm>
          <a:prstGeom prst="ellipse">
            <a:avLst/>
          </a:prstGeom>
          <a:solidFill>
            <a:srgbClr val="7C3AED"/>
          </a:solidFill>
          <a:ln w="12700">
            <a:solidFill>
              <a:srgbClr val="7C3AED"/>
            </a:solidFill>
            <a:prstDash val="solid"/>
          </a:ln>
        </p:spPr>
      </p:sp>
      <p:sp>
        <p:nvSpPr>
          <p:cNvPr id="9" name="Text 7"/>
          <p:cNvSpPr/>
          <p:nvPr/>
        </p:nvSpPr>
        <p:spPr>
          <a:xfrm>
            <a:off x="548640" y="10241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060704" y="1005840"/>
            <a:ext cx="1901952" cy="420624"/>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Students &amp; Learners</a:t>
            </a:r>
            <a:endParaRPr lang="en-US" sz="1100" dirty="0"/>
          </a:p>
        </p:txBody>
      </p:sp>
      <p:sp>
        <p:nvSpPr>
          <p:cNvPr id="11" name="Text 9"/>
          <p:cNvSpPr/>
          <p:nvPr/>
        </p:nvSpPr>
        <p:spPr>
          <a:xfrm>
            <a:off x="548640" y="1499616"/>
            <a:ext cx="2395728" cy="1097280"/>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Students learning music theory can hum a melody and see it converted to notes. Great for ear training, pitch recognition, and understanding how tunes translate to musical notation.</a:t>
            </a:r>
            <a:endParaRPr lang="en-US" sz="950" dirty="0"/>
          </a:p>
        </p:txBody>
      </p:sp>
      <p:sp>
        <p:nvSpPr>
          <p:cNvPr id="12" name="Shape 10"/>
          <p:cNvSpPr/>
          <p:nvPr/>
        </p:nvSpPr>
        <p:spPr>
          <a:xfrm>
            <a:off x="3236976" y="822960"/>
            <a:ext cx="2697480" cy="182880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3236976" y="822960"/>
            <a:ext cx="2697480" cy="54864"/>
          </a:xfrm>
          <a:prstGeom prst="rect">
            <a:avLst/>
          </a:prstGeom>
          <a:solidFill>
            <a:srgbClr val="DB2777"/>
          </a:solidFill>
          <a:ln w="12700">
            <a:solidFill>
              <a:srgbClr val="DB2777"/>
            </a:solidFill>
            <a:prstDash val="solid"/>
          </a:ln>
        </p:spPr>
      </p:sp>
      <p:sp>
        <p:nvSpPr>
          <p:cNvPr id="14" name="Shape 12"/>
          <p:cNvSpPr/>
          <p:nvPr/>
        </p:nvSpPr>
        <p:spPr>
          <a:xfrm>
            <a:off x="3401568" y="1024128"/>
            <a:ext cx="420624" cy="420624"/>
          </a:xfrm>
          <a:prstGeom prst="ellipse">
            <a:avLst/>
          </a:prstGeom>
          <a:solidFill>
            <a:srgbClr val="DB2777"/>
          </a:solidFill>
          <a:ln w="12700">
            <a:solidFill>
              <a:srgbClr val="DB2777"/>
            </a:solidFill>
            <a:prstDash val="solid"/>
          </a:ln>
        </p:spPr>
      </p:sp>
      <p:sp>
        <p:nvSpPr>
          <p:cNvPr id="15" name="Text 13"/>
          <p:cNvSpPr/>
          <p:nvPr/>
        </p:nvSpPr>
        <p:spPr>
          <a:xfrm>
            <a:off x="3401568" y="10241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3913632" y="1005840"/>
            <a:ext cx="1901952" cy="420624"/>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Casual Music Creators</a:t>
            </a:r>
            <a:endParaRPr lang="en-US" sz="1100" dirty="0"/>
          </a:p>
        </p:txBody>
      </p:sp>
      <p:sp>
        <p:nvSpPr>
          <p:cNvPr id="17" name="Text 15"/>
          <p:cNvSpPr/>
          <p:nvPr/>
        </p:nvSpPr>
        <p:spPr>
          <a:xfrm>
            <a:off x="3401568" y="1499616"/>
            <a:ext cx="2395728" cy="1097280"/>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Anyone with a tune in their head but no instrument or training. Hum the idea, pick a style and instrument, generate the melody, and download it in seconds — no music knowledge needed.</a:t>
            </a:r>
            <a:endParaRPr lang="en-US" sz="950" dirty="0"/>
          </a:p>
        </p:txBody>
      </p:sp>
      <p:sp>
        <p:nvSpPr>
          <p:cNvPr id="18" name="Shape 16"/>
          <p:cNvSpPr/>
          <p:nvPr/>
        </p:nvSpPr>
        <p:spPr>
          <a:xfrm>
            <a:off x="6089904" y="822960"/>
            <a:ext cx="2697480" cy="182880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6089904" y="822960"/>
            <a:ext cx="2697480" cy="54864"/>
          </a:xfrm>
          <a:prstGeom prst="rect">
            <a:avLst/>
          </a:prstGeom>
          <a:solidFill>
            <a:srgbClr val="0891B2"/>
          </a:solidFill>
          <a:ln w="12700">
            <a:solidFill>
              <a:srgbClr val="0891B2"/>
            </a:solidFill>
            <a:prstDash val="solid"/>
          </a:ln>
        </p:spPr>
      </p:sp>
      <p:sp>
        <p:nvSpPr>
          <p:cNvPr id="20" name="Shape 18"/>
          <p:cNvSpPr/>
          <p:nvPr/>
        </p:nvSpPr>
        <p:spPr>
          <a:xfrm>
            <a:off x="6254496" y="1024128"/>
            <a:ext cx="420624" cy="420624"/>
          </a:xfrm>
          <a:prstGeom prst="ellipse">
            <a:avLst/>
          </a:prstGeom>
          <a:solidFill>
            <a:srgbClr val="0891B2"/>
          </a:solidFill>
          <a:ln w="12700">
            <a:solidFill>
              <a:srgbClr val="0891B2"/>
            </a:solidFill>
            <a:prstDash val="solid"/>
          </a:ln>
        </p:spPr>
      </p:sp>
      <p:sp>
        <p:nvSpPr>
          <p:cNvPr id="21" name="Text 19"/>
          <p:cNvSpPr/>
          <p:nvPr/>
        </p:nvSpPr>
        <p:spPr>
          <a:xfrm>
            <a:off x="6254496" y="10241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6766560" y="1005840"/>
            <a:ext cx="1901952" cy="420624"/>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Stress Relief &amp; Wellness</a:t>
            </a:r>
            <a:endParaRPr lang="en-US" sz="1100" dirty="0"/>
          </a:p>
        </p:txBody>
      </p:sp>
      <p:sp>
        <p:nvSpPr>
          <p:cNvPr id="23" name="Text 21"/>
          <p:cNvSpPr/>
          <p:nvPr/>
        </p:nvSpPr>
        <p:spPr>
          <a:xfrm>
            <a:off x="6254496" y="1499616"/>
            <a:ext cx="2395728" cy="1097280"/>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People dealing with stress, anxiety, or burnout can use the Sound Therapy modes (Tibetan Bowls, Binaural Beats, Sound Bath) for calming audio sessions — free, anytime, from any device.</a:t>
            </a:r>
            <a:endParaRPr lang="en-US" sz="950" dirty="0"/>
          </a:p>
        </p:txBody>
      </p:sp>
      <p:sp>
        <p:nvSpPr>
          <p:cNvPr id="24" name="Shape 22"/>
          <p:cNvSpPr/>
          <p:nvPr/>
        </p:nvSpPr>
        <p:spPr>
          <a:xfrm>
            <a:off x="384048" y="2834640"/>
            <a:ext cx="2697480" cy="182880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5" name="Shape 23"/>
          <p:cNvSpPr/>
          <p:nvPr/>
        </p:nvSpPr>
        <p:spPr>
          <a:xfrm>
            <a:off x="384048" y="2834640"/>
            <a:ext cx="2697480" cy="54864"/>
          </a:xfrm>
          <a:prstGeom prst="rect">
            <a:avLst/>
          </a:prstGeom>
          <a:solidFill>
            <a:srgbClr val="D97706"/>
          </a:solidFill>
          <a:ln w="12700">
            <a:solidFill>
              <a:srgbClr val="D97706"/>
            </a:solidFill>
            <a:prstDash val="solid"/>
          </a:ln>
        </p:spPr>
      </p:sp>
      <p:sp>
        <p:nvSpPr>
          <p:cNvPr id="26" name="Shape 24"/>
          <p:cNvSpPr/>
          <p:nvPr/>
        </p:nvSpPr>
        <p:spPr>
          <a:xfrm>
            <a:off x="548640" y="3035808"/>
            <a:ext cx="420624" cy="420624"/>
          </a:xfrm>
          <a:prstGeom prst="ellipse">
            <a:avLst/>
          </a:prstGeom>
          <a:solidFill>
            <a:srgbClr val="D97706"/>
          </a:solidFill>
          <a:ln w="12700">
            <a:solidFill>
              <a:srgbClr val="D97706"/>
            </a:solidFill>
            <a:prstDash val="solid"/>
          </a:ln>
        </p:spPr>
      </p:sp>
      <p:sp>
        <p:nvSpPr>
          <p:cNvPr id="27" name="Text 25"/>
          <p:cNvSpPr/>
          <p:nvPr/>
        </p:nvSpPr>
        <p:spPr>
          <a:xfrm>
            <a:off x="548640" y="3035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p:nvPr/>
        </p:nvSpPr>
        <p:spPr>
          <a:xfrm>
            <a:off x="1060704" y="3017520"/>
            <a:ext cx="1901952" cy="420624"/>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Music Teachers</a:t>
            </a:r>
            <a:endParaRPr lang="en-US" sz="1100" dirty="0"/>
          </a:p>
        </p:txBody>
      </p:sp>
      <p:sp>
        <p:nvSpPr>
          <p:cNvPr id="29" name="Text 27"/>
          <p:cNvSpPr/>
          <p:nvPr/>
        </p:nvSpPr>
        <p:spPr>
          <a:xfrm>
            <a:off x="548640" y="3511296"/>
            <a:ext cx="2395728" cy="1097280"/>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Teachers can demonstrate melodic concepts in class using the live piano and voice-to-melody feature. Show students how humming maps to notes on the interactive keyboard.</a:t>
            </a:r>
            <a:endParaRPr lang="en-US" sz="950" dirty="0"/>
          </a:p>
        </p:txBody>
      </p:sp>
      <p:sp>
        <p:nvSpPr>
          <p:cNvPr id="30" name="Shape 28"/>
          <p:cNvSpPr/>
          <p:nvPr/>
        </p:nvSpPr>
        <p:spPr>
          <a:xfrm>
            <a:off x="3236976" y="2834640"/>
            <a:ext cx="2697480" cy="182880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31" name="Shape 29"/>
          <p:cNvSpPr/>
          <p:nvPr/>
        </p:nvSpPr>
        <p:spPr>
          <a:xfrm>
            <a:off x="3236976" y="2834640"/>
            <a:ext cx="2697480" cy="54864"/>
          </a:xfrm>
          <a:prstGeom prst="rect">
            <a:avLst/>
          </a:prstGeom>
          <a:solidFill>
            <a:srgbClr val="059669"/>
          </a:solidFill>
          <a:ln w="12700">
            <a:solidFill>
              <a:srgbClr val="059669"/>
            </a:solidFill>
            <a:prstDash val="solid"/>
          </a:ln>
        </p:spPr>
      </p:sp>
      <p:sp>
        <p:nvSpPr>
          <p:cNvPr id="32" name="Shape 30"/>
          <p:cNvSpPr/>
          <p:nvPr/>
        </p:nvSpPr>
        <p:spPr>
          <a:xfrm>
            <a:off x="3401568" y="3035808"/>
            <a:ext cx="420624" cy="420624"/>
          </a:xfrm>
          <a:prstGeom prst="ellipse">
            <a:avLst/>
          </a:prstGeom>
          <a:solidFill>
            <a:srgbClr val="059669"/>
          </a:solidFill>
          <a:ln w="12700">
            <a:solidFill>
              <a:srgbClr val="059669"/>
            </a:solidFill>
            <a:prstDash val="solid"/>
          </a:ln>
        </p:spPr>
      </p:sp>
      <p:sp>
        <p:nvSpPr>
          <p:cNvPr id="33" name="Text 31"/>
          <p:cNvSpPr/>
          <p:nvPr/>
        </p:nvSpPr>
        <p:spPr>
          <a:xfrm>
            <a:off x="3401568" y="3035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p:nvPr/>
        </p:nvSpPr>
        <p:spPr>
          <a:xfrm>
            <a:off x="3913632" y="3017520"/>
            <a:ext cx="1901952" cy="420624"/>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Developers &amp; Researchers</a:t>
            </a:r>
            <a:endParaRPr lang="en-US" sz="1100" dirty="0"/>
          </a:p>
        </p:txBody>
      </p:sp>
      <p:sp>
        <p:nvSpPr>
          <p:cNvPr id="35" name="Text 33"/>
          <p:cNvSpPr/>
          <p:nvPr/>
        </p:nvSpPr>
        <p:spPr>
          <a:xfrm>
            <a:off x="3401568" y="3511296"/>
            <a:ext cx="2395728" cy="1097280"/>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The project demonstrates real-world use of Claude AI API, Web Audio API autocorrelation, Tone.js synthesis, Vercel serverless, and MediaRecorder — useful as a reference architecture.</a:t>
            </a:r>
            <a:endParaRPr lang="en-US" sz="950" dirty="0"/>
          </a:p>
        </p:txBody>
      </p:sp>
      <p:sp>
        <p:nvSpPr>
          <p:cNvPr id="36" name="Shape 34"/>
          <p:cNvSpPr/>
          <p:nvPr/>
        </p:nvSpPr>
        <p:spPr>
          <a:xfrm>
            <a:off x="6089904" y="2834640"/>
            <a:ext cx="2697480" cy="182880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37" name="Shape 35"/>
          <p:cNvSpPr/>
          <p:nvPr/>
        </p:nvSpPr>
        <p:spPr>
          <a:xfrm>
            <a:off x="6089904" y="2834640"/>
            <a:ext cx="2697480" cy="54864"/>
          </a:xfrm>
          <a:prstGeom prst="rect">
            <a:avLst/>
          </a:prstGeom>
          <a:solidFill>
            <a:srgbClr val="4338CA"/>
          </a:solidFill>
          <a:ln w="12700">
            <a:solidFill>
              <a:srgbClr val="4338CA"/>
            </a:solidFill>
            <a:prstDash val="solid"/>
          </a:ln>
        </p:spPr>
      </p:sp>
      <p:sp>
        <p:nvSpPr>
          <p:cNvPr id="38" name="Shape 36"/>
          <p:cNvSpPr/>
          <p:nvPr/>
        </p:nvSpPr>
        <p:spPr>
          <a:xfrm>
            <a:off x="6254496" y="3035808"/>
            <a:ext cx="420624" cy="420624"/>
          </a:xfrm>
          <a:prstGeom prst="ellipse">
            <a:avLst/>
          </a:prstGeom>
          <a:solidFill>
            <a:srgbClr val="4338CA"/>
          </a:solidFill>
          <a:ln w="12700">
            <a:solidFill>
              <a:srgbClr val="4338CA"/>
            </a:solidFill>
            <a:prstDash val="solid"/>
          </a:ln>
        </p:spPr>
      </p:sp>
      <p:sp>
        <p:nvSpPr>
          <p:cNvPr id="39" name="Text 37"/>
          <p:cNvSpPr/>
          <p:nvPr/>
        </p:nvSpPr>
        <p:spPr>
          <a:xfrm>
            <a:off x="6254496" y="3035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0" name="Text 38"/>
          <p:cNvSpPr/>
          <p:nvPr/>
        </p:nvSpPr>
        <p:spPr>
          <a:xfrm>
            <a:off x="6766560" y="3017520"/>
            <a:ext cx="1901952" cy="420624"/>
          </a:xfrm>
          <a:prstGeom prst="rect">
            <a:avLst/>
          </a:prstGeom>
          <a:noFill/>
          <a:ln/>
        </p:spPr>
        <p:txBody>
          <a:bodyPr wrap="square" rtlCol="0" anchor="ctr"/>
          <a:lstStyle/>
          <a:p>
            <a:pPr indent="0" marL="0">
              <a:buNone/>
            </a:pPr>
            <a:r>
              <a:rPr lang="en-US" sz="1100" b="1" dirty="0">
                <a:solidFill>
                  <a:srgbClr val="1E1B4B"/>
                </a:solidFill>
                <a:latin typeface="Calibri" pitchFamily="34" charset="0"/>
                <a:ea typeface="Calibri" pitchFamily="34" charset="-122"/>
                <a:cs typeface="Calibri" pitchFamily="34" charset="-120"/>
              </a:rPr>
              <a:t>Content Creators</a:t>
            </a:r>
            <a:endParaRPr lang="en-US" sz="1100" dirty="0"/>
          </a:p>
        </p:txBody>
      </p:sp>
      <p:sp>
        <p:nvSpPr>
          <p:cNvPr id="41" name="Text 39"/>
          <p:cNvSpPr/>
          <p:nvPr/>
        </p:nvSpPr>
        <p:spPr>
          <a:xfrm>
            <a:off x="6254496" y="3511296"/>
            <a:ext cx="2395728" cy="1097280"/>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Vloggers and social media creators can generate short custom jingles or background melodies for their videos — export as MP4 with visuals, ready to use as royalty-free background music.</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59669"/>
          </a:solidFill>
          <a:ln w="12700">
            <a:solidFill>
              <a:srgbClr val="059669"/>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Use CodePilot?</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04672"/>
            <a:ext cx="1874520" cy="1325880"/>
          </a:xfrm>
          <a:prstGeom prst="roundRect">
            <a:avLst>
              <a:gd name="adj" fmla="val 6897"/>
            </a:avLst>
          </a:prstGeom>
          <a:solidFill>
            <a:srgbClr val="7C3AED"/>
          </a:solidFill>
          <a:ln w="12700">
            <a:solidFill>
              <a:srgbClr val="7C3AED"/>
            </a:solidFill>
            <a:prstDash val="solid"/>
          </a:ln>
          <a:effectLst>
            <a:outerShdw sx="100000" sy="100000" kx="0" ky="0" algn="bl" rotWithShape="0" blurRad="127000" dist="38100" dir="8100000">
              <a:srgbClr val="000000">
                <a:alpha val="10000"/>
              </a:srgbClr>
            </a:outerShdw>
          </a:effectLst>
        </p:spPr>
      </p:sp>
      <p:sp>
        <p:nvSpPr>
          <p:cNvPr id="7" name="Text 5"/>
          <p:cNvSpPr/>
          <p:nvPr/>
        </p:nvSpPr>
        <p:spPr>
          <a:xfrm>
            <a:off x="384048" y="941832"/>
            <a:ext cx="1874520" cy="6858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5</a:t>
            </a:r>
            <a:endParaRPr lang="en-US" sz="3800" dirty="0"/>
          </a:p>
        </p:txBody>
      </p:sp>
      <p:sp>
        <p:nvSpPr>
          <p:cNvPr id="8" name="Text 6"/>
          <p:cNvSpPr/>
          <p:nvPr/>
        </p:nvSpPr>
        <p:spPr>
          <a:xfrm>
            <a:off x="384048" y="1609344"/>
            <a:ext cx="187452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Instrument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Modes</a:t>
            </a:r>
            <a:endParaRPr lang="en-US" sz="1000" dirty="0"/>
          </a:p>
        </p:txBody>
      </p:sp>
      <p:sp>
        <p:nvSpPr>
          <p:cNvPr id="9" name="Shape 7"/>
          <p:cNvSpPr/>
          <p:nvPr/>
        </p:nvSpPr>
        <p:spPr>
          <a:xfrm>
            <a:off x="2487168" y="804672"/>
            <a:ext cx="1874520" cy="1325880"/>
          </a:xfrm>
          <a:prstGeom prst="roundRect">
            <a:avLst>
              <a:gd name="adj" fmla="val 6897"/>
            </a:avLst>
          </a:prstGeom>
          <a:solidFill>
            <a:srgbClr val="0891B2"/>
          </a:solidFill>
          <a:ln w="12700">
            <a:solidFill>
              <a:srgbClr val="0891B2"/>
            </a:solidFill>
            <a:prstDash val="solid"/>
          </a:ln>
          <a:effectLst>
            <a:outerShdw sx="100000" sy="100000" kx="0" ky="0" algn="bl" rotWithShape="0" blurRad="127000" dist="38100" dir="8100000">
              <a:srgbClr val="000000">
                <a:alpha val="10000"/>
              </a:srgbClr>
            </a:outerShdw>
          </a:effectLst>
        </p:spPr>
      </p:sp>
      <p:sp>
        <p:nvSpPr>
          <p:cNvPr id="10" name="Text 8"/>
          <p:cNvSpPr/>
          <p:nvPr/>
        </p:nvSpPr>
        <p:spPr>
          <a:xfrm>
            <a:off x="2487168" y="941832"/>
            <a:ext cx="1874520" cy="6858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3</a:t>
            </a:r>
            <a:endParaRPr lang="en-US" sz="3800" dirty="0"/>
          </a:p>
        </p:txBody>
      </p:sp>
      <p:sp>
        <p:nvSpPr>
          <p:cNvPr id="11" name="Text 9"/>
          <p:cNvSpPr/>
          <p:nvPr/>
        </p:nvSpPr>
        <p:spPr>
          <a:xfrm>
            <a:off x="2487168" y="1609344"/>
            <a:ext cx="187452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Sound Therapy</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Modes</a:t>
            </a:r>
            <a:endParaRPr lang="en-US" sz="1000" dirty="0"/>
          </a:p>
        </p:txBody>
      </p:sp>
      <p:sp>
        <p:nvSpPr>
          <p:cNvPr id="12" name="Shape 10"/>
          <p:cNvSpPr/>
          <p:nvPr/>
        </p:nvSpPr>
        <p:spPr>
          <a:xfrm>
            <a:off x="4590288" y="804672"/>
            <a:ext cx="1874520" cy="1325880"/>
          </a:xfrm>
          <a:prstGeom prst="roundRect">
            <a:avLst>
              <a:gd name="adj" fmla="val 6897"/>
            </a:avLst>
          </a:prstGeom>
          <a:solidFill>
            <a:srgbClr val="059669"/>
          </a:solidFill>
          <a:ln w="12700">
            <a:solidFill>
              <a:srgbClr val="059669"/>
            </a:solidFill>
            <a:prstDash val="solid"/>
          </a:ln>
          <a:effectLst>
            <a:outerShdw sx="100000" sy="100000" kx="0" ky="0" algn="bl" rotWithShape="0" blurRad="127000" dist="38100" dir="8100000">
              <a:srgbClr val="000000">
                <a:alpha val="10000"/>
              </a:srgbClr>
            </a:outerShdw>
          </a:effectLst>
        </p:spPr>
      </p:sp>
      <p:sp>
        <p:nvSpPr>
          <p:cNvPr id="13" name="Text 11"/>
          <p:cNvSpPr/>
          <p:nvPr/>
        </p:nvSpPr>
        <p:spPr>
          <a:xfrm>
            <a:off x="4590288" y="941832"/>
            <a:ext cx="1874520" cy="6858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0</a:t>
            </a:r>
            <a:endParaRPr lang="en-US" sz="3800" dirty="0"/>
          </a:p>
        </p:txBody>
      </p:sp>
      <p:sp>
        <p:nvSpPr>
          <p:cNvPr id="14" name="Text 12"/>
          <p:cNvSpPr/>
          <p:nvPr/>
        </p:nvSpPr>
        <p:spPr>
          <a:xfrm>
            <a:off x="4590288" y="1609344"/>
            <a:ext cx="187452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Downloads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Required</a:t>
            </a:r>
            <a:endParaRPr lang="en-US" sz="1000" dirty="0"/>
          </a:p>
        </p:txBody>
      </p:sp>
      <p:sp>
        <p:nvSpPr>
          <p:cNvPr id="15" name="Shape 13"/>
          <p:cNvSpPr/>
          <p:nvPr/>
        </p:nvSpPr>
        <p:spPr>
          <a:xfrm>
            <a:off x="6693408" y="804672"/>
            <a:ext cx="1874520" cy="1325880"/>
          </a:xfrm>
          <a:prstGeom prst="roundRect">
            <a:avLst>
              <a:gd name="adj" fmla="val 6897"/>
            </a:avLst>
          </a:prstGeom>
          <a:solidFill>
            <a:srgbClr val="DB2777"/>
          </a:solidFill>
          <a:ln w="12700">
            <a:solidFill>
              <a:srgbClr val="DB2777"/>
            </a:solidFill>
            <a:prstDash val="solid"/>
          </a:ln>
          <a:effectLst>
            <a:outerShdw sx="100000" sy="100000" kx="0" ky="0" algn="bl" rotWithShape="0" blurRad="127000" dist="38100" dir="8100000">
              <a:srgbClr val="000000">
                <a:alpha val="10000"/>
              </a:srgbClr>
            </a:outerShdw>
          </a:effectLst>
        </p:spPr>
      </p:sp>
      <p:sp>
        <p:nvSpPr>
          <p:cNvPr id="16" name="Text 14"/>
          <p:cNvSpPr/>
          <p:nvPr/>
        </p:nvSpPr>
        <p:spPr>
          <a:xfrm>
            <a:off x="6693408" y="941832"/>
            <a:ext cx="1874520" cy="6858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FREE</a:t>
            </a:r>
            <a:endParaRPr lang="en-US" sz="3800" dirty="0"/>
          </a:p>
        </p:txBody>
      </p:sp>
      <p:sp>
        <p:nvSpPr>
          <p:cNvPr id="17" name="Text 15"/>
          <p:cNvSpPr/>
          <p:nvPr/>
        </p:nvSpPr>
        <p:spPr>
          <a:xfrm>
            <a:off x="6693408" y="1609344"/>
            <a:ext cx="187452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Always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Free</a:t>
            </a:r>
            <a:endParaRPr lang="en-US" sz="1000" dirty="0"/>
          </a:p>
        </p:txBody>
      </p:sp>
      <p:sp>
        <p:nvSpPr>
          <p:cNvPr id="18" name="Shape 16"/>
          <p:cNvSpPr/>
          <p:nvPr/>
        </p:nvSpPr>
        <p:spPr>
          <a:xfrm>
            <a:off x="384048" y="2331720"/>
            <a:ext cx="4096512" cy="10515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384048" y="2331720"/>
            <a:ext cx="50292" cy="1051560"/>
          </a:xfrm>
          <a:prstGeom prst="rect">
            <a:avLst/>
          </a:prstGeom>
          <a:solidFill>
            <a:srgbClr val="059669"/>
          </a:solidFill>
          <a:ln w="12700">
            <a:solidFill>
              <a:srgbClr val="059669"/>
            </a:solidFill>
            <a:prstDash val="solid"/>
          </a:ln>
        </p:spPr>
      </p:sp>
      <p:sp>
        <p:nvSpPr>
          <p:cNvPr id="20" name="Text 18"/>
          <p:cNvSpPr/>
          <p:nvPr/>
        </p:nvSpPr>
        <p:spPr>
          <a:xfrm>
            <a:off x="548640" y="2423160"/>
            <a:ext cx="3749040" cy="310896"/>
          </a:xfrm>
          <a:prstGeom prst="rect">
            <a:avLst/>
          </a:prstGeom>
          <a:noFill/>
          <a:ln/>
        </p:spPr>
        <p:txBody>
          <a:bodyPr wrap="square"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Zero Barrier Entry</a:t>
            </a:r>
            <a:endParaRPr lang="en-US" sz="1200" dirty="0"/>
          </a:p>
        </p:txBody>
      </p:sp>
      <p:sp>
        <p:nvSpPr>
          <p:cNvPr id="21" name="Text 19"/>
          <p:cNvSpPr/>
          <p:nvPr/>
        </p:nvSpPr>
        <p:spPr>
          <a:xfrm>
            <a:off x="548640" y="2752344"/>
            <a:ext cx="3749040" cy="54864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No musical training, no instruments, no software to install. Open a browser, tap the mic, hum — that's it. Works on mobile, tablet, and desktop.</a:t>
            </a:r>
            <a:endParaRPr lang="en-US" sz="1000" dirty="0"/>
          </a:p>
        </p:txBody>
      </p:sp>
      <p:sp>
        <p:nvSpPr>
          <p:cNvPr id="22" name="Shape 20"/>
          <p:cNvSpPr/>
          <p:nvPr/>
        </p:nvSpPr>
        <p:spPr>
          <a:xfrm>
            <a:off x="4700016" y="2331720"/>
            <a:ext cx="4096512" cy="10515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3" name="Shape 21"/>
          <p:cNvSpPr/>
          <p:nvPr/>
        </p:nvSpPr>
        <p:spPr>
          <a:xfrm>
            <a:off x="4700016" y="2331720"/>
            <a:ext cx="50292" cy="1051560"/>
          </a:xfrm>
          <a:prstGeom prst="rect">
            <a:avLst/>
          </a:prstGeom>
          <a:solidFill>
            <a:srgbClr val="7C3AED"/>
          </a:solidFill>
          <a:ln w="12700">
            <a:solidFill>
              <a:srgbClr val="7C3AED"/>
            </a:solidFill>
            <a:prstDash val="solid"/>
          </a:ln>
        </p:spPr>
      </p:sp>
      <p:sp>
        <p:nvSpPr>
          <p:cNvPr id="24" name="Text 22"/>
          <p:cNvSpPr/>
          <p:nvPr/>
        </p:nvSpPr>
        <p:spPr>
          <a:xfrm>
            <a:off x="4864608" y="2423160"/>
            <a:ext cx="3749040" cy="310896"/>
          </a:xfrm>
          <a:prstGeom prst="rect">
            <a:avLst/>
          </a:prstGeom>
          <a:noFill/>
          <a:ln/>
        </p:spPr>
        <p:txBody>
          <a:bodyPr wrap="square"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Powered by Real AI</a:t>
            </a:r>
            <a:endParaRPr lang="en-US" sz="1200" dirty="0"/>
          </a:p>
        </p:txBody>
      </p:sp>
      <p:sp>
        <p:nvSpPr>
          <p:cNvPr id="25" name="Text 23"/>
          <p:cNvSpPr/>
          <p:nvPr/>
        </p:nvSpPr>
        <p:spPr>
          <a:xfrm>
            <a:off x="4864608" y="2752344"/>
            <a:ext cx="3749040" cy="54864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Claude AI (Anthropic) doesn't just play back your notes — it intelligently composes a new, stylistically appropriate melody inspired by your hum.</a:t>
            </a:r>
            <a:endParaRPr lang="en-US" sz="1000" dirty="0"/>
          </a:p>
        </p:txBody>
      </p:sp>
      <p:sp>
        <p:nvSpPr>
          <p:cNvPr id="26" name="Shape 24"/>
          <p:cNvSpPr/>
          <p:nvPr/>
        </p:nvSpPr>
        <p:spPr>
          <a:xfrm>
            <a:off x="384048" y="3520440"/>
            <a:ext cx="4096512" cy="10515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7" name="Shape 25"/>
          <p:cNvSpPr/>
          <p:nvPr/>
        </p:nvSpPr>
        <p:spPr>
          <a:xfrm>
            <a:off x="384048" y="3520440"/>
            <a:ext cx="50292" cy="1051560"/>
          </a:xfrm>
          <a:prstGeom prst="rect">
            <a:avLst/>
          </a:prstGeom>
          <a:solidFill>
            <a:srgbClr val="0891B2"/>
          </a:solidFill>
          <a:ln w="12700">
            <a:solidFill>
              <a:srgbClr val="0891B2"/>
            </a:solidFill>
            <a:prstDash val="solid"/>
          </a:ln>
        </p:spPr>
      </p:sp>
      <p:sp>
        <p:nvSpPr>
          <p:cNvPr id="28" name="Text 26"/>
          <p:cNvSpPr/>
          <p:nvPr/>
        </p:nvSpPr>
        <p:spPr>
          <a:xfrm>
            <a:off x="548640" y="3611880"/>
            <a:ext cx="3749040" cy="310896"/>
          </a:xfrm>
          <a:prstGeom prst="rect">
            <a:avLst/>
          </a:prstGeom>
          <a:noFill/>
          <a:ln/>
        </p:spPr>
        <p:txBody>
          <a:bodyPr wrap="square"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Dual Purpose: Create &amp; Heal</a:t>
            </a:r>
            <a:endParaRPr lang="en-US" sz="1200" dirty="0"/>
          </a:p>
        </p:txBody>
      </p:sp>
      <p:sp>
        <p:nvSpPr>
          <p:cNvPr id="29" name="Text 27"/>
          <p:cNvSpPr/>
          <p:nvPr/>
        </p:nvSpPr>
        <p:spPr>
          <a:xfrm>
            <a:off x="548640" y="3941064"/>
            <a:ext cx="3749040" cy="54864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Unique combination of music creation AND sound therapy in one tool. No other browser app merges AI music generation with clinically-inspired audio wellness.</a:t>
            </a:r>
            <a:endParaRPr lang="en-US" sz="1000" dirty="0"/>
          </a:p>
        </p:txBody>
      </p:sp>
      <p:sp>
        <p:nvSpPr>
          <p:cNvPr id="30" name="Shape 28"/>
          <p:cNvSpPr/>
          <p:nvPr/>
        </p:nvSpPr>
        <p:spPr>
          <a:xfrm>
            <a:off x="4700016" y="3520440"/>
            <a:ext cx="4096512" cy="1051560"/>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31" name="Shape 29"/>
          <p:cNvSpPr/>
          <p:nvPr/>
        </p:nvSpPr>
        <p:spPr>
          <a:xfrm>
            <a:off x="4700016" y="3520440"/>
            <a:ext cx="50292" cy="1051560"/>
          </a:xfrm>
          <a:prstGeom prst="rect">
            <a:avLst/>
          </a:prstGeom>
          <a:solidFill>
            <a:srgbClr val="D97706"/>
          </a:solidFill>
          <a:ln w="12700">
            <a:solidFill>
              <a:srgbClr val="D97706"/>
            </a:solidFill>
            <a:prstDash val="solid"/>
          </a:ln>
        </p:spPr>
      </p:sp>
      <p:sp>
        <p:nvSpPr>
          <p:cNvPr id="32" name="Text 30"/>
          <p:cNvSpPr/>
          <p:nvPr/>
        </p:nvSpPr>
        <p:spPr>
          <a:xfrm>
            <a:off x="4864608" y="3611880"/>
            <a:ext cx="3749040" cy="310896"/>
          </a:xfrm>
          <a:prstGeom prst="rect">
            <a:avLst/>
          </a:prstGeom>
          <a:noFill/>
          <a:ln/>
        </p:spPr>
        <p:txBody>
          <a:bodyPr wrap="square"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Privacy-First Architecture</a:t>
            </a:r>
            <a:endParaRPr lang="en-US" sz="1200" dirty="0"/>
          </a:p>
        </p:txBody>
      </p:sp>
      <p:sp>
        <p:nvSpPr>
          <p:cNvPr id="33" name="Text 31"/>
          <p:cNvSpPr/>
          <p:nvPr/>
        </p:nvSpPr>
        <p:spPr>
          <a:xfrm>
            <a:off x="4864608" y="3941064"/>
            <a:ext cx="3749040" cy="54864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Vercel serverless proxy means your Claude API key is never exposed in the browser. Your melodies stay in your browser's localStorage — no server storage of user data.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How to Use CodePilot — Step by Step</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22960"/>
            <a:ext cx="4096512" cy="1188720"/>
          </a:xfrm>
          <a:prstGeom prst="rect">
            <a:avLst/>
          </a:prstGeom>
          <a:solidFill>
            <a:srgbClr val="F7F6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822960"/>
            <a:ext cx="50292" cy="1188720"/>
          </a:xfrm>
          <a:prstGeom prst="rect">
            <a:avLst/>
          </a:prstGeom>
          <a:solidFill>
            <a:srgbClr val="7C3AED"/>
          </a:solidFill>
          <a:ln w="12700">
            <a:solidFill>
              <a:srgbClr val="7C3AED"/>
            </a:solidFill>
            <a:prstDash val="solid"/>
          </a:ln>
        </p:spPr>
      </p:sp>
      <p:sp>
        <p:nvSpPr>
          <p:cNvPr id="8" name="Shape 6"/>
          <p:cNvSpPr/>
          <p:nvPr/>
        </p:nvSpPr>
        <p:spPr>
          <a:xfrm>
            <a:off x="548640" y="1207008"/>
            <a:ext cx="420624" cy="420624"/>
          </a:xfrm>
          <a:prstGeom prst="ellipse">
            <a:avLst/>
          </a:prstGeom>
          <a:solidFill>
            <a:srgbClr val="7C3AED"/>
          </a:solidFill>
          <a:ln w="12700">
            <a:solidFill>
              <a:srgbClr val="7C3AED"/>
            </a:solidFill>
            <a:prstDash val="solid"/>
          </a:ln>
        </p:spPr>
      </p:sp>
      <p:sp>
        <p:nvSpPr>
          <p:cNvPr id="9" name="Text 7"/>
          <p:cNvSpPr/>
          <p:nvPr/>
        </p:nvSpPr>
        <p:spPr>
          <a:xfrm>
            <a:off x="548640" y="12070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078992" y="914400"/>
            <a:ext cx="3246120" cy="347472"/>
          </a:xfrm>
          <a:prstGeom prst="rect">
            <a:avLst/>
          </a:prstGeom>
          <a:noFill/>
          <a:ln/>
        </p:spPr>
        <p:txBody>
          <a:bodyPr wrap="square"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Enter Your Name</a:t>
            </a:r>
            <a:endParaRPr lang="en-US" sz="1200" dirty="0"/>
          </a:p>
        </p:txBody>
      </p:sp>
      <p:sp>
        <p:nvSpPr>
          <p:cNvPr id="11" name="Text 9"/>
          <p:cNvSpPr/>
          <p:nvPr/>
        </p:nvSpPr>
        <p:spPr>
          <a:xfrm>
            <a:off x="1078992" y="1280160"/>
            <a:ext cx="3246120" cy="658368"/>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When the app opens, a welcome modal asks for your name. This personalizes your melodies and library. Your name is saved in a cookie for next time.</a:t>
            </a:r>
            <a:endParaRPr lang="en-US" sz="950" dirty="0"/>
          </a:p>
        </p:txBody>
      </p:sp>
      <p:sp>
        <p:nvSpPr>
          <p:cNvPr id="12" name="Shape 10"/>
          <p:cNvSpPr/>
          <p:nvPr/>
        </p:nvSpPr>
        <p:spPr>
          <a:xfrm>
            <a:off x="4700016" y="822960"/>
            <a:ext cx="4096512" cy="1188720"/>
          </a:xfrm>
          <a:prstGeom prst="rect">
            <a:avLst/>
          </a:prstGeom>
          <a:solidFill>
            <a:srgbClr val="EDE9FE"/>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4700016" y="822960"/>
            <a:ext cx="50292" cy="1188720"/>
          </a:xfrm>
          <a:prstGeom prst="rect">
            <a:avLst/>
          </a:prstGeom>
          <a:solidFill>
            <a:srgbClr val="DB2777"/>
          </a:solidFill>
          <a:ln w="12700">
            <a:solidFill>
              <a:srgbClr val="DB2777"/>
            </a:solidFill>
            <a:prstDash val="solid"/>
          </a:ln>
        </p:spPr>
      </p:sp>
      <p:sp>
        <p:nvSpPr>
          <p:cNvPr id="14" name="Shape 12"/>
          <p:cNvSpPr/>
          <p:nvPr/>
        </p:nvSpPr>
        <p:spPr>
          <a:xfrm>
            <a:off x="4864608" y="1207008"/>
            <a:ext cx="420624" cy="420624"/>
          </a:xfrm>
          <a:prstGeom prst="ellipse">
            <a:avLst/>
          </a:prstGeom>
          <a:solidFill>
            <a:srgbClr val="DB2777"/>
          </a:solidFill>
          <a:ln w="12700">
            <a:solidFill>
              <a:srgbClr val="DB2777"/>
            </a:solidFill>
            <a:prstDash val="solid"/>
          </a:ln>
        </p:spPr>
      </p:sp>
      <p:sp>
        <p:nvSpPr>
          <p:cNvPr id="15" name="Text 13"/>
          <p:cNvSpPr/>
          <p:nvPr/>
        </p:nvSpPr>
        <p:spPr>
          <a:xfrm>
            <a:off x="4864608" y="12070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5394960" y="914400"/>
            <a:ext cx="3246120" cy="347472"/>
          </a:xfrm>
          <a:prstGeom prst="rect">
            <a:avLst/>
          </a:prstGeom>
          <a:noFill/>
          <a:ln/>
        </p:spPr>
        <p:txBody>
          <a:bodyPr wrap="square"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Tap the Mic &amp; Hum</a:t>
            </a:r>
            <a:endParaRPr lang="en-US" sz="1200" dirty="0"/>
          </a:p>
        </p:txBody>
      </p:sp>
      <p:sp>
        <p:nvSpPr>
          <p:cNvPr id="17" name="Text 15"/>
          <p:cNvSpPr/>
          <p:nvPr/>
        </p:nvSpPr>
        <p:spPr>
          <a:xfrm>
            <a:off x="5394960" y="1280160"/>
            <a:ext cx="3246120" cy="658368"/>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Click the large microphone button. A real-time waveform and pitch tracker appear. Hum any tune for 3–15 seconds. Detected notes appear as colored pills.</a:t>
            </a:r>
            <a:endParaRPr lang="en-US" sz="950" dirty="0"/>
          </a:p>
        </p:txBody>
      </p:sp>
      <p:sp>
        <p:nvSpPr>
          <p:cNvPr id="18" name="Shape 16"/>
          <p:cNvSpPr/>
          <p:nvPr/>
        </p:nvSpPr>
        <p:spPr>
          <a:xfrm>
            <a:off x="384048" y="2121408"/>
            <a:ext cx="4096512" cy="1188720"/>
          </a:xfrm>
          <a:prstGeom prst="rect">
            <a:avLst/>
          </a:prstGeom>
          <a:solidFill>
            <a:srgbClr val="F7F6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384048" y="2121408"/>
            <a:ext cx="50292" cy="1188720"/>
          </a:xfrm>
          <a:prstGeom prst="rect">
            <a:avLst/>
          </a:prstGeom>
          <a:solidFill>
            <a:srgbClr val="0891B2"/>
          </a:solidFill>
          <a:ln w="12700">
            <a:solidFill>
              <a:srgbClr val="0891B2"/>
            </a:solidFill>
            <a:prstDash val="solid"/>
          </a:ln>
        </p:spPr>
      </p:sp>
      <p:sp>
        <p:nvSpPr>
          <p:cNvPr id="20" name="Shape 18"/>
          <p:cNvSpPr/>
          <p:nvPr/>
        </p:nvSpPr>
        <p:spPr>
          <a:xfrm>
            <a:off x="548640" y="2505456"/>
            <a:ext cx="420624" cy="420624"/>
          </a:xfrm>
          <a:prstGeom prst="ellipse">
            <a:avLst/>
          </a:prstGeom>
          <a:solidFill>
            <a:srgbClr val="0891B2"/>
          </a:solidFill>
          <a:ln w="12700">
            <a:solidFill>
              <a:srgbClr val="0891B2"/>
            </a:solidFill>
            <a:prstDash val="solid"/>
          </a:ln>
        </p:spPr>
      </p:sp>
      <p:sp>
        <p:nvSpPr>
          <p:cNvPr id="21" name="Text 19"/>
          <p:cNvSpPr/>
          <p:nvPr/>
        </p:nvSpPr>
        <p:spPr>
          <a:xfrm>
            <a:off x="548640" y="25054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078992" y="2212848"/>
            <a:ext cx="3246120" cy="347472"/>
          </a:xfrm>
          <a:prstGeom prst="rect">
            <a:avLst/>
          </a:prstGeom>
          <a:noFill/>
          <a:ln/>
        </p:spPr>
        <p:txBody>
          <a:bodyPr wrap="square"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Choose Style &amp; Instrument</a:t>
            </a:r>
            <a:endParaRPr lang="en-US" sz="1200" dirty="0"/>
          </a:p>
        </p:txBody>
      </p:sp>
      <p:sp>
        <p:nvSpPr>
          <p:cNvPr id="23" name="Text 21"/>
          <p:cNvSpPr/>
          <p:nvPr/>
        </p:nvSpPr>
        <p:spPr>
          <a:xfrm>
            <a:off x="1078992" y="2578608"/>
            <a:ext cx="3246120" cy="658368"/>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Select a music style (Jingle, Jazz, Pop, Classical) and a playback instrument (Piano, Guitar, Flute, Bell, or your own Hum voice).</a:t>
            </a:r>
            <a:endParaRPr lang="en-US" sz="950" dirty="0"/>
          </a:p>
        </p:txBody>
      </p:sp>
      <p:sp>
        <p:nvSpPr>
          <p:cNvPr id="24" name="Shape 22"/>
          <p:cNvSpPr/>
          <p:nvPr/>
        </p:nvSpPr>
        <p:spPr>
          <a:xfrm>
            <a:off x="4700016" y="2121408"/>
            <a:ext cx="4096512" cy="1188720"/>
          </a:xfrm>
          <a:prstGeom prst="rect">
            <a:avLst/>
          </a:prstGeom>
          <a:solidFill>
            <a:srgbClr val="EDE9FE"/>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5" name="Shape 23"/>
          <p:cNvSpPr/>
          <p:nvPr/>
        </p:nvSpPr>
        <p:spPr>
          <a:xfrm>
            <a:off x="4700016" y="2121408"/>
            <a:ext cx="50292" cy="1188720"/>
          </a:xfrm>
          <a:prstGeom prst="rect">
            <a:avLst/>
          </a:prstGeom>
          <a:solidFill>
            <a:srgbClr val="D97706"/>
          </a:solidFill>
          <a:ln w="12700">
            <a:solidFill>
              <a:srgbClr val="D97706"/>
            </a:solidFill>
            <a:prstDash val="solid"/>
          </a:ln>
        </p:spPr>
      </p:sp>
      <p:sp>
        <p:nvSpPr>
          <p:cNvPr id="26" name="Shape 24"/>
          <p:cNvSpPr/>
          <p:nvPr/>
        </p:nvSpPr>
        <p:spPr>
          <a:xfrm>
            <a:off x="4864608" y="2505456"/>
            <a:ext cx="420624" cy="420624"/>
          </a:xfrm>
          <a:prstGeom prst="ellipse">
            <a:avLst/>
          </a:prstGeom>
          <a:solidFill>
            <a:srgbClr val="D97706"/>
          </a:solidFill>
          <a:ln w="12700">
            <a:solidFill>
              <a:srgbClr val="D97706"/>
            </a:solidFill>
            <a:prstDash val="solid"/>
          </a:ln>
        </p:spPr>
      </p:sp>
      <p:sp>
        <p:nvSpPr>
          <p:cNvPr id="27" name="Text 25"/>
          <p:cNvSpPr/>
          <p:nvPr/>
        </p:nvSpPr>
        <p:spPr>
          <a:xfrm>
            <a:off x="4864608" y="25054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5394960" y="2212848"/>
            <a:ext cx="3246120" cy="347472"/>
          </a:xfrm>
          <a:prstGeom prst="rect">
            <a:avLst/>
          </a:prstGeom>
          <a:noFill/>
          <a:ln/>
        </p:spPr>
        <p:txBody>
          <a:bodyPr wrap="square"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Generate AI Melody</a:t>
            </a:r>
            <a:endParaRPr lang="en-US" sz="1200" dirty="0"/>
          </a:p>
        </p:txBody>
      </p:sp>
      <p:sp>
        <p:nvSpPr>
          <p:cNvPr id="29" name="Text 27"/>
          <p:cNvSpPr/>
          <p:nvPr/>
        </p:nvSpPr>
        <p:spPr>
          <a:xfrm>
            <a:off x="5394960" y="2578608"/>
            <a:ext cx="3246120" cy="658368"/>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Click the "Generate AI Melody" button. CodePilot sends your detected notes and chosen style to Claude AI which returns a full melody with BPM and mood description.</a:t>
            </a:r>
            <a:endParaRPr lang="en-US" sz="950" dirty="0"/>
          </a:p>
        </p:txBody>
      </p:sp>
      <p:sp>
        <p:nvSpPr>
          <p:cNvPr id="30" name="Shape 28"/>
          <p:cNvSpPr/>
          <p:nvPr/>
        </p:nvSpPr>
        <p:spPr>
          <a:xfrm>
            <a:off x="384048" y="3419856"/>
            <a:ext cx="4096512" cy="1188720"/>
          </a:xfrm>
          <a:prstGeom prst="rect">
            <a:avLst/>
          </a:prstGeom>
          <a:solidFill>
            <a:srgbClr val="F7F6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31" name="Shape 29"/>
          <p:cNvSpPr/>
          <p:nvPr/>
        </p:nvSpPr>
        <p:spPr>
          <a:xfrm>
            <a:off x="384048" y="3419856"/>
            <a:ext cx="50292" cy="1188720"/>
          </a:xfrm>
          <a:prstGeom prst="rect">
            <a:avLst/>
          </a:prstGeom>
          <a:solidFill>
            <a:srgbClr val="059669"/>
          </a:solidFill>
          <a:ln w="12700">
            <a:solidFill>
              <a:srgbClr val="059669"/>
            </a:solidFill>
            <a:prstDash val="solid"/>
          </a:ln>
        </p:spPr>
      </p:sp>
      <p:sp>
        <p:nvSpPr>
          <p:cNvPr id="32" name="Shape 30"/>
          <p:cNvSpPr/>
          <p:nvPr/>
        </p:nvSpPr>
        <p:spPr>
          <a:xfrm>
            <a:off x="548640" y="3803904"/>
            <a:ext cx="420624" cy="420624"/>
          </a:xfrm>
          <a:prstGeom prst="ellipse">
            <a:avLst/>
          </a:prstGeom>
          <a:solidFill>
            <a:srgbClr val="059669"/>
          </a:solidFill>
          <a:ln w="12700">
            <a:solidFill>
              <a:srgbClr val="059669"/>
            </a:solidFill>
            <a:prstDash val="solid"/>
          </a:ln>
        </p:spPr>
      </p:sp>
      <p:sp>
        <p:nvSpPr>
          <p:cNvPr id="33" name="Text 31"/>
          <p:cNvSpPr/>
          <p:nvPr/>
        </p:nvSpPr>
        <p:spPr>
          <a:xfrm>
            <a:off x="548640" y="38039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2"/>
          <p:cNvSpPr/>
          <p:nvPr/>
        </p:nvSpPr>
        <p:spPr>
          <a:xfrm>
            <a:off x="1078992" y="3511296"/>
            <a:ext cx="3246120" cy="347472"/>
          </a:xfrm>
          <a:prstGeom prst="rect">
            <a:avLst/>
          </a:prstGeom>
          <a:noFill/>
          <a:ln/>
        </p:spPr>
        <p:txBody>
          <a:bodyPr wrap="square"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Play, Adjust Speed &amp; Export</a:t>
            </a:r>
            <a:endParaRPr lang="en-US" sz="1200" dirty="0"/>
          </a:p>
        </p:txBody>
      </p:sp>
      <p:sp>
        <p:nvSpPr>
          <p:cNvPr id="35" name="Text 33"/>
          <p:cNvSpPr/>
          <p:nvPr/>
        </p:nvSpPr>
        <p:spPr>
          <a:xfrm>
            <a:off x="1078992" y="3877056"/>
            <a:ext cx="3246120" cy="658368"/>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Hit Play. Use the speedometer dial to control speed (0.3x to 3x). When satisfied, download as WAV or render to MP4. The melody is auto-saved to your library.</a:t>
            </a:r>
            <a:endParaRPr lang="en-US" sz="950" dirty="0"/>
          </a:p>
        </p:txBody>
      </p:sp>
      <p:sp>
        <p:nvSpPr>
          <p:cNvPr id="36" name="Shape 34"/>
          <p:cNvSpPr/>
          <p:nvPr/>
        </p:nvSpPr>
        <p:spPr>
          <a:xfrm>
            <a:off x="4700016" y="3419856"/>
            <a:ext cx="4096512" cy="1188720"/>
          </a:xfrm>
          <a:prstGeom prst="rect">
            <a:avLst/>
          </a:prstGeom>
          <a:solidFill>
            <a:srgbClr val="EDE9FE"/>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37" name="Shape 35"/>
          <p:cNvSpPr/>
          <p:nvPr/>
        </p:nvSpPr>
        <p:spPr>
          <a:xfrm>
            <a:off x="4700016" y="3419856"/>
            <a:ext cx="50292" cy="1188720"/>
          </a:xfrm>
          <a:prstGeom prst="rect">
            <a:avLst/>
          </a:prstGeom>
          <a:solidFill>
            <a:srgbClr val="0D9488"/>
          </a:solidFill>
          <a:ln w="12700">
            <a:solidFill>
              <a:srgbClr val="0D9488"/>
            </a:solidFill>
            <a:prstDash val="solid"/>
          </a:ln>
        </p:spPr>
      </p:sp>
      <p:sp>
        <p:nvSpPr>
          <p:cNvPr id="38" name="Shape 36"/>
          <p:cNvSpPr/>
          <p:nvPr/>
        </p:nvSpPr>
        <p:spPr>
          <a:xfrm>
            <a:off x="4864608" y="3803904"/>
            <a:ext cx="420624" cy="420624"/>
          </a:xfrm>
          <a:prstGeom prst="ellipse">
            <a:avLst/>
          </a:prstGeom>
          <a:solidFill>
            <a:srgbClr val="0D9488"/>
          </a:solidFill>
          <a:ln w="12700">
            <a:solidFill>
              <a:srgbClr val="0D9488"/>
            </a:solidFill>
            <a:prstDash val="solid"/>
          </a:ln>
        </p:spPr>
      </p:sp>
      <p:sp>
        <p:nvSpPr>
          <p:cNvPr id="39" name="Text 37"/>
          <p:cNvSpPr/>
          <p:nvPr/>
        </p:nvSpPr>
        <p:spPr>
          <a:xfrm>
            <a:off x="4864608" y="38039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0" name="Text 38"/>
          <p:cNvSpPr/>
          <p:nvPr/>
        </p:nvSpPr>
        <p:spPr>
          <a:xfrm>
            <a:off x="5394960" y="3511296"/>
            <a:ext cx="3246120" cy="347472"/>
          </a:xfrm>
          <a:prstGeom prst="rect">
            <a:avLst/>
          </a:prstGeom>
          <a:noFill/>
          <a:ln/>
        </p:spPr>
        <p:txBody>
          <a:bodyPr wrap="square" rtlCol="0" anchor="ctr"/>
          <a:lstStyle/>
          <a:p>
            <a:pPr indent="0" marL="0">
              <a:buNone/>
            </a:pPr>
            <a:r>
              <a:rPr lang="en-US" sz="1200" b="1" dirty="0">
                <a:solidFill>
                  <a:srgbClr val="1E1B4B"/>
                </a:solidFill>
                <a:latin typeface="Calibri" pitchFamily="34" charset="0"/>
                <a:ea typeface="Calibri" pitchFamily="34" charset="-122"/>
                <a:cs typeface="Calibri" pitchFamily="34" charset="-120"/>
              </a:rPr>
              <a:t>Try Sound Therapy</a:t>
            </a:r>
            <a:endParaRPr lang="en-US" sz="1200" dirty="0"/>
          </a:p>
        </p:txBody>
      </p:sp>
      <p:sp>
        <p:nvSpPr>
          <p:cNvPr id="41" name="Text 39"/>
          <p:cNvSpPr/>
          <p:nvPr/>
        </p:nvSpPr>
        <p:spPr>
          <a:xfrm>
            <a:off x="5394960" y="3877056"/>
            <a:ext cx="3246120" cy="658368"/>
          </a:xfrm>
          <a:prstGeom prst="rect">
            <a:avLst/>
          </a:prstGeom>
          <a:noFill/>
          <a:ln/>
        </p:spPr>
        <p:txBody>
          <a:bodyPr wrap="square" rtlCol="0" anchor="ctr"/>
          <a:lstStyle/>
          <a:p>
            <a:pPr indent="0" marL="0">
              <a:lnSpc>
                <a:spcPct val="138000"/>
              </a:lnSpc>
              <a:buNone/>
            </a:pPr>
            <a:r>
              <a:rPr lang="en-US" sz="950" dirty="0">
                <a:solidFill>
                  <a:srgbClr val="374151"/>
                </a:solidFill>
                <a:latin typeface="Calibri" pitchFamily="34" charset="0"/>
                <a:ea typeface="Calibri" pitchFamily="34" charset="-122"/>
                <a:cs typeface="Calibri" pitchFamily="34" charset="-120"/>
              </a:rPr>
              <a:t>Scroll to Sound Therapy section. Pick Tibetan Bowls, Binaural Beats, or Sound Bath. Adjust volume and press Play — close your eyes and enjoy the calming audio.</a:t>
            </a:r>
            <a:endParaRPr lang="en-US" sz="950" dirty="0"/>
          </a:p>
        </p:txBody>
      </p:sp>
      <p:sp>
        <p:nvSpPr>
          <p:cNvPr id="42" name="Shape 40"/>
          <p:cNvSpPr/>
          <p:nvPr/>
        </p:nvSpPr>
        <p:spPr>
          <a:xfrm>
            <a:off x="384048" y="4626864"/>
            <a:ext cx="8375904" cy="201168"/>
          </a:xfrm>
          <a:prstGeom prst="rect">
            <a:avLst/>
          </a:prstGeom>
          <a:solidFill>
            <a:srgbClr val="FEF3C7"/>
          </a:solidFill>
          <a:ln w="12700">
            <a:solidFill>
              <a:srgbClr val="D97706"/>
            </a:solidFill>
            <a:prstDash val="solid"/>
          </a:ln>
        </p:spPr>
      </p:sp>
      <p:sp>
        <p:nvSpPr>
          <p:cNvPr id="43" name="Text 41"/>
          <p:cNvSpPr/>
          <p:nvPr/>
        </p:nvSpPr>
        <p:spPr>
          <a:xfrm>
            <a:off x="566928" y="4626864"/>
            <a:ext cx="8028432" cy="201168"/>
          </a:xfrm>
          <a:prstGeom prst="rect">
            <a:avLst/>
          </a:prstGeom>
          <a:noFill/>
          <a:ln/>
        </p:spPr>
        <p:txBody>
          <a:bodyPr wrap="square" rtlCol="0" anchor="ctr"/>
          <a:lstStyle/>
          <a:p>
            <a:pPr indent="0" marL="0">
              <a:buNone/>
            </a:pPr>
            <a:r>
              <a:rPr lang="en-US" sz="950" b="1" dirty="0">
                <a:solidFill>
                  <a:srgbClr val="D97706"/>
                </a:solidFill>
                <a:latin typeface="Consolas" pitchFamily="34" charset="0"/>
                <a:ea typeface="Consolas" pitchFamily="34" charset="-122"/>
                <a:cs typeface="Consolas" pitchFamily="34" charset="-120"/>
              </a:rPr>
              <a:t>Tip: Press Space to toggle mic  ·  Enter to play  ·  G to generate  ·  Esc to stop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9488"/>
          </a:solidFill>
          <a:ln w="12700">
            <a:solidFill>
              <a:srgbClr val="0D9488"/>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Sound Therapy?</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04672"/>
            <a:ext cx="8375904" cy="786384"/>
          </a:xfrm>
          <a:prstGeom prst="rect">
            <a:avLst/>
          </a:prstGeom>
          <a:solidFill>
            <a:srgbClr val="CCFBF1"/>
          </a:solidFill>
          <a:ln w="12700">
            <a:solidFill>
              <a:srgbClr val="CCFBF1"/>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804672"/>
            <a:ext cx="50292" cy="786384"/>
          </a:xfrm>
          <a:prstGeom prst="rect">
            <a:avLst/>
          </a:prstGeom>
          <a:solidFill>
            <a:srgbClr val="0D9488"/>
          </a:solidFill>
          <a:ln w="12700">
            <a:solidFill>
              <a:srgbClr val="0D9488"/>
            </a:solidFill>
            <a:prstDash val="solid"/>
          </a:ln>
        </p:spPr>
      </p:sp>
      <p:sp>
        <p:nvSpPr>
          <p:cNvPr id="8" name="Text 6"/>
          <p:cNvSpPr/>
          <p:nvPr/>
        </p:nvSpPr>
        <p:spPr>
          <a:xfrm>
            <a:off x="594360" y="859536"/>
            <a:ext cx="8028432" cy="658368"/>
          </a:xfrm>
          <a:prstGeom prst="rect">
            <a:avLst/>
          </a:prstGeom>
          <a:noFill/>
          <a:ln/>
        </p:spPr>
        <p:txBody>
          <a:bodyPr wrap="square" rtlCol="0" anchor="ctr"/>
          <a:lstStyle/>
          <a:p>
            <a:pPr indent="0" marL="0">
              <a:lnSpc>
                <a:spcPct val="140000"/>
              </a:lnSpc>
              <a:buNone/>
            </a:pPr>
            <a:r>
              <a:rPr lang="en-US" sz="1150" i="1" dirty="0">
                <a:solidFill>
                  <a:srgbClr val="374151"/>
                </a:solidFill>
                <a:latin typeface="Calibri" pitchFamily="34" charset="0"/>
                <a:ea typeface="Calibri" pitchFamily="34" charset="-122"/>
                <a:cs typeface="Calibri" pitchFamily="34" charset="-120"/>
              </a:rPr>
              <a:t>Sound therapy (or sound healing) is a wellness practice that uses specific audio frequencies, vibrations, and musical patterns to promote relaxation, reduce stress, improve focus, and support mental well-being. It is used in clinical settings, meditation, and mindfulness practices worldwide.</a:t>
            </a:r>
            <a:endParaRPr lang="en-US" sz="1150" dirty="0"/>
          </a:p>
        </p:txBody>
      </p:sp>
      <p:sp>
        <p:nvSpPr>
          <p:cNvPr id="9" name="Shape 7"/>
          <p:cNvSpPr/>
          <p:nvPr/>
        </p:nvSpPr>
        <p:spPr>
          <a:xfrm>
            <a:off x="384048" y="1737360"/>
            <a:ext cx="2697480" cy="2907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0" name="Shape 8"/>
          <p:cNvSpPr/>
          <p:nvPr/>
        </p:nvSpPr>
        <p:spPr>
          <a:xfrm>
            <a:off x="384048" y="1737360"/>
            <a:ext cx="2697480" cy="54864"/>
          </a:xfrm>
          <a:prstGeom prst="rect">
            <a:avLst/>
          </a:prstGeom>
          <a:solidFill>
            <a:srgbClr val="0D9488"/>
          </a:solidFill>
          <a:ln w="12700">
            <a:solidFill>
              <a:srgbClr val="0D9488"/>
            </a:solidFill>
            <a:prstDash val="solid"/>
          </a:ln>
        </p:spPr>
      </p:sp>
      <p:sp>
        <p:nvSpPr>
          <p:cNvPr id="11" name="Shape 9"/>
          <p:cNvSpPr/>
          <p:nvPr/>
        </p:nvSpPr>
        <p:spPr>
          <a:xfrm>
            <a:off x="512064" y="1920240"/>
            <a:ext cx="1097280" cy="237744"/>
          </a:xfrm>
          <a:prstGeom prst="roundRect">
            <a:avLst>
              <a:gd name="adj" fmla="val 15385"/>
            </a:avLst>
          </a:prstGeom>
          <a:solidFill>
            <a:srgbClr val="0D9488">
              <a:alpha val="85000"/>
            </a:srgbClr>
          </a:solidFill>
          <a:ln w="12700">
            <a:solidFill>
              <a:srgbClr val="0D9488"/>
            </a:solidFill>
            <a:prstDash val="solid"/>
          </a:ln>
        </p:spPr>
      </p:sp>
      <p:sp>
        <p:nvSpPr>
          <p:cNvPr id="12" name="Text 10"/>
          <p:cNvSpPr/>
          <p:nvPr/>
        </p:nvSpPr>
        <p:spPr>
          <a:xfrm>
            <a:off x="512064" y="1920240"/>
            <a:ext cx="1097280" cy="237744"/>
          </a:xfrm>
          <a:prstGeom prst="rect">
            <a:avLst/>
          </a:prstGeom>
          <a:noFill/>
          <a:ln/>
        </p:spPr>
        <p:txBody>
          <a:bodyPr wrap="square" lIns="0" tIns="0" rIns="0" bIns="0" rtlCol="0" anchor="ctr"/>
          <a:lstStyle/>
          <a:p>
            <a:pPr algn="ctr" indent="0" marL="0">
              <a:buNone/>
            </a:pPr>
            <a:r>
              <a:rPr lang="en-US" sz="750" b="1" dirty="0">
                <a:solidFill>
                  <a:srgbClr val="0D9488"/>
                </a:solidFill>
                <a:latin typeface="Consolas" pitchFamily="34" charset="0"/>
                <a:ea typeface="Consolas" pitchFamily="34" charset="-122"/>
                <a:cs typeface="Consolas" pitchFamily="34" charset="-120"/>
              </a:rPr>
              <a:t>ANCIENT</a:t>
            </a:r>
            <a:endParaRPr lang="en-US" sz="750" dirty="0"/>
          </a:p>
        </p:txBody>
      </p:sp>
      <p:sp>
        <p:nvSpPr>
          <p:cNvPr id="13" name="Text 11"/>
          <p:cNvSpPr/>
          <p:nvPr/>
        </p:nvSpPr>
        <p:spPr>
          <a:xfrm>
            <a:off x="512064" y="2212848"/>
            <a:ext cx="2423160" cy="402336"/>
          </a:xfrm>
          <a:prstGeom prst="rect">
            <a:avLst/>
          </a:prstGeom>
          <a:noFill/>
          <a:ln/>
        </p:spPr>
        <p:txBody>
          <a:bodyPr wrap="square" rtlCol="0" anchor="ctr"/>
          <a:lstStyle/>
          <a:p>
            <a:pPr indent="0" marL="0">
              <a:buNone/>
            </a:pPr>
            <a:r>
              <a:rPr lang="en-US" sz="1250" b="1" dirty="0">
                <a:solidFill>
                  <a:srgbClr val="1E1B4B"/>
                </a:solidFill>
                <a:latin typeface="Calibri" pitchFamily="34" charset="0"/>
                <a:ea typeface="Calibri" pitchFamily="34" charset="-122"/>
                <a:cs typeface="Calibri" pitchFamily="34" charset="-120"/>
              </a:rPr>
              <a:t>Tibetan Singing Bowls</a:t>
            </a:r>
            <a:endParaRPr lang="en-US" sz="1250" dirty="0"/>
          </a:p>
        </p:txBody>
      </p:sp>
      <p:sp>
        <p:nvSpPr>
          <p:cNvPr id="14" name="Text 12"/>
          <p:cNvSpPr/>
          <p:nvPr/>
        </p:nvSpPr>
        <p:spPr>
          <a:xfrm>
            <a:off x="512064" y="2651760"/>
            <a:ext cx="2423160" cy="237744"/>
          </a:xfrm>
          <a:prstGeom prst="rect">
            <a:avLst/>
          </a:prstGeom>
          <a:noFill/>
          <a:ln/>
        </p:spPr>
        <p:txBody>
          <a:bodyPr wrap="square"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The Science:</a:t>
            </a:r>
            <a:endParaRPr lang="en-US" sz="950" dirty="0"/>
          </a:p>
        </p:txBody>
      </p:sp>
      <p:sp>
        <p:nvSpPr>
          <p:cNvPr id="15" name="Text 13"/>
          <p:cNvSpPr/>
          <p:nvPr/>
        </p:nvSpPr>
        <p:spPr>
          <a:xfrm>
            <a:off x="512064" y="2907792"/>
            <a:ext cx="2423160" cy="914400"/>
          </a:xfrm>
          <a:prstGeom prst="rect">
            <a:avLst/>
          </a:prstGeom>
          <a:noFill/>
          <a:ln/>
        </p:spPr>
        <p:txBody>
          <a:bodyPr wrap="square" rtlCol="0" anchor="ctr"/>
          <a:lstStyle/>
          <a:p>
            <a:pPr indent="0" marL="0">
              <a:lnSpc>
                <a:spcPct val="135000"/>
              </a:lnSpc>
              <a:buNone/>
            </a:pPr>
            <a:r>
              <a:rPr lang="en-US" sz="900" dirty="0">
                <a:solidFill>
                  <a:srgbClr val="374151"/>
                </a:solidFill>
                <a:latin typeface="Calibri" pitchFamily="34" charset="0"/>
                <a:ea typeface="Calibri" pitchFamily="34" charset="-122"/>
                <a:cs typeface="Calibri" pitchFamily="34" charset="-120"/>
              </a:rPr>
              <a:t>Metal bowls produce rich harmonic overtones when struck. The sustained vibrations resonate with the body's natural frequencies, promoting deep relaxation and reducing cortisol (stress hormone) levels.</a:t>
            </a:r>
            <a:endParaRPr lang="en-US" sz="900" dirty="0"/>
          </a:p>
        </p:txBody>
      </p:sp>
      <p:sp>
        <p:nvSpPr>
          <p:cNvPr id="16" name="Text 14"/>
          <p:cNvSpPr/>
          <p:nvPr/>
        </p:nvSpPr>
        <p:spPr>
          <a:xfrm>
            <a:off x="512064" y="3840480"/>
            <a:ext cx="2423160" cy="219456"/>
          </a:xfrm>
          <a:prstGeom prst="rect">
            <a:avLst/>
          </a:prstGeom>
          <a:noFill/>
          <a:ln/>
        </p:spPr>
        <p:txBody>
          <a:bodyPr wrap="square"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In CodePilot:</a:t>
            </a:r>
            <a:endParaRPr lang="en-US" sz="950" dirty="0"/>
          </a:p>
        </p:txBody>
      </p:sp>
      <p:sp>
        <p:nvSpPr>
          <p:cNvPr id="17" name="Text 15"/>
          <p:cNvSpPr/>
          <p:nvPr/>
        </p:nvSpPr>
        <p:spPr>
          <a:xfrm>
            <a:off x="512064" y="4078224"/>
            <a:ext cx="2423160" cy="512064"/>
          </a:xfrm>
          <a:prstGeom prst="rect">
            <a:avLst/>
          </a:prstGeom>
          <a:noFill/>
          <a:ln/>
        </p:spPr>
        <p:txBody>
          <a:bodyPr wrap="square" rtlCol="0" anchor="ctr"/>
          <a:lstStyle/>
          <a:p>
            <a:pPr indent="0" marL="0">
              <a:lnSpc>
                <a:spcPct val="130000"/>
              </a:lnSpc>
              <a:buNone/>
            </a:pPr>
            <a:r>
              <a:rPr lang="en-US" sz="850" dirty="0">
                <a:solidFill>
                  <a:srgbClr val="6B7280"/>
                </a:solidFill>
                <a:latin typeface="Calibri" pitchFamily="34" charset="0"/>
                <a:ea typeface="Calibri" pitchFamily="34" charset="-122"/>
                <a:cs typeface="Calibri" pitchFamily="34" charset="-120"/>
              </a:rPr>
              <a:t>CodePilot synthesizes Tibetan bowl resonance using Tone.js FM synthesis with long decay, harmonic partials, and gentle tremolo for authentic bowl vibration simulation.</a:t>
            </a:r>
            <a:endParaRPr lang="en-US" sz="850" dirty="0"/>
          </a:p>
        </p:txBody>
      </p:sp>
      <p:sp>
        <p:nvSpPr>
          <p:cNvPr id="18" name="Shape 16"/>
          <p:cNvSpPr/>
          <p:nvPr/>
        </p:nvSpPr>
        <p:spPr>
          <a:xfrm>
            <a:off x="3236976" y="1737360"/>
            <a:ext cx="2697480" cy="2907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3236976" y="1737360"/>
            <a:ext cx="2697480" cy="54864"/>
          </a:xfrm>
          <a:prstGeom prst="rect">
            <a:avLst/>
          </a:prstGeom>
          <a:solidFill>
            <a:srgbClr val="4338CA"/>
          </a:solidFill>
          <a:ln w="12700">
            <a:solidFill>
              <a:srgbClr val="4338CA"/>
            </a:solidFill>
            <a:prstDash val="solid"/>
          </a:ln>
        </p:spPr>
      </p:sp>
      <p:sp>
        <p:nvSpPr>
          <p:cNvPr id="20" name="Shape 18"/>
          <p:cNvSpPr/>
          <p:nvPr/>
        </p:nvSpPr>
        <p:spPr>
          <a:xfrm>
            <a:off x="3364992" y="1920240"/>
            <a:ext cx="1097280" cy="237744"/>
          </a:xfrm>
          <a:prstGeom prst="roundRect">
            <a:avLst>
              <a:gd name="adj" fmla="val 15385"/>
            </a:avLst>
          </a:prstGeom>
          <a:solidFill>
            <a:srgbClr val="4338CA">
              <a:alpha val="85000"/>
            </a:srgbClr>
          </a:solidFill>
          <a:ln w="12700">
            <a:solidFill>
              <a:srgbClr val="4338CA"/>
            </a:solidFill>
            <a:prstDash val="solid"/>
          </a:ln>
        </p:spPr>
      </p:sp>
      <p:sp>
        <p:nvSpPr>
          <p:cNvPr id="21" name="Text 19"/>
          <p:cNvSpPr/>
          <p:nvPr/>
        </p:nvSpPr>
        <p:spPr>
          <a:xfrm>
            <a:off x="3364992" y="1920240"/>
            <a:ext cx="1097280" cy="237744"/>
          </a:xfrm>
          <a:prstGeom prst="rect">
            <a:avLst/>
          </a:prstGeom>
          <a:noFill/>
          <a:ln/>
        </p:spPr>
        <p:txBody>
          <a:bodyPr wrap="square" lIns="0" tIns="0" rIns="0" bIns="0" rtlCol="0" anchor="ctr"/>
          <a:lstStyle/>
          <a:p>
            <a:pPr algn="ctr" indent="0" marL="0">
              <a:buNone/>
            </a:pPr>
            <a:r>
              <a:rPr lang="en-US" sz="750" b="1" dirty="0">
                <a:solidFill>
                  <a:srgbClr val="4338CA"/>
                </a:solidFill>
                <a:latin typeface="Consolas" pitchFamily="34" charset="0"/>
                <a:ea typeface="Consolas" pitchFamily="34" charset="-122"/>
                <a:cs typeface="Consolas" pitchFamily="34" charset="-120"/>
              </a:rPr>
              <a:t>THETA WAVES</a:t>
            </a:r>
            <a:endParaRPr lang="en-US" sz="750" dirty="0"/>
          </a:p>
        </p:txBody>
      </p:sp>
      <p:sp>
        <p:nvSpPr>
          <p:cNvPr id="22" name="Text 20"/>
          <p:cNvSpPr/>
          <p:nvPr/>
        </p:nvSpPr>
        <p:spPr>
          <a:xfrm>
            <a:off x="3364992" y="2212848"/>
            <a:ext cx="2423160" cy="402336"/>
          </a:xfrm>
          <a:prstGeom prst="rect">
            <a:avLst/>
          </a:prstGeom>
          <a:noFill/>
          <a:ln/>
        </p:spPr>
        <p:txBody>
          <a:bodyPr wrap="square" rtlCol="0" anchor="ctr"/>
          <a:lstStyle/>
          <a:p>
            <a:pPr indent="0" marL="0">
              <a:buNone/>
            </a:pPr>
            <a:r>
              <a:rPr lang="en-US" sz="1250" b="1" dirty="0">
                <a:solidFill>
                  <a:srgbClr val="1E1B4B"/>
                </a:solidFill>
                <a:latin typeface="Calibri" pitchFamily="34" charset="0"/>
                <a:ea typeface="Calibri" pitchFamily="34" charset="-122"/>
                <a:cs typeface="Calibri" pitchFamily="34" charset="-120"/>
              </a:rPr>
              <a:t>Binaural Beats</a:t>
            </a:r>
            <a:endParaRPr lang="en-US" sz="1250" dirty="0"/>
          </a:p>
        </p:txBody>
      </p:sp>
      <p:sp>
        <p:nvSpPr>
          <p:cNvPr id="23" name="Text 21"/>
          <p:cNvSpPr/>
          <p:nvPr/>
        </p:nvSpPr>
        <p:spPr>
          <a:xfrm>
            <a:off x="3364992" y="2651760"/>
            <a:ext cx="2423160" cy="23774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The Science:</a:t>
            </a:r>
            <a:endParaRPr lang="en-US" sz="950" dirty="0"/>
          </a:p>
        </p:txBody>
      </p:sp>
      <p:sp>
        <p:nvSpPr>
          <p:cNvPr id="24" name="Text 22"/>
          <p:cNvSpPr/>
          <p:nvPr/>
        </p:nvSpPr>
        <p:spPr>
          <a:xfrm>
            <a:off x="3364992" y="2907792"/>
            <a:ext cx="2423160" cy="914400"/>
          </a:xfrm>
          <a:prstGeom prst="rect">
            <a:avLst/>
          </a:prstGeom>
          <a:noFill/>
          <a:ln/>
        </p:spPr>
        <p:txBody>
          <a:bodyPr wrap="square" rtlCol="0" anchor="ctr"/>
          <a:lstStyle/>
          <a:p>
            <a:pPr indent="0" marL="0">
              <a:lnSpc>
                <a:spcPct val="135000"/>
              </a:lnSpc>
              <a:buNone/>
            </a:pPr>
            <a:r>
              <a:rPr lang="en-US" sz="900" dirty="0">
                <a:solidFill>
                  <a:srgbClr val="374151"/>
                </a:solidFill>
                <a:latin typeface="Calibri" pitchFamily="34" charset="0"/>
                <a:ea typeface="Calibri" pitchFamily="34" charset="-122"/>
                <a:cs typeface="Calibri" pitchFamily="34" charset="-120"/>
              </a:rPr>
              <a:t>When two slightly different frequencies are played in each ear (e.g. 200Hz left, 210Hz right), the brain perceives a third "beat" of 10Hz. This theta wave (4-8Hz) state promotes creativity, meditation, and deep relaxation.</a:t>
            </a:r>
            <a:endParaRPr lang="en-US" sz="900" dirty="0"/>
          </a:p>
        </p:txBody>
      </p:sp>
      <p:sp>
        <p:nvSpPr>
          <p:cNvPr id="25" name="Text 23"/>
          <p:cNvSpPr/>
          <p:nvPr/>
        </p:nvSpPr>
        <p:spPr>
          <a:xfrm>
            <a:off x="3364992" y="3840480"/>
            <a:ext cx="2423160" cy="219456"/>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In CodePilot:</a:t>
            </a:r>
            <a:endParaRPr lang="en-US" sz="950" dirty="0"/>
          </a:p>
        </p:txBody>
      </p:sp>
      <p:sp>
        <p:nvSpPr>
          <p:cNvPr id="26" name="Text 24"/>
          <p:cNvSpPr/>
          <p:nvPr/>
        </p:nvSpPr>
        <p:spPr>
          <a:xfrm>
            <a:off x="3364992" y="4078224"/>
            <a:ext cx="2423160" cy="512064"/>
          </a:xfrm>
          <a:prstGeom prst="rect">
            <a:avLst/>
          </a:prstGeom>
          <a:noFill/>
          <a:ln/>
        </p:spPr>
        <p:txBody>
          <a:bodyPr wrap="square" rtlCol="0" anchor="ctr"/>
          <a:lstStyle/>
          <a:p>
            <a:pPr indent="0" marL="0">
              <a:lnSpc>
                <a:spcPct val="130000"/>
              </a:lnSpc>
              <a:buNone/>
            </a:pPr>
            <a:r>
              <a:rPr lang="en-US" sz="850" dirty="0">
                <a:solidFill>
                  <a:srgbClr val="6B7280"/>
                </a:solidFill>
                <a:latin typeface="Calibri" pitchFamily="34" charset="0"/>
                <a:ea typeface="Calibri" pitchFamily="34" charset="-122"/>
                <a:cs typeface="Calibri" pitchFamily="34" charset="-120"/>
              </a:rPr>
              <a:t>CodePilot generates true binaural beats using the Web Audio API — a 200Hz oscillator in the left channel and a 207Hz oscillator in the right channel for a 7Hz theta beat.</a:t>
            </a:r>
            <a:endParaRPr lang="en-US" sz="850" dirty="0"/>
          </a:p>
        </p:txBody>
      </p:sp>
      <p:sp>
        <p:nvSpPr>
          <p:cNvPr id="27" name="Shape 25"/>
          <p:cNvSpPr/>
          <p:nvPr/>
        </p:nvSpPr>
        <p:spPr>
          <a:xfrm>
            <a:off x="6089904" y="1737360"/>
            <a:ext cx="2697480" cy="29077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8" name="Shape 26"/>
          <p:cNvSpPr/>
          <p:nvPr/>
        </p:nvSpPr>
        <p:spPr>
          <a:xfrm>
            <a:off x="6089904" y="1737360"/>
            <a:ext cx="2697480" cy="54864"/>
          </a:xfrm>
          <a:prstGeom prst="rect">
            <a:avLst/>
          </a:prstGeom>
          <a:solidFill>
            <a:srgbClr val="0891B2"/>
          </a:solidFill>
          <a:ln w="12700">
            <a:solidFill>
              <a:srgbClr val="0891B2"/>
            </a:solidFill>
            <a:prstDash val="solid"/>
          </a:ln>
        </p:spPr>
      </p:sp>
      <p:sp>
        <p:nvSpPr>
          <p:cNvPr id="29" name="Shape 27"/>
          <p:cNvSpPr/>
          <p:nvPr/>
        </p:nvSpPr>
        <p:spPr>
          <a:xfrm>
            <a:off x="6217920" y="1920240"/>
            <a:ext cx="1097280" cy="237744"/>
          </a:xfrm>
          <a:prstGeom prst="roundRect">
            <a:avLst>
              <a:gd name="adj" fmla="val 15385"/>
            </a:avLst>
          </a:prstGeom>
          <a:solidFill>
            <a:srgbClr val="0891B2">
              <a:alpha val="85000"/>
            </a:srgbClr>
          </a:solidFill>
          <a:ln w="12700">
            <a:solidFill>
              <a:srgbClr val="0891B2"/>
            </a:solidFill>
            <a:prstDash val="solid"/>
          </a:ln>
        </p:spPr>
      </p:sp>
      <p:sp>
        <p:nvSpPr>
          <p:cNvPr id="30" name="Text 28"/>
          <p:cNvSpPr/>
          <p:nvPr/>
        </p:nvSpPr>
        <p:spPr>
          <a:xfrm>
            <a:off x="6217920" y="1920240"/>
            <a:ext cx="1097280" cy="237744"/>
          </a:xfrm>
          <a:prstGeom prst="rect">
            <a:avLst/>
          </a:prstGeom>
          <a:noFill/>
          <a:ln/>
        </p:spPr>
        <p:txBody>
          <a:bodyPr wrap="square" lIns="0" tIns="0" rIns="0" bIns="0" rtlCol="0" anchor="ctr"/>
          <a:lstStyle/>
          <a:p>
            <a:pPr algn="ctr" indent="0" marL="0">
              <a:buNone/>
            </a:pPr>
            <a:r>
              <a:rPr lang="en-US" sz="750" b="1" dirty="0">
                <a:solidFill>
                  <a:srgbClr val="0891B2"/>
                </a:solidFill>
                <a:latin typeface="Consolas" pitchFamily="34" charset="0"/>
                <a:ea typeface="Consolas" pitchFamily="34" charset="-122"/>
                <a:cs typeface="Consolas" pitchFamily="34" charset="-120"/>
              </a:rPr>
              <a:t>IMMERSIVE</a:t>
            </a:r>
            <a:endParaRPr lang="en-US" sz="750" dirty="0"/>
          </a:p>
        </p:txBody>
      </p:sp>
      <p:sp>
        <p:nvSpPr>
          <p:cNvPr id="31" name="Text 29"/>
          <p:cNvSpPr/>
          <p:nvPr/>
        </p:nvSpPr>
        <p:spPr>
          <a:xfrm>
            <a:off x="6217920" y="2212848"/>
            <a:ext cx="2423160" cy="402336"/>
          </a:xfrm>
          <a:prstGeom prst="rect">
            <a:avLst/>
          </a:prstGeom>
          <a:noFill/>
          <a:ln/>
        </p:spPr>
        <p:txBody>
          <a:bodyPr wrap="square" rtlCol="0" anchor="ctr"/>
          <a:lstStyle/>
          <a:p>
            <a:pPr indent="0" marL="0">
              <a:buNone/>
            </a:pPr>
            <a:r>
              <a:rPr lang="en-US" sz="1250" b="1" dirty="0">
                <a:solidFill>
                  <a:srgbClr val="1E1B4B"/>
                </a:solidFill>
                <a:latin typeface="Calibri" pitchFamily="34" charset="0"/>
                <a:ea typeface="Calibri" pitchFamily="34" charset="-122"/>
                <a:cs typeface="Calibri" pitchFamily="34" charset="-120"/>
              </a:rPr>
              <a:t>Sound Bath</a:t>
            </a:r>
            <a:endParaRPr lang="en-US" sz="1250" dirty="0"/>
          </a:p>
        </p:txBody>
      </p:sp>
      <p:sp>
        <p:nvSpPr>
          <p:cNvPr id="32" name="Text 30"/>
          <p:cNvSpPr/>
          <p:nvPr/>
        </p:nvSpPr>
        <p:spPr>
          <a:xfrm>
            <a:off x="6217920" y="2651760"/>
            <a:ext cx="2423160" cy="237744"/>
          </a:xfrm>
          <a:prstGeom prst="rect">
            <a:avLst/>
          </a:prstGeom>
          <a:noFill/>
          <a:ln/>
        </p:spPr>
        <p:txBody>
          <a:bodyPr wrap="square" rtlCol="0" anchor="ctr"/>
          <a:lstStyle/>
          <a:p>
            <a:pPr indent="0" marL="0">
              <a:buNone/>
            </a:pPr>
            <a:r>
              <a:rPr lang="en-US" sz="950" b="1" dirty="0">
                <a:solidFill>
                  <a:srgbClr val="0891B2"/>
                </a:solidFill>
                <a:latin typeface="Calibri" pitchFamily="34" charset="0"/>
                <a:ea typeface="Calibri" pitchFamily="34" charset="-122"/>
                <a:cs typeface="Calibri" pitchFamily="34" charset="-120"/>
              </a:rPr>
              <a:t>The Science:</a:t>
            </a:r>
            <a:endParaRPr lang="en-US" sz="950" dirty="0"/>
          </a:p>
        </p:txBody>
      </p:sp>
      <p:sp>
        <p:nvSpPr>
          <p:cNvPr id="33" name="Text 31"/>
          <p:cNvSpPr/>
          <p:nvPr/>
        </p:nvSpPr>
        <p:spPr>
          <a:xfrm>
            <a:off x="6217920" y="2907792"/>
            <a:ext cx="2423160" cy="914400"/>
          </a:xfrm>
          <a:prstGeom prst="rect">
            <a:avLst/>
          </a:prstGeom>
          <a:noFill/>
          <a:ln/>
        </p:spPr>
        <p:txBody>
          <a:bodyPr wrap="square" rtlCol="0" anchor="ctr"/>
          <a:lstStyle/>
          <a:p>
            <a:pPr indent="0" marL="0">
              <a:lnSpc>
                <a:spcPct val="135000"/>
              </a:lnSpc>
              <a:buNone/>
            </a:pPr>
            <a:r>
              <a:rPr lang="en-US" sz="900" dirty="0">
                <a:solidFill>
                  <a:srgbClr val="374151"/>
                </a:solidFill>
                <a:latin typeface="Calibri" pitchFamily="34" charset="0"/>
                <a:ea typeface="Calibri" pitchFamily="34" charset="-122"/>
                <a:cs typeface="Calibri" pitchFamily="34" charset="-120"/>
              </a:rPr>
              <a:t>A sound bath is a full-body immersive listening experience. Multiple layered frequencies wash over the listener, activating the parasympathetic nervous system (rest-and-digest response) to reduce anxiety and improve sleep.</a:t>
            </a:r>
            <a:endParaRPr lang="en-US" sz="900" dirty="0"/>
          </a:p>
        </p:txBody>
      </p:sp>
      <p:sp>
        <p:nvSpPr>
          <p:cNvPr id="34" name="Text 32"/>
          <p:cNvSpPr/>
          <p:nvPr/>
        </p:nvSpPr>
        <p:spPr>
          <a:xfrm>
            <a:off x="6217920" y="3840480"/>
            <a:ext cx="2423160" cy="219456"/>
          </a:xfrm>
          <a:prstGeom prst="rect">
            <a:avLst/>
          </a:prstGeom>
          <a:noFill/>
          <a:ln/>
        </p:spPr>
        <p:txBody>
          <a:bodyPr wrap="square" rtlCol="0" anchor="ctr"/>
          <a:lstStyle/>
          <a:p>
            <a:pPr indent="0" marL="0">
              <a:buNone/>
            </a:pPr>
            <a:r>
              <a:rPr lang="en-US" sz="950" b="1" dirty="0">
                <a:solidFill>
                  <a:srgbClr val="0891B2"/>
                </a:solidFill>
                <a:latin typeface="Calibri" pitchFamily="34" charset="0"/>
                <a:ea typeface="Calibri" pitchFamily="34" charset="-122"/>
                <a:cs typeface="Calibri" pitchFamily="34" charset="-120"/>
              </a:rPr>
              <a:t>In CodePilot:</a:t>
            </a:r>
            <a:endParaRPr lang="en-US" sz="950" dirty="0"/>
          </a:p>
        </p:txBody>
      </p:sp>
      <p:sp>
        <p:nvSpPr>
          <p:cNvPr id="35" name="Text 33"/>
          <p:cNvSpPr/>
          <p:nvPr/>
        </p:nvSpPr>
        <p:spPr>
          <a:xfrm>
            <a:off x="6217920" y="4078224"/>
            <a:ext cx="2423160" cy="512064"/>
          </a:xfrm>
          <a:prstGeom prst="rect">
            <a:avLst/>
          </a:prstGeom>
          <a:noFill/>
          <a:ln/>
        </p:spPr>
        <p:txBody>
          <a:bodyPr wrap="square" rtlCol="0" anchor="ctr"/>
          <a:lstStyle/>
          <a:p>
            <a:pPr indent="0" marL="0">
              <a:lnSpc>
                <a:spcPct val="130000"/>
              </a:lnSpc>
              <a:buNone/>
            </a:pPr>
            <a:r>
              <a:rPr lang="en-US" sz="850" dirty="0">
                <a:solidFill>
                  <a:srgbClr val="6B7280"/>
                </a:solidFill>
                <a:latin typeface="Calibri" pitchFamily="34" charset="0"/>
                <a:ea typeface="Calibri" pitchFamily="34" charset="-122"/>
                <a:cs typeface="Calibri" pitchFamily="34" charset="-120"/>
              </a:rPr>
              <a:t>CodePilot's Sound Bath mode layers multiple synthesized tones — gentle pads, resonant drones, and soft harmonic swells — using Tone.js PolySynth with rich reverb and long fade envelopes.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11D48"/>
          </a:solidFill>
          <a:ln w="12700">
            <a:solidFill>
              <a:srgbClr val="E11D48"/>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Libraries, APIs &amp; Key Functions Used</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22960"/>
            <a:ext cx="1920240" cy="548640"/>
          </a:xfrm>
          <a:prstGeom prst="roundRect">
            <a:avLst>
              <a:gd name="adj" fmla="val 10000"/>
            </a:avLst>
          </a:prstGeom>
          <a:solidFill>
            <a:srgbClr val="7C3AED">
              <a:alpha val="12000"/>
            </a:srgbClr>
          </a:solidFill>
          <a:ln w="12700">
            <a:solidFill>
              <a:srgbClr val="7C3AED"/>
            </a:solidFill>
            <a:prstDash val="solid"/>
          </a:ln>
        </p:spPr>
      </p:sp>
      <p:sp>
        <p:nvSpPr>
          <p:cNvPr id="7" name="Shape 5"/>
          <p:cNvSpPr/>
          <p:nvPr/>
        </p:nvSpPr>
        <p:spPr>
          <a:xfrm>
            <a:off x="384048" y="822960"/>
            <a:ext cx="50292" cy="548640"/>
          </a:xfrm>
          <a:prstGeom prst="rect">
            <a:avLst/>
          </a:prstGeom>
          <a:solidFill>
            <a:srgbClr val="7C3AED"/>
          </a:solidFill>
          <a:ln w="12700">
            <a:solidFill>
              <a:srgbClr val="7C3AED"/>
            </a:solidFill>
            <a:prstDash val="solid"/>
          </a:ln>
        </p:spPr>
      </p:sp>
      <p:sp>
        <p:nvSpPr>
          <p:cNvPr id="8" name="Text 6"/>
          <p:cNvSpPr/>
          <p:nvPr/>
        </p:nvSpPr>
        <p:spPr>
          <a:xfrm>
            <a:off x="493776" y="859536"/>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Claude AI API</a:t>
            </a:r>
            <a:endParaRPr lang="en-US" sz="1000" dirty="0"/>
          </a:p>
        </p:txBody>
      </p:sp>
      <p:sp>
        <p:nvSpPr>
          <p:cNvPr id="9" name="Text 7"/>
          <p:cNvSpPr/>
          <p:nvPr/>
        </p:nvSpPr>
        <p:spPr>
          <a:xfrm>
            <a:off x="493776" y="1115568"/>
            <a:ext cx="1691640" cy="201168"/>
          </a:xfrm>
          <a:prstGeom prst="rect">
            <a:avLst/>
          </a:prstGeom>
          <a:noFill/>
          <a:ln/>
        </p:spPr>
        <p:txBody>
          <a:bodyPr wrap="square" lIns="0" tIns="0" rIns="0" bIns="0" rtlCol="0" anchor="ctr"/>
          <a:lstStyle/>
          <a:p>
            <a:pPr indent="0" marL="0">
              <a:buNone/>
            </a:pPr>
            <a:r>
              <a:rPr lang="en-US" sz="850" dirty="0">
                <a:solidFill>
                  <a:srgbClr val="7C3AED"/>
                </a:solidFill>
                <a:latin typeface="Consolas" pitchFamily="34" charset="0"/>
                <a:ea typeface="Consolas" pitchFamily="34" charset="-122"/>
                <a:cs typeface="Consolas" pitchFamily="34" charset="-120"/>
              </a:rPr>
              <a:t>AI / Melody Gen</a:t>
            </a:r>
            <a:endParaRPr lang="en-US" sz="850" dirty="0"/>
          </a:p>
        </p:txBody>
      </p:sp>
      <p:sp>
        <p:nvSpPr>
          <p:cNvPr id="10" name="Shape 8"/>
          <p:cNvSpPr/>
          <p:nvPr/>
        </p:nvSpPr>
        <p:spPr>
          <a:xfrm>
            <a:off x="2487168" y="822960"/>
            <a:ext cx="1920240" cy="548640"/>
          </a:xfrm>
          <a:prstGeom prst="roundRect">
            <a:avLst>
              <a:gd name="adj" fmla="val 10000"/>
            </a:avLst>
          </a:prstGeom>
          <a:solidFill>
            <a:srgbClr val="0891B2">
              <a:alpha val="12000"/>
            </a:srgbClr>
          </a:solidFill>
          <a:ln w="12700">
            <a:solidFill>
              <a:srgbClr val="0891B2"/>
            </a:solidFill>
            <a:prstDash val="solid"/>
          </a:ln>
        </p:spPr>
      </p:sp>
      <p:sp>
        <p:nvSpPr>
          <p:cNvPr id="11" name="Shape 9"/>
          <p:cNvSpPr/>
          <p:nvPr/>
        </p:nvSpPr>
        <p:spPr>
          <a:xfrm>
            <a:off x="2487168" y="822960"/>
            <a:ext cx="50292" cy="548640"/>
          </a:xfrm>
          <a:prstGeom prst="rect">
            <a:avLst/>
          </a:prstGeom>
          <a:solidFill>
            <a:srgbClr val="0891B2"/>
          </a:solidFill>
          <a:ln w="12700">
            <a:solidFill>
              <a:srgbClr val="0891B2"/>
            </a:solidFill>
            <a:prstDash val="solid"/>
          </a:ln>
        </p:spPr>
      </p:sp>
      <p:sp>
        <p:nvSpPr>
          <p:cNvPr id="12" name="Text 10"/>
          <p:cNvSpPr/>
          <p:nvPr/>
        </p:nvSpPr>
        <p:spPr>
          <a:xfrm>
            <a:off x="2596896" y="859536"/>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Tone.js v14.8</a:t>
            </a:r>
            <a:endParaRPr lang="en-US" sz="1000" dirty="0"/>
          </a:p>
        </p:txBody>
      </p:sp>
      <p:sp>
        <p:nvSpPr>
          <p:cNvPr id="13" name="Text 11"/>
          <p:cNvSpPr/>
          <p:nvPr/>
        </p:nvSpPr>
        <p:spPr>
          <a:xfrm>
            <a:off x="2596896" y="1115568"/>
            <a:ext cx="1691640" cy="201168"/>
          </a:xfrm>
          <a:prstGeom prst="rect">
            <a:avLst/>
          </a:prstGeom>
          <a:noFill/>
          <a:ln/>
        </p:spPr>
        <p:txBody>
          <a:bodyPr wrap="square" lIns="0" tIns="0" rIns="0" bIns="0" rtlCol="0" anchor="ctr"/>
          <a:lstStyle/>
          <a:p>
            <a:pPr indent="0" marL="0">
              <a:buNone/>
            </a:pPr>
            <a:r>
              <a:rPr lang="en-US" sz="850" dirty="0">
                <a:solidFill>
                  <a:srgbClr val="0891B2"/>
                </a:solidFill>
                <a:latin typeface="Consolas" pitchFamily="34" charset="0"/>
                <a:ea typeface="Consolas" pitchFamily="34" charset="-122"/>
                <a:cs typeface="Consolas" pitchFamily="34" charset="-120"/>
              </a:rPr>
              <a:t>Audio Synthesis</a:t>
            </a:r>
            <a:endParaRPr lang="en-US" sz="850" dirty="0"/>
          </a:p>
        </p:txBody>
      </p:sp>
      <p:sp>
        <p:nvSpPr>
          <p:cNvPr id="14" name="Shape 12"/>
          <p:cNvSpPr/>
          <p:nvPr/>
        </p:nvSpPr>
        <p:spPr>
          <a:xfrm>
            <a:off x="4590288" y="822960"/>
            <a:ext cx="1920240" cy="548640"/>
          </a:xfrm>
          <a:prstGeom prst="roundRect">
            <a:avLst>
              <a:gd name="adj" fmla="val 10000"/>
            </a:avLst>
          </a:prstGeom>
          <a:solidFill>
            <a:srgbClr val="DB2777">
              <a:alpha val="12000"/>
            </a:srgbClr>
          </a:solidFill>
          <a:ln w="12700">
            <a:solidFill>
              <a:srgbClr val="DB2777"/>
            </a:solidFill>
            <a:prstDash val="solid"/>
          </a:ln>
        </p:spPr>
      </p:sp>
      <p:sp>
        <p:nvSpPr>
          <p:cNvPr id="15" name="Shape 13"/>
          <p:cNvSpPr/>
          <p:nvPr/>
        </p:nvSpPr>
        <p:spPr>
          <a:xfrm>
            <a:off x="4590288" y="822960"/>
            <a:ext cx="50292" cy="548640"/>
          </a:xfrm>
          <a:prstGeom prst="rect">
            <a:avLst/>
          </a:prstGeom>
          <a:solidFill>
            <a:srgbClr val="DB2777"/>
          </a:solidFill>
          <a:ln w="12700">
            <a:solidFill>
              <a:srgbClr val="DB2777"/>
            </a:solidFill>
            <a:prstDash val="solid"/>
          </a:ln>
        </p:spPr>
      </p:sp>
      <p:sp>
        <p:nvSpPr>
          <p:cNvPr id="16" name="Text 14"/>
          <p:cNvSpPr/>
          <p:nvPr/>
        </p:nvSpPr>
        <p:spPr>
          <a:xfrm>
            <a:off x="4700016" y="859536"/>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Web Audio API</a:t>
            </a:r>
            <a:endParaRPr lang="en-US" sz="1000" dirty="0"/>
          </a:p>
        </p:txBody>
      </p:sp>
      <p:sp>
        <p:nvSpPr>
          <p:cNvPr id="17" name="Text 15"/>
          <p:cNvSpPr/>
          <p:nvPr/>
        </p:nvSpPr>
        <p:spPr>
          <a:xfrm>
            <a:off x="4700016" y="1115568"/>
            <a:ext cx="1691640" cy="201168"/>
          </a:xfrm>
          <a:prstGeom prst="rect">
            <a:avLst/>
          </a:prstGeom>
          <a:noFill/>
          <a:ln/>
        </p:spPr>
        <p:txBody>
          <a:bodyPr wrap="square" lIns="0" tIns="0" rIns="0" bIns="0" rtlCol="0" anchor="ctr"/>
          <a:lstStyle/>
          <a:p>
            <a:pPr indent="0" marL="0">
              <a:buNone/>
            </a:pPr>
            <a:r>
              <a:rPr lang="en-US" sz="850" dirty="0">
                <a:solidFill>
                  <a:srgbClr val="DB2777"/>
                </a:solidFill>
                <a:latin typeface="Consolas" pitchFamily="34" charset="0"/>
                <a:ea typeface="Consolas" pitchFamily="34" charset="-122"/>
                <a:cs typeface="Consolas" pitchFamily="34" charset="-120"/>
              </a:rPr>
              <a:t>Mic / Pitch Input</a:t>
            </a:r>
            <a:endParaRPr lang="en-US" sz="850" dirty="0"/>
          </a:p>
        </p:txBody>
      </p:sp>
      <p:sp>
        <p:nvSpPr>
          <p:cNvPr id="18" name="Shape 16"/>
          <p:cNvSpPr/>
          <p:nvPr/>
        </p:nvSpPr>
        <p:spPr>
          <a:xfrm>
            <a:off x="6693408" y="822960"/>
            <a:ext cx="1920240" cy="548640"/>
          </a:xfrm>
          <a:prstGeom prst="roundRect">
            <a:avLst>
              <a:gd name="adj" fmla="val 10000"/>
            </a:avLst>
          </a:prstGeom>
          <a:solidFill>
            <a:srgbClr val="059669">
              <a:alpha val="12000"/>
            </a:srgbClr>
          </a:solidFill>
          <a:ln w="12700">
            <a:solidFill>
              <a:srgbClr val="059669"/>
            </a:solidFill>
            <a:prstDash val="solid"/>
          </a:ln>
        </p:spPr>
      </p:sp>
      <p:sp>
        <p:nvSpPr>
          <p:cNvPr id="19" name="Shape 17"/>
          <p:cNvSpPr/>
          <p:nvPr/>
        </p:nvSpPr>
        <p:spPr>
          <a:xfrm>
            <a:off x="6693408" y="822960"/>
            <a:ext cx="50292" cy="548640"/>
          </a:xfrm>
          <a:prstGeom prst="rect">
            <a:avLst/>
          </a:prstGeom>
          <a:solidFill>
            <a:srgbClr val="059669"/>
          </a:solidFill>
          <a:ln w="12700">
            <a:solidFill>
              <a:srgbClr val="059669"/>
            </a:solidFill>
            <a:prstDash val="solid"/>
          </a:ln>
        </p:spPr>
      </p:sp>
      <p:sp>
        <p:nvSpPr>
          <p:cNvPr id="20" name="Text 18"/>
          <p:cNvSpPr/>
          <p:nvPr/>
        </p:nvSpPr>
        <p:spPr>
          <a:xfrm>
            <a:off x="6803136" y="859536"/>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Vercel Serverless</a:t>
            </a:r>
            <a:endParaRPr lang="en-US" sz="1000" dirty="0"/>
          </a:p>
        </p:txBody>
      </p:sp>
      <p:sp>
        <p:nvSpPr>
          <p:cNvPr id="21" name="Text 19"/>
          <p:cNvSpPr/>
          <p:nvPr/>
        </p:nvSpPr>
        <p:spPr>
          <a:xfrm>
            <a:off x="6803136" y="1115568"/>
            <a:ext cx="1691640" cy="201168"/>
          </a:xfrm>
          <a:prstGeom prst="rect">
            <a:avLst/>
          </a:prstGeom>
          <a:noFill/>
          <a:ln/>
        </p:spPr>
        <p:txBody>
          <a:bodyPr wrap="square" lIns="0" tIns="0" rIns="0" bIns="0" rtlCol="0" anchor="ctr"/>
          <a:lstStyle/>
          <a:p>
            <a:pPr indent="0" marL="0">
              <a:buNone/>
            </a:pPr>
            <a:r>
              <a:rPr lang="en-US" sz="850" dirty="0">
                <a:solidFill>
                  <a:srgbClr val="059669"/>
                </a:solidFill>
                <a:latin typeface="Consolas" pitchFamily="34" charset="0"/>
                <a:ea typeface="Consolas" pitchFamily="34" charset="-122"/>
                <a:cs typeface="Consolas" pitchFamily="34" charset="-120"/>
              </a:rPr>
              <a:t>Backend Proxy</a:t>
            </a:r>
            <a:endParaRPr lang="en-US" sz="850" dirty="0"/>
          </a:p>
        </p:txBody>
      </p:sp>
      <p:sp>
        <p:nvSpPr>
          <p:cNvPr id="22" name="Shape 20"/>
          <p:cNvSpPr/>
          <p:nvPr/>
        </p:nvSpPr>
        <p:spPr>
          <a:xfrm>
            <a:off x="384048" y="1481328"/>
            <a:ext cx="1920240" cy="548640"/>
          </a:xfrm>
          <a:prstGeom prst="roundRect">
            <a:avLst>
              <a:gd name="adj" fmla="val 10000"/>
            </a:avLst>
          </a:prstGeom>
          <a:solidFill>
            <a:srgbClr val="D97706">
              <a:alpha val="12000"/>
            </a:srgbClr>
          </a:solidFill>
          <a:ln w="12700">
            <a:solidFill>
              <a:srgbClr val="D97706"/>
            </a:solidFill>
            <a:prstDash val="solid"/>
          </a:ln>
        </p:spPr>
      </p:sp>
      <p:sp>
        <p:nvSpPr>
          <p:cNvPr id="23" name="Shape 21"/>
          <p:cNvSpPr/>
          <p:nvPr/>
        </p:nvSpPr>
        <p:spPr>
          <a:xfrm>
            <a:off x="384048" y="1481328"/>
            <a:ext cx="50292" cy="548640"/>
          </a:xfrm>
          <a:prstGeom prst="rect">
            <a:avLst/>
          </a:prstGeom>
          <a:solidFill>
            <a:srgbClr val="D97706"/>
          </a:solidFill>
          <a:ln w="12700">
            <a:solidFill>
              <a:srgbClr val="D97706"/>
            </a:solidFill>
            <a:prstDash val="solid"/>
          </a:ln>
        </p:spPr>
      </p:sp>
      <p:sp>
        <p:nvSpPr>
          <p:cNvPr id="24" name="Text 22"/>
          <p:cNvSpPr/>
          <p:nvPr/>
        </p:nvSpPr>
        <p:spPr>
          <a:xfrm>
            <a:off x="493776" y="1517904"/>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MediaRecorder API</a:t>
            </a:r>
            <a:endParaRPr lang="en-US" sz="1000" dirty="0"/>
          </a:p>
        </p:txBody>
      </p:sp>
      <p:sp>
        <p:nvSpPr>
          <p:cNvPr id="25" name="Text 23"/>
          <p:cNvSpPr/>
          <p:nvPr/>
        </p:nvSpPr>
        <p:spPr>
          <a:xfrm>
            <a:off x="493776" y="1773936"/>
            <a:ext cx="1691640" cy="201168"/>
          </a:xfrm>
          <a:prstGeom prst="rect">
            <a:avLst/>
          </a:prstGeom>
          <a:noFill/>
          <a:ln/>
        </p:spPr>
        <p:txBody>
          <a:bodyPr wrap="square" lIns="0" tIns="0" rIns="0" bIns="0" rtlCol="0" anchor="ctr"/>
          <a:lstStyle/>
          <a:p>
            <a:pPr indent="0" marL="0">
              <a:buNone/>
            </a:pPr>
            <a:r>
              <a:rPr lang="en-US" sz="850" dirty="0">
                <a:solidFill>
                  <a:srgbClr val="D97706"/>
                </a:solidFill>
                <a:latin typeface="Consolas" pitchFamily="34" charset="0"/>
                <a:ea typeface="Consolas" pitchFamily="34" charset="-122"/>
                <a:cs typeface="Consolas" pitchFamily="34" charset="-120"/>
              </a:rPr>
              <a:t>WAV Recording</a:t>
            </a:r>
            <a:endParaRPr lang="en-US" sz="850" dirty="0"/>
          </a:p>
        </p:txBody>
      </p:sp>
      <p:sp>
        <p:nvSpPr>
          <p:cNvPr id="26" name="Shape 24"/>
          <p:cNvSpPr/>
          <p:nvPr/>
        </p:nvSpPr>
        <p:spPr>
          <a:xfrm>
            <a:off x="2487168" y="1481328"/>
            <a:ext cx="1920240" cy="548640"/>
          </a:xfrm>
          <a:prstGeom prst="roundRect">
            <a:avLst>
              <a:gd name="adj" fmla="val 10000"/>
            </a:avLst>
          </a:prstGeom>
          <a:solidFill>
            <a:srgbClr val="E11D48">
              <a:alpha val="12000"/>
            </a:srgbClr>
          </a:solidFill>
          <a:ln w="12700">
            <a:solidFill>
              <a:srgbClr val="E11D48"/>
            </a:solidFill>
            <a:prstDash val="solid"/>
          </a:ln>
        </p:spPr>
      </p:sp>
      <p:sp>
        <p:nvSpPr>
          <p:cNvPr id="27" name="Shape 25"/>
          <p:cNvSpPr/>
          <p:nvPr/>
        </p:nvSpPr>
        <p:spPr>
          <a:xfrm>
            <a:off x="2487168" y="1481328"/>
            <a:ext cx="50292" cy="548640"/>
          </a:xfrm>
          <a:prstGeom prst="rect">
            <a:avLst/>
          </a:prstGeom>
          <a:solidFill>
            <a:srgbClr val="E11D48"/>
          </a:solidFill>
          <a:ln w="12700">
            <a:solidFill>
              <a:srgbClr val="E11D48"/>
            </a:solidFill>
            <a:prstDash val="solid"/>
          </a:ln>
        </p:spPr>
      </p:sp>
      <p:sp>
        <p:nvSpPr>
          <p:cNvPr id="28" name="Text 26"/>
          <p:cNvSpPr/>
          <p:nvPr/>
        </p:nvSpPr>
        <p:spPr>
          <a:xfrm>
            <a:off x="2596896" y="1517904"/>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HTML5 Canvas</a:t>
            </a:r>
            <a:endParaRPr lang="en-US" sz="1000" dirty="0"/>
          </a:p>
        </p:txBody>
      </p:sp>
      <p:sp>
        <p:nvSpPr>
          <p:cNvPr id="29" name="Text 27"/>
          <p:cNvSpPr/>
          <p:nvPr/>
        </p:nvSpPr>
        <p:spPr>
          <a:xfrm>
            <a:off x="2596896" y="1773936"/>
            <a:ext cx="1691640" cy="201168"/>
          </a:xfrm>
          <a:prstGeom prst="rect">
            <a:avLst/>
          </a:prstGeom>
          <a:noFill/>
          <a:ln/>
        </p:spPr>
        <p:txBody>
          <a:bodyPr wrap="square" lIns="0" tIns="0" rIns="0" bIns="0" rtlCol="0" anchor="ctr"/>
          <a:lstStyle/>
          <a:p>
            <a:pPr indent="0" marL="0">
              <a:buNone/>
            </a:pPr>
            <a:r>
              <a:rPr lang="en-US" sz="850" dirty="0">
                <a:solidFill>
                  <a:srgbClr val="E11D48"/>
                </a:solidFill>
                <a:latin typeface="Consolas" pitchFamily="34" charset="0"/>
                <a:ea typeface="Consolas" pitchFamily="34" charset="-122"/>
                <a:cs typeface="Consolas" pitchFamily="34" charset="-120"/>
              </a:rPr>
              <a:t>Visual UI</a:t>
            </a:r>
            <a:endParaRPr lang="en-US" sz="850" dirty="0"/>
          </a:p>
        </p:txBody>
      </p:sp>
      <p:sp>
        <p:nvSpPr>
          <p:cNvPr id="30" name="Shape 28"/>
          <p:cNvSpPr/>
          <p:nvPr/>
        </p:nvSpPr>
        <p:spPr>
          <a:xfrm>
            <a:off x="4590288" y="1481328"/>
            <a:ext cx="1920240" cy="548640"/>
          </a:xfrm>
          <a:prstGeom prst="roundRect">
            <a:avLst>
              <a:gd name="adj" fmla="val 10000"/>
            </a:avLst>
          </a:prstGeom>
          <a:solidFill>
            <a:srgbClr val="4338CA">
              <a:alpha val="12000"/>
            </a:srgbClr>
          </a:solidFill>
          <a:ln w="12700">
            <a:solidFill>
              <a:srgbClr val="4338CA"/>
            </a:solidFill>
            <a:prstDash val="solid"/>
          </a:ln>
        </p:spPr>
      </p:sp>
      <p:sp>
        <p:nvSpPr>
          <p:cNvPr id="31" name="Shape 29"/>
          <p:cNvSpPr/>
          <p:nvPr/>
        </p:nvSpPr>
        <p:spPr>
          <a:xfrm>
            <a:off x="4590288" y="1481328"/>
            <a:ext cx="50292" cy="548640"/>
          </a:xfrm>
          <a:prstGeom prst="rect">
            <a:avLst/>
          </a:prstGeom>
          <a:solidFill>
            <a:srgbClr val="4338CA"/>
          </a:solidFill>
          <a:ln w="12700">
            <a:solidFill>
              <a:srgbClr val="4338CA"/>
            </a:solidFill>
            <a:prstDash val="solid"/>
          </a:ln>
        </p:spPr>
      </p:sp>
      <p:sp>
        <p:nvSpPr>
          <p:cNvPr id="32" name="Text 30"/>
          <p:cNvSpPr/>
          <p:nvPr/>
        </p:nvSpPr>
        <p:spPr>
          <a:xfrm>
            <a:off x="4700016" y="1517904"/>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localStorage</a:t>
            </a:r>
            <a:endParaRPr lang="en-US" sz="1000" dirty="0"/>
          </a:p>
        </p:txBody>
      </p:sp>
      <p:sp>
        <p:nvSpPr>
          <p:cNvPr id="33" name="Text 31"/>
          <p:cNvSpPr/>
          <p:nvPr/>
        </p:nvSpPr>
        <p:spPr>
          <a:xfrm>
            <a:off x="4700016" y="1773936"/>
            <a:ext cx="1691640" cy="201168"/>
          </a:xfrm>
          <a:prstGeom prst="rect">
            <a:avLst/>
          </a:prstGeom>
          <a:noFill/>
          <a:ln/>
        </p:spPr>
        <p:txBody>
          <a:bodyPr wrap="square" lIns="0" tIns="0" rIns="0" bIns="0" rtlCol="0" anchor="ctr"/>
          <a:lstStyle/>
          <a:p>
            <a:pPr indent="0" marL="0">
              <a:buNone/>
            </a:pPr>
            <a:r>
              <a:rPr lang="en-US" sz="850" dirty="0">
                <a:solidFill>
                  <a:srgbClr val="4338CA"/>
                </a:solidFill>
                <a:latin typeface="Consolas" pitchFamily="34" charset="0"/>
                <a:ea typeface="Consolas" pitchFamily="34" charset="-122"/>
                <a:cs typeface="Consolas" pitchFamily="34" charset="-120"/>
              </a:rPr>
              <a:t>Data Persistence</a:t>
            </a:r>
            <a:endParaRPr lang="en-US" sz="850" dirty="0"/>
          </a:p>
        </p:txBody>
      </p:sp>
      <p:sp>
        <p:nvSpPr>
          <p:cNvPr id="34" name="Shape 32"/>
          <p:cNvSpPr/>
          <p:nvPr/>
        </p:nvSpPr>
        <p:spPr>
          <a:xfrm>
            <a:off x="6693408" y="1481328"/>
            <a:ext cx="1920240" cy="548640"/>
          </a:xfrm>
          <a:prstGeom prst="roundRect">
            <a:avLst>
              <a:gd name="adj" fmla="val 10000"/>
            </a:avLst>
          </a:prstGeom>
          <a:solidFill>
            <a:srgbClr val="0D9488">
              <a:alpha val="12000"/>
            </a:srgbClr>
          </a:solidFill>
          <a:ln w="12700">
            <a:solidFill>
              <a:srgbClr val="0D9488"/>
            </a:solidFill>
            <a:prstDash val="solid"/>
          </a:ln>
        </p:spPr>
      </p:sp>
      <p:sp>
        <p:nvSpPr>
          <p:cNvPr id="35" name="Shape 33"/>
          <p:cNvSpPr/>
          <p:nvPr/>
        </p:nvSpPr>
        <p:spPr>
          <a:xfrm>
            <a:off x="6693408" y="1481328"/>
            <a:ext cx="50292" cy="548640"/>
          </a:xfrm>
          <a:prstGeom prst="rect">
            <a:avLst/>
          </a:prstGeom>
          <a:solidFill>
            <a:srgbClr val="0D9488"/>
          </a:solidFill>
          <a:ln w="12700">
            <a:solidFill>
              <a:srgbClr val="0D9488"/>
            </a:solidFill>
            <a:prstDash val="solid"/>
          </a:ln>
        </p:spPr>
      </p:sp>
      <p:sp>
        <p:nvSpPr>
          <p:cNvPr id="36" name="Text 34"/>
          <p:cNvSpPr/>
          <p:nvPr/>
        </p:nvSpPr>
        <p:spPr>
          <a:xfrm>
            <a:off x="6803136" y="1517904"/>
            <a:ext cx="1691640" cy="256032"/>
          </a:xfrm>
          <a:prstGeom prst="rect">
            <a:avLst/>
          </a:prstGeom>
          <a:noFill/>
          <a:ln/>
        </p:spPr>
        <p:txBody>
          <a:bodyPr wrap="square" lIns="0" tIns="0" rIns="0" bIns="0" rtlCol="0" anchor="ctr"/>
          <a:lstStyle/>
          <a:p>
            <a:pPr indent="0" marL="0">
              <a:buNone/>
            </a:pPr>
            <a:r>
              <a:rPr lang="en-US" sz="1000" b="1" dirty="0">
                <a:solidFill>
                  <a:srgbClr val="1E1B4B"/>
                </a:solidFill>
                <a:latin typeface="Calibri" pitchFamily="34" charset="0"/>
                <a:ea typeface="Calibri" pitchFamily="34" charset="-122"/>
                <a:cs typeface="Calibri" pitchFamily="34" charset="-120"/>
              </a:rPr>
              <a:t>Cookie API</a:t>
            </a:r>
            <a:endParaRPr lang="en-US" sz="1000" dirty="0"/>
          </a:p>
        </p:txBody>
      </p:sp>
      <p:sp>
        <p:nvSpPr>
          <p:cNvPr id="37" name="Text 35"/>
          <p:cNvSpPr/>
          <p:nvPr/>
        </p:nvSpPr>
        <p:spPr>
          <a:xfrm>
            <a:off x="6803136" y="1773936"/>
            <a:ext cx="1691640" cy="201168"/>
          </a:xfrm>
          <a:prstGeom prst="rect">
            <a:avLst/>
          </a:prstGeom>
          <a:noFill/>
          <a:ln/>
        </p:spPr>
        <p:txBody>
          <a:bodyPr wrap="square" lIns="0" tIns="0" rIns="0" bIns="0" rtlCol="0" anchor="ctr"/>
          <a:lstStyle/>
          <a:p>
            <a:pPr indent="0" marL="0">
              <a:buNone/>
            </a:pPr>
            <a:r>
              <a:rPr lang="en-US" sz="850" dirty="0">
                <a:solidFill>
                  <a:srgbClr val="0D9488"/>
                </a:solidFill>
                <a:latin typeface="Consolas" pitchFamily="34" charset="0"/>
                <a:ea typeface="Consolas" pitchFamily="34" charset="-122"/>
                <a:cs typeface="Consolas" pitchFamily="34" charset="-120"/>
              </a:rPr>
              <a:t>Session Storage</a:t>
            </a:r>
            <a:endParaRPr lang="en-US" sz="850" dirty="0"/>
          </a:p>
        </p:txBody>
      </p:sp>
      <p:sp>
        <p:nvSpPr>
          <p:cNvPr id="38" name="Text 36"/>
          <p:cNvSpPr/>
          <p:nvPr/>
        </p:nvSpPr>
        <p:spPr>
          <a:xfrm>
            <a:off x="384048" y="2267712"/>
            <a:ext cx="4572000" cy="274320"/>
          </a:xfrm>
          <a:prstGeom prst="rect">
            <a:avLst/>
          </a:prstGeom>
          <a:noFill/>
          <a:ln/>
        </p:spPr>
        <p:txBody>
          <a:bodyPr wrap="square" rtlCol="0" anchor="ctr"/>
          <a:lstStyle/>
          <a:p>
            <a:pPr indent="0" marL="0">
              <a:buNone/>
            </a:pPr>
            <a:r>
              <a:rPr lang="en-US" sz="1300" b="1" dirty="0">
                <a:solidFill>
                  <a:srgbClr val="5B21B6"/>
                </a:solidFill>
                <a:latin typeface="Calibri" pitchFamily="34" charset="0"/>
                <a:ea typeface="Calibri" pitchFamily="34" charset="-122"/>
                <a:cs typeface="Calibri" pitchFamily="34" charset="-120"/>
              </a:rPr>
              <a:t>Key Functions in the Codebase</a:t>
            </a:r>
            <a:endParaRPr lang="en-US" sz="1300" dirty="0"/>
          </a:p>
        </p:txBody>
      </p:sp>
      <p:sp>
        <p:nvSpPr>
          <p:cNvPr id="39" name="Shape 37"/>
          <p:cNvSpPr/>
          <p:nvPr/>
        </p:nvSpPr>
        <p:spPr>
          <a:xfrm>
            <a:off x="384048" y="2615184"/>
            <a:ext cx="8375904" cy="210312"/>
          </a:xfrm>
          <a:prstGeom prst="rect">
            <a:avLst/>
          </a:prstGeom>
          <a:solidFill>
            <a:srgbClr val="F7F6FF"/>
          </a:solidFill>
          <a:ln w="12700">
            <a:solidFill>
              <a:srgbClr val="E5E7EB"/>
            </a:solidFill>
            <a:prstDash val="solid"/>
          </a:ln>
        </p:spPr>
      </p:sp>
      <p:sp>
        <p:nvSpPr>
          <p:cNvPr id="40" name="Text 38"/>
          <p:cNvSpPr/>
          <p:nvPr/>
        </p:nvSpPr>
        <p:spPr>
          <a:xfrm>
            <a:off x="475488" y="2615184"/>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toggleMic()</a:t>
            </a:r>
            <a:endParaRPr lang="en-US" sz="900" dirty="0"/>
          </a:p>
        </p:txBody>
      </p:sp>
      <p:sp>
        <p:nvSpPr>
          <p:cNvPr id="41" name="Text 39"/>
          <p:cNvSpPr/>
          <p:nvPr/>
        </p:nvSpPr>
        <p:spPr>
          <a:xfrm>
            <a:off x="2514600" y="2615184"/>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Web Audio API</a:t>
            </a:r>
            <a:endParaRPr lang="en-US" sz="850" dirty="0"/>
          </a:p>
        </p:txBody>
      </p:sp>
      <p:sp>
        <p:nvSpPr>
          <p:cNvPr id="42" name="Text 40"/>
          <p:cNvSpPr/>
          <p:nvPr/>
        </p:nvSpPr>
        <p:spPr>
          <a:xfrm>
            <a:off x="3977640" y="2615184"/>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Starts/stops microphone recording and pitch detection loop</a:t>
            </a:r>
            <a:endParaRPr lang="en-US" sz="900" dirty="0"/>
          </a:p>
        </p:txBody>
      </p:sp>
      <p:sp>
        <p:nvSpPr>
          <p:cNvPr id="43" name="Shape 41"/>
          <p:cNvSpPr/>
          <p:nvPr/>
        </p:nvSpPr>
        <p:spPr>
          <a:xfrm>
            <a:off x="384048" y="2829154"/>
            <a:ext cx="8375904" cy="210312"/>
          </a:xfrm>
          <a:prstGeom prst="rect">
            <a:avLst/>
          </a:prstGeom>
          <a:solidFill>
            <a:srgbClr val="FFFFFF"/>
          </a:solidFill>
          <a:ln w="12700">
            <a:solidFill>
              <a:srgbClr val="E5E7EB"/>
            </a:solidFill>
            <a:prstDash val="solid"/>
          </a:ln>
        </p:spPr>
      </p:sp>
      <p:sp>
        <p:nvSpPr>
          <p:cNvPr id="44" name="Text 42"/>
          <p:cNvSpPr/>
          <p:nvPr/>
        </p:nvSpPr>
        <p:spPr>
          <a:xfrm>
            <a:off x="475488" y="2829154"/>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generate()</a:t>
            </a:r>
            <a:endParaRPr lang="en-US" sz="900" dirty="0"/>
          </a:p>
        </p:txBody>
      </p:sp>
      <p:sp>
        <p:nvSpPr>
          <p:cNvPr id="45" name="Text 43"/>
          <p:cNvSpPr/>
          <p:nvPr/>
        </p:nvSpPr>
        <p:spPr>
          <a:xfrm>
            <a:off x="2514600" y="2829154"/>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Claude AI API</a:t>
            </a:r>
            <a:endParaRPr lang="en-US" sz="850" dirty="0"/>
          </a:p>
        </p:txBody>
      </p:sp>
      <p:sp>
        <p:nvSpPr>
          <p:cNvPr id="46" name="Text 44"/>
          <p:cNvSpPr/>
          <p:nvPr/>
        </p:nvSpPr>
        <p:spPr>
          <a:xfrm>
            <a:off x="3977640" y="2829154"/>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Sends detected notes + style to Claude AI; receives melody JSON</a:t>
            </a:r>
            <a:endParaRPr lang="en-US" sz="900" dirty="0"/>
          </a:p>
        </p:txBody>
      </p:sp>
      <p:sp>
        <p:nvSpPr>
          <p:cNvPr id="47" name="Shape 45"/>
          <p:cNvSpPr/>
          <p:nvPr/>
        </p:nvSpPr>
        <p:spPr>
          <a:xfrm>
            <a:off x="384048" y="3043123"/>
            <a:ext cx="8375904" cy="210312"/>
          </a:xfrm>
          <a:prstGeom prst="rect">
            <a:avLst/>
          </a:prstGeom>
          <a:solidFill>
            <a:srgbClr val="F7F6FF"/>
          </a:solidFill>
          <a:ln w="12700">
            <a:solidFill>
              <a:srgbClr val="E5E7EB"/>
            </a:solidFill>
            <a:prstDash val="solid"/>
          </a:ln>
        </p:spPr>
      </p:sp>
      <p:sp>
        <p:nvSpPr>
          <p:cNvPr id="48" name="Text 46"/>
          <p:cNvSpPr/>
          <p:nvPr/>
        </p:nvSpPr>
        <p:spPr>
          <a:xfrm>
            <a:off x="475488" y="3043123"/>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doPlay()</a:t>
            </a:r>
            <a:endParaRPr lang="en-US" sz="900" dirty="0"/>
          </a:p>
        </p:txBody>
      </p:sp>
      <p:sp>
        <p:nvSpPr>
          <p:cNvPr id="49" name="Text 47"/>
          <p:cNvSpPr/>
          <p:nvPr/>
        </p:nvSpPr>
        <p:spPr>
          <a:xfrm>
            <a:off x="2514600" y="3043123"/>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Tone.js</a:t>
            </a:r>
            <a:endParaRPr lang="en-US" sz="850" dirty="0"/>
          </a:p>
        </p:txBody>
      </p:sp>
      <p:sp>
        <p:nvSpPr>
          <p:cNvPr id="50" name="Text 48"/>
          <p:cNvSpPr/>
          <p:nvPr/>
        </p:nvSpPr>
        <p:spPr>
          <a:xfrm>
            <a:off x="3977640" y="3043123"/>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Schedules and plays melody notes via selected instrument synth</a:t>
            </a:r>
            <a:endParaRPr lang="en-US" sz="900" dirty="0"/>
          </a:p>
        </p:txBody>
      </p:sp>
      <p:sp>
        <p:nvSpPr>
          <p:cNvPr id="51" name="Shape 49"/>
          <p:cNvSpPr/>
          <p:nvPr/>
        </p:nvSpPr>
        <p:spPr>
          <a:xfrm>
            <a:off x="384048" y="3257093"/>
            <a:ext cx="8375904" cy="210312"/>
          </a:xfrm>
          <a:prstGeom prst="rect">
            <a:avLst/>
          </a:prstGeom>
          <a:solidFill>
            <a:srgbClr val="FFFFFF"/>
          </a:solidFill>
          <a:ln w="12700">
            <a:solidFill>
              <a:srgbClr val="E5E7EB"/>
            </a:solidFill>
            <a:prstDash val="solid"/>
          </a:ln>
        </p:spPr>
      </p:sp>
      <p:sp>
        <p:nvSpPr>
          <p:cNvPr id="52" name="Text 50"/>
          <p:cNvSpPr/>
          <p:nvPr/>
        </p:nvSpPr>
        <p:spPr>
          <a:xfrm>
            <a:off x="475488" y="3257093"/>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therapyPlay()</a:t>
            </a:r>
            <a:endParaRPr lang="en-US" sz="900" dirty="0"/>
          </a:p>
        </p:txBody>
      </p:sp>
      <p:sp>
        <p:nvSpPr>
          <p:cNvPr id="53" name="Text 51"/>
          <p:cNvSpPr/>
          <p:nvPr/>
        </p:nvSpPr>
        <p:spPr>
          <a:xfrm>
            <a:off x="2514600" y="3257093"/>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Tone.js</a:t>
            </a:r>
            <a:endParaRPr lang="en-US" sz="850" dirty="0"/>
          </a:p>
        </p:txBody>
      </p:sp>
      <p:sp>
        <p:nvSpPr>
          <p:cNvPr id="54" name="Text 52"/>
          <p:cNvSpPr/>
          <p:nvPr/>
        </p:nvSpPr>
        <p:spPr>
          <a:xfrm>
            <a:off x="3977640" y="3257093"/>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Starts selected sound therapy mode (Tibetan / Binaural / Bath)</a:t>
            </a:r>
            <a:endParaRPr lang="en-US" sz="900" dirty="0"/>
          </a:p>
        </p:txBody>
      </p:sp>
      <p:sp>
        <p:nvSpPr>
          <p:cNvPr id="55" name="Shape 53"/>
          <p:cNvSpPr/>
          <p:nvPr/>
        </p:nvSpPr>
        <p:spPr>
          <a:xfrm>
            <a:off x="384048" y="3471062"/>
            <a:ext cx="8375904" cy="210312"/>
          </a:xfrm>
          <a:prstGeom prst="rect">
            <a:avLst/>
          </a:prstGeom>
          <a:solidFill>
            <a:srgbClr val="F7F6FF"/>
          </a:solidFill>
          <a:ln w="12700">
            <a:solidFill>
              <a:srgbClr val="E5E7EB"/>
            </a:solidFill>
            <a:prstDash val="solid"/>
          </a:ln>
        </p:spPr>
      </p:sp>
      <p:sp>
        <p:nvSpPr>
          <p:cNvPr id="56" name="Text 54"/>
          <p:cNvSpPr/>
          <p:nvPr/>
        </p:nvSpPr>
        <p:spPr>
          <a:xfrm>
            <a:off x="475488" y="3471062"/>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buildPiano()</a:t>
            </a:r>
            <a:endParaRPr lang="en-US" sz="900" dirty="0"/>
          </a:p>
        </p:txBody>
      </p:sp>
      <p:sp>
        <p:nvSpPr>
          <p:cNvPr id="57" name="Text 55"/>
          <p:cNvSpPr/>
          <p:nvPr/>
        </p:nvSpPr>
        <p:spPr>
          <a:xfrm>
            <a:off x="2514600" y="3471062"/>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HTML5 / Tone.js</a:t>
            </a:r>
            <a:endParaRPr lang="en-US" sz="850" dirty="0"/>
          </a:p>
        </p:txBody>
      </p:sp>
      <p:sp>
        <p:nvSpPr>
          <p:cNvPr id="58" name="Text 56"/>
          <p:cNvSpPr/>
          <p:nvPr/>
        </p:nvSpPr>
        <p:spPr>
          <a:xfrm>
            <a:off x="3977640" y="3471062"/>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Renders interactive piano keyboard with click/touch handlers</a:t>
            </a:r>
            <a:endParaRPr lang="en-US" sz="900" dirty="0"/>
          </a:p>
        </p:txBody>
      </p:sp>
      <p:sp>
        <p:nvSpPr>
          <p:cNvPr id="59" name="Shape 57"/>
          <p:cNvSpPr/>
          <p:nvPr/>
        </p:nvSpPr>
        <p:spPr>
          <a:xfrm>
            <a:off x="384048" y="3685032"/>
            <a:ext cx="8375904" cy="210312"/>
          </a:xfrm>
          <a:prstGeom prst="rect">
            <a:avLst/>
          </a:prstGeom>
          <a:solidFill>
            <a:srgbClr val="FFFFFF"/>
          </a:solidFill>
          <a:ln w="12700">
            <a:solidFill>
              <a:srgbClr val="E5E7EB"/>
            </a:solidFill>
            <a:prstDash val="solid"/>
          </a:ln>
        </p:spPr>
      </p:sp>
      <p:sp>
        <p:nvSpPr>
          <p:cNvPr id="60" name="Text 58"/>
          <p:cNvSpPr/>
          <p:nvPr/>
        </p:nvSpPr>
        <p:spPr>
          <a:xfrm>
            <a:off x="475488" y="3685032"/>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drawSpeedoDial()</a:t>
            </a:r>
            <a:endParaRPr lang="en-US" sz="900" dirty="0"/>
          </a:p>
        </p:txBody>
      </p:sp>
      <p:sp>
        <p:nvSpPr>
          <p:cNvPr id="61" name="Text 59"/>
          <p:cNvSpPr/>
          <p:nvPr/>
        </p:nvSpPr>
        <p:spPr>
          <a:xfrm>
            <a:off x="2514600" y="3685032"/>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HTML5 Canvas</a:t>
            </a:r>
            <a:endParaRPr lang="en-US" sz="850" dirty="0"/>
          </a:p>
        </p:txBody>
      </p:sp>
      <p:sp>
        <p:nvSpPr>
          <p:cNvPr id="62" name="Text 60"/>
          <p:cNvSpPr/>
          <p:nvPr/>
        </p:nvSpPr>
        <p:spPr>
          <a:xfrm>
            <a:off x="3977640" y="3685032"/>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Renders animated speedometer gauge showing current speed multiplier</a:t>
            </a:r>
            <a:endParaRPr lang="en-US" sz="900" dirty="0"/>
          </a:p>
        </p:txBody>
      </p:sp>
      <p:sp>
        <p:nvSpPr>
          <p:cNvPr id="63" name="Shape 61"/>
          <p:cNvSpPr/>
          <p:nvPr/>
        </p:nvSpPr>
        <p:spPr>
          <a:xfrm>
            <a:off x="384048" y="3899002"/>
            <a:ext cx="8375904" cy="210312"/>
          </a:xfrm>
          <a:prstGeom prst="rect">
            <a:avLst/>
          </a:prstGeom>
          <a:solidFill>
            <a:srgbClr val="F7F6FF"/>
          </a:solidFill>
          <a:ln w="12700">
            <a:solidFill>
              <a:srgbClr val="E5E7EB"/>
            </a:solidFill>
            <a:prstDash val="solid"/>
          </a:ln>
        </p:spPr>
      </p:sp>
      <p:sp>
        <p:nvSpPr>
          <p:cNvPr id="64" name="Text 62"/>
          <p:cNvSpPr/>
          <p:nvPr/>
        </p:nvSpPr>
        <p:spPr>
          <a:xfrm>
            <a:off x="475488" y="3899002"/>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downloadAudio()</a:t>
            </a:r>
            <a:endParaRPr lang="en-US" sz="900" dirty="0"/>
          </a:p>
        </p:txBody>
      </p:sp>
      <p:sp>
        <p:nvSpPr>
          <p:cNvPr id="65" name="Text 63"/>
          <p:cNvSpPr/>
          <p:nvPr/>
        </p:nvSpPr>
        <p:spPr>
          <a:xfrm>
            <a:off x="2514600" y="3899002"/>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MediaRecorder</a:t>
            </a:r>
            <a:endParaRPr lang="en-US" sz="850" dirty="0"/>
          </a:p>
        </p:txBody>
      </p:sp>
      <p:sp>
        <p:nvSpPr>
          <p:cNvPr id="66" name="Text 64"/>
          <p:cNvSpPr/>
          <p:nvPr/>
        </p:nvSpPr>
        <p:spPr>
          <a:xfrm>
            <a:off x="3977640" y="3899002"/>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Records live synthesis output to in-memory buffer, exports as .wav</a:t>
            </a:r>
            <a:endParaRPr lang="en-US" sz="900" dirty="0"/>
          </a:p>
        </p:txBody>
      </p:sp>
      <p:sp>
        <p:nvSpPr>
          <p:cNvPr id="67" name="Shape 65"/>
          <p:cNvSpPr/>
          <p:nvPr/>
        </p:nvSpPr>
        <p:spPr>
          <a:xfrm>
            <a:off x="384048" y="4112971"/>
            <a:ext cx="8375904" cy="210312"/>
          </a:xfrm>
          <a:prstGeom prst="rect">
            <a:avLst/>
          </a:prstGeom>
          <a:solidFill>
            <a:srgbClr val="FFFFFF"/>
          </a:solidFill>
          <a:ln w="12700">
            <a:solidFill>
              <a:srgbClr val="E5E7EB"/>
            </a:solidFill>
            <a:prstDash val="solid"/>
          </a:ln>
        </p:spPr>
      </p:sp>
      <p:sp>
        <p:nvSpPr>
          <p:cNvPr id="68" name="Text 66"/>
          <p:cNvSpPr/>
          <p:nvPr/>
        </p:nvSpPr>
        <p:spPr>
          <a:xfrm>
            <a:off x="475488" y="4112971"/>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convertToMP4()</a:t>
            </a:r>
            <a:endParaRPr lang="en-US" sz="900" dirty="0"/>
          </a:p>
        </p:txBody>
      </p:sp>
      <p:sp>
        <p:nvSpPr>
          <p:cNvPr id="69" name="Text 67"/>
          <p:cNvSpPr/>
          <p:nvPr/>
        </p:nvSpPr>
        <p:spPr>
          <a:xfrm>
            <a:off x="2514600" y="4112971"/>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Canvas + Media</a:t>
            </a:r>
            <a:endParaRPr lang="en-US" sz="850" dirty="0"/>
          </a:p>
        </p:txBody>
      </p:sp>
      <p:sp>
        <p:nvSpPr>
          <p:cNvPr id="70" name="Text 68"/>
          <p:cNvSpPr/>
          <p:nvPr/>
        </p:nvSpPr>
        <p:spPr>
          <a:xfrm>
            <a:off x="3977640" y="4112971"/>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Combines audio recording with canvas waveform into .mp4 video</a:t>
            </a:r>
            <a:endParaRPr lang="en-US" sz="900" dirty="0"/>
          </a:p>
        </p:txBody>
      </p:sp>
      <p:sp>
        <p:nvSpPr>
          <p:cNvPr id="71" name="Shape 69"/>
          <p:cNvSpPr/>
          <p:nvPr/>
        </p:nvSpPr>
        <p:spPr>
          <a:xfrm>
            <a:off x="384048" y="4326941"/>
            <a:ext cx="8375904" cy="210312"/>
          </a:xfrm>
          <a:prstGeom prst="rect">
            <a:avLst/>
          </a:prstGeom>
          <a:solidFill>
            <a:srgbClr val="F7F6FF"/>
          </a:solidFill>
          <a:ln w="12700">
            <a:solidFill>
              <a:srgbClr val="E5E7EB"/>
            </a:solidFill>
            <a:prstDash val="solid"/>
          </a:ln>
        </p:spPr>
      </p:sp>
      <p:sp>
        <p:nvSpPr>
          <p:cNvPr id="72" name="Text 70"/>
          <p:cNvSpPr/>
          <p:nvPr/>
        </p:nvSpPr>
        <p:spPr>
          <a:xfrm>
            <a:off x="475488" y="4326941"/>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saveToLibrary()</a:t>
            </a:r>
            <a:endParaRPr lang="en-US" sz="900" dirty="0"/>
          </a:p>
        </p:txBody>
      </p:sp>
      <p:sp>
        <p:nvSpPr>
          <p:cNvPr id="73" name="Text 71"/>
          <p:cNvSpPr/>
          <p:nvPr/>
        </p:nvSpPr>
        <p:spPr>
          <a:xfrm>
            <a:off x="2514600" y="4326941"/>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localStorage</a:t>
            </a:r>
            <a:endParaRPr lang="en-US" sz="850" dirty="0"/>
          </a:p>
        </p:txBody>
      </p:sp>
      <p:sp>
        <p:nvSpPr>
          <p:cNvPr id="74" name="Text 72"/>
          <p:cNvSpPr/>
          <p:nvPr/>
        </p:nvSpPr>
        <p:spPr>
          <a:xfrm>
            <a:off x="3977640" y="4326941"/>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Serializes melody metadata (notes, BPM, style) to local storage</a:t>
            </a:r>
            <a:endParaRPr lang="en-US" sz="900" dirty="0"/>
          </a:p>
        </p:txBody>
      </p:sp>
      <p:sp>
        <p:nvSpPr>
          <p:cNvPr id="75" name="Shape 73"/>
          <p:cNvSpPr/>
          <p:nvPr/>
        </p:nvSpPr>
        <p:spPr>
          <a:xfrm>
            <a:off x="384048" y="4540910"/>
            <a:ext cx="8375904" cy="210312"/>
          </a:xfrm>
          <a:prstGeom prst="rect">
            <a:avLst/>
          </a:prstGeom>
          <a:solidFill>
            <a:srgbClr val="FFFFFF"/>
          </a:solidFill>
          <a:ln w="12700">
            <a:solidFill>
              <a:srgbClr val="E5E7EB"/>
            </a:solidFill>
            <a:prstDash val="solid"/>
          </a:ln>
        </p:spPr>
      </p:sp>
      <p:sp>
        <p:nvSpPr>
          <p:cNvPr id="76" name="Text 74"/>
          <p:cNvSpPr/>
          <p:nvPr/>
        </p:nvSpPr>
        <p:spPr>
          <a:xfrm>
            <a:off x="475488" y="4540910"/>
            <a:ext cx="2011680" cy="210312"/>
          </a:xfrm>
          <a:prstGeom prst="rect">
            <a:avLst/>
          </a:prstGeom>
          <a:noFill/>
          <a:ln/>
        </p:spPr>
        <p:txBody>
          <a:bodyPr wrap="square" rtlCol="0" anchor="ctr"/>
          <a:lstStyle/>
          <a:p>
            <a:pPr indent="0" marL="0">
              <a:buNone/>
            </a:pPr>
            <a:r>
              <a:rPr lang="en-US" sz="900" b="1" dirty="0">
                <a:solidFill>
                  <a:srgbClr val="5B21B6"/>
                </a:solidFill>
                <a:latin typeface="Consolas" pitchFamily="34" charset="0"/>
                <a:ea typeface="Consolas" pitchFamily="34" charset="-122"/>
                <a:cs typeface="Consolas" pitchFamily="34" charset="-120"/>
              </a:rPr>
              <a:t>save() / load()</a:t>
            </a:r>
            <a:endParaRPr lang="en-US" sz="900" dirty="0"/>
          </a:p>
        </p:txBody>
      </p:sp>
      <p:sp>
        <p:nvSpPr>
          <p:cNvPr id="77" name="Text 75"/>
          <p:cNvSpPr/>
          <p:nvPr/>
        </p:nvSpPr>
        <p:spPr>
          <a:xfrm>
            <a:off x="2514600" y="4540910"/>
            <a:ext cx="1417320" cy="210312"/>
          </a:xfrm>
          <a:prstGeom prst="rect">
            <a:avLst/>
          </a:prstGeom>
          <a:noFill/>
          <a:ln/>
        </p:spPr>
        <p:txBody>
          <a:bodyPr wrap="square" rtlCol="0" anchor="ctr"/>
          <a:lstStyle/>
          <a:p>
            <a:pPr indent="0" marL="0">
              <a:buNone/>
            </a:pPr>
            <a:r>
              <a:rPr lang="en-US" sz="850" dirty="0">
                <a:solidFill>
                  <a:srgbClr val="6B7280"/>
                </a:solidFill>
                <a:latin typeface="Consolas" pitchFamily="34" charset="0"/>
                <a:ea typeface="Consolas" pitchFamily="34" charset="-122"/>
                <a:cs typeface="Consolas" pitchFamily="34" charset="-120"/>
              </a:rPr>
              <a:t>Cookie + LS</a:t>
            </a:r>
            <a:endParaRPr lang="en-US" sz="850" dirty="0"/>
          </a:p>
        </p:txBody>
      </p:sp>
      <p:sp>
        <p:nvSpPr>
          <p:cNvPr id="78" name="Text 76"/>
          <p:cNvSpPr/>
          <p:nvPr/>
        </p:nvSpPr>
        <p:spPr>
          <a:xfrm>
            <a:off x="3977640" y="4540910"/>
            <a:ext cx="4663440" cy="2103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Dual persistence: localStorage primary, cookies as fallback</a:t>
            </a:r>
            <a:endParaRPr lang="en-US" sz="900" dirty="0"/>
          </a:p>
        </p:txBody>
      </p:sp>
      <p:sp>
        <p:nvSpPr>
          <p:cNvPr id="79" name="Shape 77"/>
          <p:cNvSpPr/>
          <p:nvPr/>
        </p:nvSpPr>
        <p:spPr>
          <a:xfrm>
            <a:off x="384048" y="2395728"/>
            <a:ext cx="8375904" cy="219456"/>
          </a:xfrm>
          <a:prstGeom prst="rect">
            <a:avLst/>
          </a:prstGeom>
          <a:solidFill>
            <a:srgbClr val="5B21B6"/>
          </a:solidFill>
          <a:ln w="12700">
            <a:solidFill>
              <a:srgbClr val="5B21B6"/>
            </a:solidFill>
            <a:prstDash val="solid"/>
          </a:ln>
        </p:spPr>
      </p:sp>
      <p:sp>
        <p:nvSpPr>
          <p:cNvPr id="80" name="Text 78"/>
          <p:cNvSpPr/>
          <p:nvPr/>
        </p:nvSpPr>
        <p:spPr>
          <a:xfrm>
            <a:off x="475488" y="2395728"/>
            <a:ext cx="2011680"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Function</a:t>
            </a:r>
            <a:endParaRPr lang="en-US" sz="900" dirty="0"/>
          </a:p>
        </p:txBody>
      </p:sp>
      <p:sp>
        <p:nvSpPr>
          <p:cNvPr id="81" name="Text 79"/>
          <p:cNvSpPr/>
          <p:nvPr/>
        </p:nvSpPr>
        <p:spPr>
          <a:xfrm>
            <a:off x="2514600" y="2395728"/>
            <a:ext cx="1417320"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Library</a:t>
            </a:r>
            <a:endParaRPr lang="en-US" sz="900" dirty="0"/>
          </a:p>
        </p:txBody>
      </p:sp>
      <p:sp>
        <p:nvSpPr>
          <p:cNvPr id="82" name="Text 80"/>
          <p:cNvSpPr/>
          <p:nvPr/>
        </p:nvSpPr>
        <p:spPr>
          <a:xfrm>
            <a:off x="3977640" y="2395728"/>
            <a:ext cx="4663440"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Description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5B21B6"/>
          </a:solidFill>
          <a:ln w="12700">
            <a:solidFill>
              <a:srgbClr val="5B21B6"/>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Architecture &amp; System Flow</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731520" y="822960"/>
            <a:ext cx="603504" cy="603504"/>
          </a:xfrm>
          <a:prstGeom prst="ellipse">
            <a:avLst/>
          </a:prstGeom>
          <a:solidFill>
            <a:srgbClr val="7C3AED"/>
          </a:solidFill>
          <a:ln w="12700">
            <a:solidFill>
              <a:srgbClr val="7C3AED"/>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731520" y="82296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1408176" y="1078992"/>
            <a:ext cx="457200" cy="91440"/>
          </a:xfrm>
          <a:prstGeom prst="rect">
            <a:avLst/>
          </a:prstGeom>
          <a:solidFill>
            <a:srgbClr val="E5E7EB"/>
          </a:solidFill>
          <a:ln w="12700">
            <a:solidFill>
              <a:srgbClr val="E5E7EB"/>
            </a:solidFill>
            <a:prstDash val="solid"/>
          </a:ln>
        </p:spPr>
      </p:sp>
      <p:sp>
        <p:nvSpPr>
          <p:cNvPr id="9" name="Text 7"/>
          <p:cNvSpPr/>
          <p:nvPr/>
        </p:nvSpPr>
        <p:spPr>
          <a:xfrm>
            <a:off x="475488" y="1499616"/>
            <a:ext cx="1234440" cy="274320"/>
          </a:xfrm>
          <a:prstGeom prst="rect">
            <a:avLst/>
          </a:prstGeom>
          <a:noFill/>
          <a:ln/>
        </p:spPr>
        <p:txBody>
          <a:bodyPr wrap="square" rtlCol="0" anchor="ctr"/>
          <a:lstStyle/>
          <a:p>
            <a:pPr algn="ctr" indent="0" marL="0">
              <a:buNone/>
            </a:pPr>
            <a:r>
              <a:rPr lang="en-US" sz="950" b="1" dirty="0">
                <a:solidFill>
                  <a:srgbClr val="1E1B4B"/>
                </a:solidFill>
                <a:latin typeface="Calibri" pitchFamily="34" charset="0"/>
                <a:ea typeface="Calibri" pitchFamily="34" charset="-122"/>
                <a:cs typeface="Calibri" pitchFamily="34" charset="-120"/>
              </a:rPr>
              <a:t>User Hums</a:t>
            </a:r>
            <a:endParaRPr lang="en-US" sz="950" dirty="0"/>
          </a:p>
        </p:txBody>
      </p:sp>
      <p:sp>
        <p:nvSpPr>
          <p:cNvPr id="10" name="Text 8"/>
          <p:cNvSpPr/>
          <p:nvPr/>
        </p:nvSpPr>
        <p:spPr>
          <a:xfrm>
            <a:off x="475488" y="1773936"/>
            <a:ext cx="1234440" cy="219456"/>
          </a:xfrm>
          <a:prstGeom prst="rect">
            <a:avLst/>
          </a:prstGeom>
          <a:noFill/>
          <a:ln/>
        </p:spPr>
        <p:txBody>
          <a:bodyPr wrap="square" rtlCol="0" anchor="ctr"/>
          <a:lstStyle/>
          <a:p>
            <a:pPr algn="ctr" indent="0" marL="0">
              <a:buNone/>
            </a:pPr>
            <a:r>
              <a:rPr lang="en-US" sz="800" dirty="0">
                <a:solidFill>
                  <a:srgbClr val="7C3AED"/>
                </a:solidFill>
                <a:latin typeface="Consolas" pitchFamily="34" charset="0"/>
                <a:ea typeface="Consolas" pitchFamily="34" charset="-122"/>
                <a:cs typeface="Consolas" pitchFamily="34" charset="-120"/>
              </a:rPr>
              <a:t>Microphone</a:t>
            </a:r>
            <a:endParaRPr lang="en-US" sz="800" dirty="0"/>
          </a:p>
        </p:txBody>
      </p:sp>
      <p:sp>
        <p:nvSpPr>
          <p:cNvPr id="11" name="Shape 9"/>
          <p:cNvSpPr/>
          <p:nvPr/>
        </p:nvSpPr>
        <p:spPr>
          <a:xfrm>
            <a:off x="2194560" y="822960"/>
            <a:ext cx="603504" cy="603504"/>
          </a:xfrm>
          <a:prstGeom prst="ellipse">
            <a:avLst/>
          </a:prstGeom>
          <a:solidFill>
            <a:srgbClr val="DB2777"/>
          </a:solidFill>
          <a:ln w="12700">
            <a:solidFill>
              <a:srgbClr val="DB2777"/>
            </a:solidFill>
            <a:prstDash val="solid"/>
          </a:ln>
          <a:effectLst>
            <a:outerShdw sx="100000" sy="100000" kx="0" ky="0" algn="bl" rotWithShape="0" blurRad="76200" dist="25400" dir="8100000">
              <a:srgbClr val="000000">
                <a:alpha val="15000"/>
              </a:srgbClr>
            </a:outerShdw>
          </a:effectLst>
        </p:spPr>
      </p:sp>
      <p:sp>
        <p:nvSpPr>
          <p:cNvPr id="12" name="Text 10"/>
          <p:cNvSpPr/>
          <p:nvPr/>
        </p:nvSpPr>
        <p:spPr>
          <a:xfrm>
            <a:off x="2194560" y="82296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hape 11"/>
          <p:cNvSpPr/>
          <p:nvPr/>
        </p:nvSpPr>
        <p:spPr>
          <a:xfrm>
            <a:off x="2871216" y="1078992"/>
            <a:ext cx="457200" cy="91440"/>
          </a:xfrm>
          <a:prstGeom prst="rect">
            <a:avLst/>
          </a:prstGeom>
          <a:solidFill>
            <a:srgbClr val="E5E7EB"/>
          </a:solidFill>
          <a:ln w="12700">
            <a:solidFill>
              <a:srgbClr val="E5E7EB"/>
            </a:solidFill>
            <a:prstDash val="solid"/>
          </a:ln>
        </p:spPr>
      </p:sp>
      <p:sp>
        <p:nvSpPr>
          <p:cNvPr id="14" name="Text 12"/>
          <p:cNvSpPr/>
          <p:nvPr/>
        </p:nvSpPr>
        <p:spPr>
          <a:xfrm>
            <a:off x="1938528" y="1499616"/>
            <a:ext cx="1234440" cy="274320"/>
          </a:xfrm>
          <a:prstGeom prst="rect">
            <a:avLst/>
          </a:prstGeom>
          <a:noFill/>
          <a:ln/>
        </p:spPr>
        <p:txBody>
          <a:bodyPr wrap="square" rtlCol="0" anchor="ctr"/>
          <a:lstStyle/>
          <a:p>
            <a:pPr algn="ctr" indent="0" marL="0">
              <a:buNone/>
            </a:pPr>
            <a:r>
              <a:rPr lang="en-US" sz="950" b="1" dirty="0">
                <a:solidFill>
                  <a:srgbClr val="1E1B4B"/>
                </a:solidFill>
                <a:latin typeface="Calibri" pitchFamily="34" charset="0"/>
                <a:ea typeface="Calibri" pitchFamily="34" charset="-122"/>
                <a:cs typeface="Calibri" pitchFamily="34" charset="-120"/>
              </a:rPr>
              <a:t>Pitch Detect</a:t>
            </a:r>
            <a:endParaRPr lang="en-US" sz="950" dirty="0"/>
          </a:p>
        </p:txBody>
      </p:sp>
      <p:sp>
        <p:nvSpPr>
          <p:cNvPr id="15" name="Text 13"/>
          <p:cNvSpPr/>
          <p:nvPr/>
        </p:nvSpPr>
        <p:spPr>
          <a:xfrm>
            <a:off x="1938528" y="1773936"/>
            <a:ext cx="1234440" cy="219456"/>
          </a:xfrm>
          <a:prstGeom prst="rect">
            <a:avLst/>
          </a:prstGeom>
          <a:noFill/>
          <a:ln/>
        </p:spPr>
        <p:txBody>
          <a:bodyPr wrap="square" rtlCol="0" anchor="ctr"/>
          <a:lstStyle/>
          <a:p>
            <a:pPr algn="ctr" indent="0" marL="0">
              <a:buNone/>
            </a:pPr>
            <a:r>
              <a:rPr lang="en-US" sz="800" dirty="0">
                <a:solidFill>
                  <a:srgbClr val="DB2777"/>
                </a:solidFill>
                <a:latin typeface="Consolas" pitchFamily="34" charset="0"/>
                <a:ea typeface="Consolas" pitchFamily="34" charset="-122"/>
                <a:cs typeface="Consolas" pitchFamily="34" charset="-120"/>
              </a:rPr>
              <a:t>Web Audio API</a:t>
            </a:r>
            <a:endParaRPr lang="en-US" sz="800" dirty="0"/>
          </a:p>
        </p:txBody>
      </p:sp>
      <p:sp>
        <p:nvSpPr>
          <p:cNvPr id="16" name="Shape 14"/>
          <p:cNvSpPr/>
          <p:nvPr/>
        </p:nvSpPr>
        <p:spPr>
          <a:xfrm>
            <a:off x="3657600" y="822960"/>
            <a:ext cx="603504" cy="603504"/>
          </a:xfrm>
          <a:prstGeom prst="ellipse">
            <a:avLst/>
          </a:prstGeom>
          <a:solidFill>
            <a:srgbClr val="0891B2"/>
          </a:solidFill>
          <a:ln w="12700">
            <a:solidFill>
              <a:srgbClr val="0891B2"/>
            </a:solidFill>
            <a:prstDash val="solid"/>
          </a:ln>
          <a:effectLst>
            <a:outerShdw sx="100000" sy="100000" kx="0" ky="0" algn="bl" rotWithShape="0" blurRad="76200" dist="25400" dir="8100000">
              <a:srgbClr val="000000">
                <a:alpha val="15000"/>
              </a:srgbClr>
            </a:outerShdw>
          </a:effectLst>
        </p:spPr>
      </p:sp>
      <p:sp>
        <p:nvSpPr>
          <p:cNvPr id="17" name="Text 15"/>
          <p:cNvSpPr/>
          <p:nvPr/>
        </p:nvSpPr>
        <p:spPr>
          <a:xfrm>
            <a:off x="3657600" y="82296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Shape 16"/>
          <p:cNvSpPr/>
          <p:nvPr/>
        </p:nvSpPr>
        <p:spPr>
          <a:xfrm>
            <a:off x="4334256" y="1078992"/>
            <a:ext cx="457200" cy="91440"/>
          </a:xfrm>
          <a:prstGeom prst="rect">
            <a:avLst/>
          </a:prstGeom>
          <a:solidFill>
            <a:srgbClr val="E5E7EB"/>
          </a:solidFill>
          <a:ln w="12700">
            <a:solidFill>
              <a:srgbClr val="E5E7EB"/>
            </a:solidFill>
            <a:prstDash val="solid"/>
          </a:ln>
        </p:spPr>
      </p:sp>
      <p:sp>
        <p:nvSpPr>
          <p:cNvPr id="19" name="Text 17"/>
          <p:cNvSpPr/>
          <p:nvPr/>
        </p:nvSpPr>
        <p:spPr>
          <a:xfrm>
            <a:off x="3401568" y="1499616"/>
            <a:ext cx="1234440" cy="274320"/>
          </a:xfrm>
          <a:prstGeom prst="rect">
            <a:avLst/>
          </a:prstGeom>
          <a:noFill/>
          <a:ln/>
        </p:spPr>
        <p:txBody>
          <a:bodyPr wrap="square" rtlCol="0" anchor="ctr"/>
          <a:lstStyle/>
          <a:p>
            <a:pPr algn="ctr" indent="0" marL="0">
              <a:buNone/>
            </a:pPr>
            <a:r>
              <a:rPr lang="en-US" sz="950" b="1" dirty="0">
                <a:solidFill>
                  <a:srgbClr val="1E1B4B"/>
                </a:solidFill>
                <a:latin typeface="Calibri" pitchFamily="34" charset="0"/>
                <a:ea typeface="Calibri" pitchFamily="34" charset="-122"/>
                <a:cs typeface="Calibri" pitchFamily="34" charset="-120"/>
              </a:rPr>
              <a:t>Note List</a:t>
            </a:r>
            <a:endParaRPr lang="en-US" sz="950" dirty="0"/>
          </a:p>
        </p:txBody>
      </p:sp>
      <p:sp>
        <p:nvSpPr>
          <p:cNvPr id="20" name="Text 18"/>
          <p:cNvSpPr/>
          <p:nvPr/>
        </p:nvSpPr>
        <p:spPr>
          <a:xfrm>
            <a:off x="3401568" y="1773936"/>
            <a:ext cx="1234440" cy="219456"/>
          </a:xfrm>
          <a:prstGeom prst="rect">
            <a:avLst/>
          </a:prstGeom>
          <a:noFill/>
          <a:ln/>
        </p:spPr>
        <p:txBody>
          <a:bodyPr wrap="square" rtlCol="0" anchor="ctr"/>
          <a:lstStyle/>
          <a:p>
            <a:pPr algn="ctr" indent="0" marL="0">
              <a:buNone/>
            </a:pPr>
            <a:r>
              <a:rPr lang="en-US" sz="800" dirty="0">
                <a:solidFill>
                  <a:srgbClr val="0891B2"/>
                </a:solidFill>
                <a:latin typeface="Consolas" pitchFamily="34" charset="0"/>
                <a:ea typeface="Consolas" pitchFamily="34" charset="-122"/>
                <a:cs typeface="Consolas" pitchFamily="34" charset="-120"/>
              </a:rPr>
              <a:t>JS Array</a:t>
            </a:r>
            <a:endParaRPr lang="en-US" sz="800" dirty="0"/>
          </a:p>
        </p:txBody>
      </p:sp>
      <p:sp>
        <p:nvSpPr>
          <p:cNvPr id="21" name="Shape 19"/>
          <p:cNvSpPr/>
          <p:nvPr/>
        </p:nvSpPr>
        <p:spPr>
          <a:xfrm>
            <a:off x="5120640" y="822960"/>
            <a:ext cx="603504" cy="603504"/>
          </a:xfrm>
          <a:prstGeom prst="ellipse">
            <a:avLst/>
          </a:prstGeom>
          <a:solidFill>
            <a:srgbClr val="D97706"/>
          </a:solidFill>
          <a:ln w="12700">
            <a:solidFill>
              <a:srgbClr val="D97706"/>
            </a:solidFill>
            <a:prstDash val="solid"/>
          </a:ln>
          <a:effectLst>
            <a:outerShdw sx="100000" sy="100000" kx="0" ky="0" algn="bl" rotWithShape="0" blurRad="76200" dist="25400" dir="8100000">
              <a:srgbClr val="000000">
                <a:alpha val="15000"/>
              </a:srgbClr>
            </a:outerShdw>
          </a:effectLst>
        </p:spPr>
      </p:sp>
      <p:sp>
        <p:nvSpPr>
          <p:cNvPr id="22" name="Text 20"/>
          <p:cNvSpPr/>
          <p:nvPr/>
        </p:nvSpPr>
        <p:spPr>
          <a:xfrm>
            <a:off x="5120640" y="82296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Shape 21"/>
          <p:cNvSpPr/>
          <p:nvPr/>
        </p:nvSpPr>
        <p:spPr>
          <a:xfrm>
            <a:off x="5797296" y="1078992"/>
            <a:ext cx="457200" cy="91440"/>
          </a:xfrm>
          <a:prstGeom prst="rect">
            <a:avLst/>
          </a:prstGeom>
          <a:solidFill>
            <a:srgbClr val="E5E7EB"/>
          </a:solidFill>
          <a:ln w="12700">
            <a:solidFill>
              <a:srgbClr val="E5E7EB"/>
            </a:solidFill>
            <a:prstDash val="solid"/>
          </a:ln>
        </p:spPr>
      </p:sp>
      <p:sp>
        <p:nvSpPr>
          <p:cNvPr id="24" name="Text 22"/>
          <p:cNvSpPr/>
          <p:nvPr/>
        </p:nvSpPr>
        <p:spPr>
          <a:xfrm>
            <a:off x="4864608" y="1499616"/>
            <a:ext cx="1234440" cy="274320"/>
          </a:xfrm>
          <a:prstGeom prst="rect">
            <a:avLst/>
          </a:prstGeom>
          <a:noFill/>
          <a:ln/>
        </p:spPr>
        <p:txBody>
          <a:bodyPr wrap="square" rtlCol="0" anchor="ctr"/>
          <a:lstStyle/>
          <a:p>
            <a:pPr algn="ctr" indent="0" marL="0">
              <a:buNone/>
            </a:pPr>
            <a:r>
              <a:rPr lang="en-US" sz="950" b="1" dirty="0">
                <a:solidFill>
                  <a:srgbClr val="1E1B4B"/>
                </a:solidFill>
                <a:latin typeface="Calibri" pitchFamily="34" charset="0"/>
                <a:ea typeface="Calibri" pitchFamily="34" charset="-122"/>
                <a:cs typeface="Calibri" pitchFamily="34" charset="-120"/>
              </a:rPr>
              <a:t>Claude AI</a:t>
            </a:r>
            <a:endParaRPr lang="en-US" sz="950" dirty="0"/>
          </a:p>
        </p:txBody>
      </p:sp>
      <p:sp>
        <p:nvSpPr>
          <p:cNvPr id="25" name="Text 23"/>
          <p:cNvSpPr/>
          <p:nvPr/>
        </p:nvSpPr>
        <p:spPr>
          <a:xfrm>
            <a:off x="4864608" y="1773936"/>
            <a:ext cx="1234440" cy="219456"/>
          </a:xfrm>
          <a:prstGeom prst="rect">
            <a:avLst/>
          </a:prstGeom>
          <a:noFill/>
          <a:ln/>
        </p:spPr>
        <p:txBody>
          <a:bodyPr wrap="square" rtlCol="0" anchor="ctr"/>
          <a:lstStyle/>
          <a:p>
            <a:pPr algn="ctr" indent="0" marL="0">
              <a:buNone/>
            </a:pPr>
            <a:r>
              <a:rPr lang="en-US" sz="800" dirty="0">
                <a:solidFill>
                  <a:srgbClr val="D97706"/>
                </a:solidFill>
                <a:latin typeface="Consolas" pitchFamily="34" charset="0"/>
                <a:ea typeface="Consolas" pitchFamily="34" charset="-122"/>
                <a:cs typeface="Consolas" pitchFamily="34" charset="-120"/>
              </a:rPr>
              <a:t>Anthropic API</a:t>
            </a:r>
            <a:endParaRPr lang="en-US" sz="800" dirty="0"/>
          </a:p>
        </p:txBody>
      </p:sp>
      <p:sp>
        <p:nvSpPr>
          <p:cNvPr id="26" name="Shape 24"/>
          <p:cNvSpPr/>
          <p:nvPr/>
        </p:nvSpPr>
        <p:spPr>
          <a:xfrm>
            <a:off x="6583680" y="822960"/>
            <a:ext cx="603504" cy="603504"/>
          </a:xfrm>
          <a:prstGeom prst="ellipse">
            <a:avLst/>
          </a:prstGeom>
          <a:solidFill>
            <a:srgbClr val="059669"/>
          </a:solidFill>
          <a:ln w="12700">
            <a:solidFill>
              <a:srgbClr val="059669"/>
            </a:solidFill>
            <a:prstDash val="solid"/>
          </a:ln>
          <a:effectLst>
            <a:outerShdw sx="100000" sy="100000" kx="0" ky="0" algn="bl" rotWithShape="0" blurRad="76200" dist="25400" dir="8100000">
              <a:srgbClr val="000000">
                <a:alpha val="15000"/>
              </a:srgbClr>
            </a:outerShdw>
          </a:effectLst>
        </p:spPr>
      </p:sp>
      <p:sp>
        <p:nvSpPr>
          <p:cNvPr id="27" name="Text 25"/>
          <p:cNvSpPr/>
          <p:nvPr/>
        </p:nvSpPr>
        <p:spPr>
          <a:xfrm>
            <a:off x="6583680" y="82296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Shape 26"/>
          <p:cNvSpPr/>
          <p:nvPr/>
        </p:nvSpPr>
        <p:spPr>
          <a:xfrm>
            <a:off x="7260336" y="1078992"/>
            <a:ext cx="457200" cy="91440"/>
          </a:xfrm>
          <a:prstGeom prst="rect">
            <a:avLst/>
          </a:prstGeom>
          <a:solidFill>
            <a:srgbClr val="E5E7EB"/>
          </a:solidFill>
          <a:ln w="12700">
            <a:solidFill>
              <a:srgbClr val="E5E7EB"/>
            </a:solidFill>
            <a:prstDash val="solid"/>
          </a:ln>
        </p:spPr>
      </p:sp>
      <p:sp>
        <p:nvSpPr>
          <p:cNvPr id="29" name="Text 27"/>
          <p:cNvSpPr/>
          <p:nvPr/>
        </p:nvSpPr>
        <p:spPr>
          <a:xfrm>
            <a:off x="6327648" y="1499616"/>
            <a:ext cx="1234440" cy="274320"/>
          </a:xfrm>
          <a:prstGeom prst="rect">
            <a:avLst/>
          </a:prstGeom>
          <a:noFill/>
          <a:ln/>
        </p:spPr>
        <p:txBody>
          <a:bodyPr wrap="square" rtlCol="0" anchor="ctr"/>
          <a:lstStyle/>
          <a:p>
            <a:pPr algn="ctr" indent="0" marL="0">
              <a:buNone/>
            </a:pPr>
            <a:r>
              <a:rPr lang="en-US" sz="950" b="1" dirty="0">
                <a:solidFill>
                  <a:srgbClr val="1E1B4B"/>
                </a:solidFill>
                <a:latin typeface="Calibri" pitchFamily="34" charset="0"/>
                <a:ea typeface="Calibri" pitchFamily="34" charset="-122"/>
                <a:cs typeface="Calibri" pitchFamily="34" charset="-120"/>
              </a:rPr>
              <a:t>Melody JSON</a:t>
            </a:r>
            <a:endParaRPr lang="en-US" sz="950" dirty="0"/>
          </a:p>
        </p:txBody>
      </p:sp>
      <p:sp>
        <p:nvSpPr>
          <p:cNvPr id="30" name="Text 28"/>
          <p:cNvSpPr/>
          <p:nvPr/>
        </p:nvSpPr>
        <p:spPr>
          <a:xfrm>
            <a:off x="6327648" y="1773936"/>
            <a:ext cx="1234440" cy="219456"/>
          </a:xfrm>
          <a:prstGeom prst="rect">
            <a:avLst/>
          </a:prstGeom>
          <a:noFill/>
          <a:ln/>
        </p:spPr>
        <p:txBody>
          <a:bodyPr wrap="square" rtlCol="0" anchor="ctr"/>
          <a:lstStyle/>
          <a:p>
            <a:pPr algn="ctr" indent="0" marL="0">
              <a:buNone/>
            </a:pPr>
            <a:r>
              <a:rPr lang="en-US" sz="800" dirty="0">
                <a:solidFill>
                  <a:srgbClr val="059669"/>
                </a:solidFill>
                <a:latin typeface="Consolas" pitchFamily="34" charset="0"/>
                <a:ea typeface="Consolas" pitchFamily="34" charset="-122"/>
                <a:cs typeface="Consolas" pitchFamily="34" charset="-120"/>
              </a:rPr>
              <a:t>Notes + BPM</a:t>
            </a:r>
            <a:endParaRPr lang="en-US" sz="800" dirty="0"/>
          </a:p>
        </p:txBody>
      </p:sp>
      <p:sp>
        <p:nvSpPr>
          <p:cNvPr id="31" name="Shape 29"/>
          <p:cNvSpPr/>
          <p:nvPr/>
        </p:nvSpPr>
        <p:spPr>
          <a:xfrm>
            <a:off x="8046720" y="822960"/>
            <a:ext cx="603504" cy="603504"/>
          </a:xfrm>
          <a:prstGeom prst="ellipse">
            <a:avLst/>
          </a:prstGeom>
          <a:solidFill>
            <a:srgbClr val="4338CA"/>
          </a:solidFill>
          <a:ln w="12700">
            <a:solidFill>
              <a:srgbClr val="4338CA"/>
            </a:solidFill>
            <a:prstDash val="solid"/>
          </a:ln>
          <a:effectLst>
            <a:outerShdw sx="100000" sy="100000" kx="0" ky="0" algn="bl" rotWithShape="0" blurRad="76200" dist="25400" dir="8100000">
              <a:srgbClr val="000000">
                <a:alpha val="15000"/>
              </a:srgbClr>
            </a:outerShdw>
          </a:effectLst>
        </p:spPr>
      </p:sp>
      <p:sp>
        <p:nvSpPr>
          <p:cNvPr id="32" name="Text 30"/>
          <p:cNvSpPr/>
          <p:nvPr/>
        </p:nvSpPr>
        <p:spPr>
          <a:xfrm>
            <a:off x="8046720" y="82296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7790688" y="1499616"/>
            <a:ext cx="1234440" cy="274320"/>
          </a:xfrm>
          <a:prstGeom prst="rect">
            <a:avLst/>
          </a:prstGeom>
          <a:noFill/>
          <a:ln/>
        </p:spPr>
        <p:txBody>
          <a:bodyPr wrap="square" rtlCol="0" anchor="ctr"/>
          <a:lstStyle/>
          <a:p>
            <a:pPr algn="ctr" indent="0" marL="0">
              <a:buNone/>
            </a:pPr>
            <a:r>
              <a:rPr lang="en-US" sz="950" b="1" dirty="0">
                <a:solidFill>
                  <a:srgbClr val="1E1B4B"/>
                </a:solidFill>
                <a:latin typeface="Calibri" pitchFamily="34" charset="0"/>
                <a:ea typeface="Calibri" pitchFamily="34" charset="-122"/>
                <a:cs typeface="Calibri" pitchFamily="34" charset="-120"/>
              </a:rPr>
              <a:t>Tone.js Play</a:t>
            </a:r>
            <a:endParaRPr lang="en-US" sz="950" dirty="0"/>
          </a:p>
        </p:txBody>
      </p:sp>
      <p:sp>
        <p:nvSpPr>
          <p:cNvPr id="34" name="Text 32"/>
          <p:cNvSpPr/>
          <p:nvPr/>
        </p:nvSpPr>
        <p:spPr>
          <a:xfrm>
            <a:off x="7790688" y="1773936"/>
            <a:ext cx="1234440" cy="219456"/>
          </a:xfrm>
          <a:prstGeom prst="rect">
            <a:avLst/>
          </a:prstGeom>
          <a:noFill/>
          <a:ln/>
        </p:spPr>
        <p:txBody>
          <a:bodyPr wrap="square" rtlCol="0" anchor="ctr"/>
          <a:lstStyle/>
          <a:p>
            <a:pPr algn="ctr" indent="0" marL="0">
              <a:buNone/>
            </a:pPr>
            <a:r>
              <a:rPr lang="en-US" sz="800" dirty="0">
                <a:solidFill>
                  <a:srgbClr val="4338CA"/>
                </a:solidFill>
                <a:latin typeface="Consolas" pitchFamily="34" charset="0"/>
                <a:ea typeface="Consolas" pitchFamily="34" charset="-122"/>
                <a:cs typeface="Consolas" pitchFamily="34" charset="-120"/>
              </a:rPr>
              <a:t>Instrument</a:t>
            </a:r>
            <a:endParaRPr lang="en-US" sz="800" dirty="0"/>
          </a:p>
        </p:txBody>
      </p:sp>
      <p:sp>
        <p:nvSpPr>
          <p:cNvPr id="35" name="Shape 33"/>
          <p:cNvSpPr/>
          <p:nvPr/>
        </p:nvSpPr>
        <p:spPr>
          <a:xfrm>
            <a:off x="384048" y="2121408"/>
            <a:ext cx="8375904" cy="877824"/>
          </a:xfrm>
          <a:prstGeom prst="rect">
            <a:avLst/>
          </a:prstGeom>
          <a:solidFill>
            <a:srgbClr val="F7F6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36" name="Shape 34"/>
          <p:cNvSpPr/>
          <p:nvPr/>
        </p:nvSpPr>
        <p:spPr>
          <a:xfrm>
            <a:off x="384048" y="2121408"/>
            <a:ext cx="50292" cy="877824"/>
          </a:xfrm>
          <a:prstGeom prst="rect">
            <a:avLst/>
          </a:prstGeom>
          <a:solidFill>
            <a:srgbClr val="7C3AED"/>
          </a:solidFill>
          <a:ln w="12700">
            <a:solidFill>
              <a:srgbClr val="7C3AED"/>
            </a:solidFill>
            <a:prstDash val="solid"/>
          </a:ln>
        </p:spPr>
      </p:sp>
      <p:sp>
        <p:nvSpPr>
          <p:cNvPr id="37" name="Text 35"/>
          <p:cNvSpPr/>
          <p:nvPr/>
        </p:nvSpPr>
        <p:spPr>
          <a:xfrm>
            <a:off x="585216" y="2194560"/>
            <a:ext cx="2377440" cy="274320"/>
          </a:xfrm>
          <a:prstGeom prst="rect">
            <a:avLst/>
          </a:prstGeom>
          <a:noFill/>
          <a:ln/>
        </p:spPr>
        <p:txBody>
          <a:bodyPr wrap="square"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Frontend Layer  (Browser)</a:t>
            </a:r>
            <a:endParaRPr lang="en-US" sz="1100" dirty="0"/>
          </a:p>
        </p:txBody>
      </p:sp>
      <p:sp>
        <p:nvSpPr>
          <p:cNvPr id="38" name="Shape 36"/>
          <p:cNvSpPr/>
          <p:nvPr/>
        </p:nvSpPr>
        <p:spPr>
          <a:xfrm>
            <a:off x="594360" y="2523744"/>
            <a:ext cx="64008" cy="64008"/>
          </a:xfrm>
          <a:prstGeom prst="ellipse">
            <a:avLst/>
          </a:prstGeom>
          <a:solidFill>
            <a:srgbClr val="7C3AED"/>
          </a:solidFill>
          <a:ln w="12700">
            <a:solidFill>
              <a:srgbClr val="7C3AED"/>
            </a:solidFill>
            <a:prstDash val="solid"/>
          </a:ln>
        </p:spPr>
      </p:sp>
      <p:sp>
        <p:nvSpPr>
          <p:cNvPr id="39" name="Text 37"/>
          <p:cNvSpPr/>
          <p:nvPr/>
        </p:nvSpPr>
        <p:spPr>
          <a:xfrm>
            <a:off x="713232" y="2468880"/>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index.html — Single-page app, 4 pages (Studio, About, Team, Contact)</a:t>
            </a:r>
            <a:endParaRPr lang="en-US" sz="880" dirty="0"/>
          </a:p>
        </p:txBody>
      </p:sp>
      <p:sp>
        <p:nvSpPr>
          <p:cNvPr id="40" name="Shape 38"/>
          <p:cNvSpPr/>
          <p:nvPr/>
        </p:nvSpPr>
        <p:spPr>
          <a:xfrm>
            <a:off x="594360" y="2683764"/>
            <a:ext cx="64008" cy="64008"/>
          </a:xfrm>
          <a:prstGeom prst="ellipse">
            <a:avLst/>
          </a:prstGeom>
          <a:solidFill>
            <a:srgbClr val="7C3AED"/>
          </a:solidFill>
          <a:ln w="12700">
            <a:solidFill>
              <a:srgbClr val="7C3AED"/>
            </a:solidFill>
            <a:prstDash val="solid"/>
          </a:ln>
        </p:spPr>
      </p:sp>
      <p:sp>
        <p:nvSpPr>
          <p:cNvPr id="41" name="Text 39"/>
          <p:cNvSpPr/>
          <p:nvPr/>
        </p:nvSpPr>
        <p:spPr>
          <a:xfrm>
            <a:off x="713232" y="2628900"/>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Vanilla JS — SPA routing, state management, UI events</a:t>
            </a:r>
            <a:endParaRPr lang="en-US" sz="880" dirty="0"/>
          </a:p>
        </p:txBody>
      </p:sp>
      <p:sp>
        <p:nvSpPr>
          <p:cNvPr id="42" name="Shape 40"/>
          <p:cNvSpPr/>
          <p:nvPr/>
        </p:nvSpPr>
        <p:spPr>
          <a:xfrm>
            <a:off x="594360" y="2843784"/>
            <a:ext cx="64008" cy="64008"/>
          </a:xfrm>
          <a:prstGeom prst="ellipse">
            <a:avLst/>
          </a:prstGeom>
          <a:solidFill>
            <a:srgbClr val="7C3AED"/>
          </a:solidFill>
          <a:ln w="12700">
            <a:solidFill>
              <a:srgbClr val="7C3AED"/>
            </a:solidFill>
            <a:prstDash val="solid"/>
          </a:ln>
        </p:spPr>
      </p:sp>
      <p:sp>
        <p:nvSpPr>
          <p:cNvPr id="43" name="Text 41"/>
          <p:cNvSpPr/>
          <p:nvPr/>
        </p:nvSpPr>
        <p:spPr>
          <a:xfrm>
            <a:off x="713232" y="2788920"/>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HTML5 Canvas — waveform visualizer, speedometer dial</a:t>
            </a:r>
            <a:endParaRPr lang="en-US" sz="880" dirty="0"/>
          </a:p>
        </p:txBody>
      </p:sp>
      <p:sp>
        <p:nvSpPr>
          <p:cNvPr id="44" name="Shape 42"/>
          <p:cNvSpPr/>
          <p:nvPr/>
        </p:nvSpPr>
        <p:spPr>
          <a:xfrm>
            <a:off x="4754880" y="2523744"/>
            <a:ext cx="64008" cy="64008"/>
          </a:xfrm>
          <a:prstGeom prst="ellipse">
            <a:avLst/>
          </a:prstGeom>
          <a:solidFill>
            <a:srgbClr val="7C3AED"/>
          </a:solidFill>
          <a:ln w="12700">
            <a:solidFill>
              <a:srgbClr val="7C3AED"/>
            </a:solidFill>
            <a:prstDash val="solid"/>
          </a:ln>
        </p:spPr>
      </p:sp>
      <p:sp>
        <p:nvSpPr>
          <p:cNvPr id="45" name="Text 43"/>
          <p:cNvSpPr/>
          <p:nvPr/>
        </p:nvSpPr>
        <p:spPr>
          <a:xfrm>
            <a:off x="4873752" y="2468880"/>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CSS Variables — 3 theme system (Dark/Light/Mystic) with transitions</a:t>
            </a:r>
            <a:endParaRPr lang="en-US" sz="880" dirty="0"/>
          </a:p>
        </p:txBody>
      </p:sp>
      <p:sp>
        <p:nvSpPr>
          <p:cNvPr id="46" name="Shape 44"/>
          <p:cNvSpPr/>
          <p:nvPr/>
        </p:nvSpPr>
        <p:spPr>
          <a:xfrm>
            <a:off x="4754880" y="2683764"/>
            <a:ext cx="64008" cy="64008"/>
          </a:xfrm>
          <a:prstGeom prst="ellipse">
            <a:avLst/>
          </a:prstGeom>
          <a:solidFill>
            <a:srgbClr val="7C3AED"/>
          </a:solidFill>
          <a:ln w="12700">
            <a:solidFill>
              <a:srgbClr val="7C3AED"/>
            </a:solidFill>
            <a:prstDash val="solid"/>
          </a:ln>
        </p:spPr>
      </p:sp>
      <p:sp>
        <p:nvSpPr>
          <p:cNvPr id="47" name="Text 45"/>
          <p:cNvSpPr/>
          <p:nvPr/>
        </p:nvSpPr>
        <p:spPr>
          <a:xfrm>
            <a:off x="4873752" y="2628900"/>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localStorage + Cookies — name, theme, speed, melody library persistence</a:t>
            </a:r>
            <a:endParaRPr lang="en-US" sz="880" dirty="0"/>
          </a:p>
        </p:txBody>
      </p:sp>
      <p:sp>
        <p:nvSpPr>
          <p:cNvPr id="48" name="Shape 46"/>
          <p:cNvSpPr/>
          <p:nvPr/>
        </p:nvSpPr>
        <p:spPr>
          <a:xfrm>
            <a:off x="384048" y="3090672"/>
            <a:ext cx="8375904" cy="877824"/>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49" name="Shape 47"/>
          <p:cNvSpPr/>
          <p:nvPr/>
        </p:nvSpPr>
        <p:spPr>
          <a:xfrm>
            <a:off x="384048" y="3090672"/>
            <a:ext cx="50292" cy="877824"/>
          </a:xfrm>
          <a:prstGeom prst="rect">
            <a:avLst/>
          </a:prstGeom>
          <a:solidFill>
            <a:srgbClr val="D97706"/>
          </a:solidFill>
          <a:ln w="12700">
            <a:solidFill>
              <a:srgbClr val="D97706"/>
            </a:solidFill>
            <a:prstDash val="solid"/>
          </a:ln>
        </p:spPr>
      </p:sp>
      <p:sp>
        <p:nvSpPr>
          <p:cNvPr id="50" name="Text 48"/>
          <p:cNvSpPr/>
          <p:nvPr/>
        </p:nvSpPr>
        <p:spPr>
          <a:xfrm>
            <a:off x="585216" y="3163824"/>
            <a:ext cx="2377440" cy="274320"/>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AI Layer  (Claude API via Proxy)</a:t>
            </a:r>
            <a:endParaRPr lang="en-US" sz="1100" dirty="0"/>
          </a:p>
        </p:txBody>
      </p:sp>
      <p:sp>
        <p:nvSpPr>
          <p:cNvPr id="51" name="Shape 49"/>
          <p:cNvSpPr/>
          <p:nvPr/>
        </p:nvSpPr>
        <p:spPr>
          <a:xfrm>
            <a:off x="594360" y="3493008"/>
            <a:ext cx="64008" cy="64008"/>
          </a:xfrm>
          <a:prstGeom prst="ellipse">
            <a:avLst/>
          </a:prstGeom>
          <a:solidFill>
            <a:srgbClr val="D97706"/>
          </a:solidFill>
          <a:ln w="12700">
            <a:solidFill>
              <a:srgbClr val="D97706"/>
            </a:solidFill>
            <a:prstDash val="solid"/>
          </a:ln>
        </p:spPr>
      </p:sp>
      <p:sp>
        <p:nvSpPr>
          <p:cNvPr id="52" name="Text 50"/>
          <p:cNvSpPr/>
          <p:nvPr/>
        </p:nvSpPr>
        <p:spPr>
          <a:xfrm>
            <a:off x="713232" y="3438144"/>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Vercel Serverless Function — /api/proxy.js proxies requests to Anthropic</a:t>
            </a:r>
            <a:endParaRPr lang="en-US" sz="880" dirty="0"/>
          </a:p>
        </p:txBody>
      </p:sp>
      <p:sp>
        <p:nvSpPr>
          <p:cNvPr id="53" name="Shape 51"/>
          <p:cNvSpPr/>
          <p:nvPr/>
        </p:nvSpPr>
        <p:spPr>
          <a:xfrm>
            <a:off x="594360" y="3653028"/>
            <a:ext cx="64008" cy="64008"/>
          </a:xfrm>
          <a:prstGeom prst="ellipse">
            <a:avLst/>
          </a:prstGeom>
          <a:solidFill>
            <a:srgbClr val="D97706"/>
          </a:solidFill>
          <a:ln w="12700">
            <a:solidFill>
              <a:srgbClr val="D97706"/>
            </a:solidFill>
            <a:prstDash val="solid"/>
          </a:ln>
        </p:spPr>
      </p:sp>
      <p:sp>
        <p:nvSpPr>
          <p:cNvPr id="54" name="Text 52"/>
          <p:cNvSpPr/>
          <p:nvPr/>
        </p:nvSpPr>
        <p:spPr>
          <a:xfrm>
            <a:off x="713232" y="3598164"/>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Claude claude-sonnet model — intelligent melody composition</a:t>
            </a:r>
            <a:endParaRPr lang="en-US" sz="880" dirty="0"/>
          </a:p>
        </p:txBody>
      </p:sp>
      <p:sp>
        <p:nvSpPr>
          <p:cNvPr id="55" name="Shape 53"/>
          <p:cNvSpPr/>
          <p:nvPr/>
        </p:nvSpPr>
        <p:spPr>
          <a:xfrm>
            <a:off x="594360" y="3813048"/>
            <a:ext cx="64008" cy="64008"/>
          </a:xfrm>
          <a:prstGeom prst="ellipse">
            <a:avLst/>
          </a:prstGeom>
          <a:solidFill>
            <a:srgbClr val="D97706"/>
          </a:solidFill>
          <a:ln w="12700">
            <a:solidFill>
              <a:srgbClr val="D97706"/>
            </a:solidFill>
            <a:prstDash val="solid"/>
          </a:ln>
        </p:spPr>
      </p:sp>
      <p:sp>
        <p:nvSpPr>
          <p:cNvPr id="56" name="Text 54"/>
          <p:cNvSpPr/>
          <p:nvPr/>
        </p:nvSpPr>
        <p:spPr>
          <a:xfrm>
            <a:off x="713232" y="3758184"/>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Prompt engineering — style-aware (Jingle/Jazz/Pop/Classical)</a:t>
            </a:r>
            <a:endParaRPr lang="en-US" sz="880" dirty="0"/>
          </a:p>
        </p:txBody>
      </p:sp>
      <p:sp>
        <p:nvSpPr>
          <p:cNvPr id="57" name="Shape 55"/>
          <p:cNvSpPr/>
          <p:nvPr/>
        </p:nvSpPr>
        <p:spPr>
          <a:xfrm>
            <a:off x="4754880" y="3493008"/>
            <a:ext cx="64008" cy="64008"/>
          </a:xfrm>
          <a:prstGeom prst="ellipse">
            <a:avLst/>
          </a:prstGeom>
          <a:solidFill>
            <a:srgbClr val="D97706"/>
          </a:solidFill>
          <a:ln w="12700">
            <a:solidFill>
              <a:srgbClr val="D97706"/>
            </a:solidFill>
            <a:prstDash val="solid"/>
          </a:ln>
        </p:spPr>
      </p:sp>
      <p:sp>
        <p:nvSpPr>
          <p:cNvPr id="58" name="Text 56"/>
          <p:cNvSpPr/>
          <p:nvPr/>
        </p:nvSpPr>
        <p:spPr>
          <a:xfrm>
            <a:off x="4873752" y="3438144"/>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Response: JSON with notes[], bpm, description fields</a:t>
            </a:r>
            <a:endParaRPr lang="en-US" sz="880" dirty="0"/>
          </a:p>
        </p:txBody>
      </p:sp>
      <p:sp>
        <p:nvSpPr>
          <p:cNvPr id="59" name="Shape 57"/>
          <p:cNvSpPr/>
          <p:nvPr/>
        </p:nvSpPr>
        <p:spPr>
          <a:xfrm>
            <a:off x="4754880" y="3653028"/>
            <a:ext cx="64008" cy="64008"/>
          </a:xfrm>
          <a:prstGeom prst="ellipse">
            <a:avLst/>
          </a:prstGeom>
          <a:solidFill>
            <a:srgbClr val="D97706"/>
          </a:solidFill>
          <a:ln w="12700">
            <a:solidFill>
              <a:srgbClr val="D97706"/>
            </a:solidFill>
            <a:prstDash val="solid"/>
          </a:ln>
        </p:spPr>
      </p:sp>
      <p:sp>
        <p:nvSpPr>
          <p:cNvPr id="60" name="Text 58"/>
          <p:cNvSpPr/>
          <p:nvPr/>
        </p:nvSpPr>
        <p:spPr>
          <a:xfrm>
            <a:off x="4873752" y="3598164"/>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API key protected server-side — never exposed in client code</a:t>
            </a:r>
            <a:endParaRPr lang="en-US" sz="880" dirty="0"/>
          </a:p>
        </p:txBody>
      </p:sp>
      <p:sp>
        <p:nvSpPr>
          <p:cNvPr id="61" name="Shape 59"/>
          <p:cNvSpPr/>
          <p:nvPr/>
        </p:nvSpPr>
        <p:spPr>
          <a:xfrm>
            <a:off x="384048" y="4059936"/>
            <a:ext cx="8375904" cy="877824"/>
          </a:xfrm>
          <a:prstGeom prst="rect">
            <a:avLst/>
          </a:prstGeom>
          <a:solidFill>
            <a:srgbClr val="F7F6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62" name="Shape 60"/>
          <p:cNvSpPr/>
          <p:nvPr/>
        </p:nvSpPr>
        <p:spPr>
          <a:xfrm>
            <a:off x="384048" y="4059936"/>
            <a:ext cx="50292" cy="877824"/>
          </a:xfrm>
          <a:prstGeom prst="rect">
            <a:avLst/>
          </a:prstGeom>
          <a:solidFill>
            <a:srgbClr val="0891B2"/>
          </a:solidFill>
          <a:ln w="12700">
            <a:solidFill>
              <a:srgbClr val="0891B2"/>
            </a:solidFill>
            <a:prstDash val="solid"/>
          </a:ln>
        </p:spPr>
      </p:sp>
      <p:sp>
        <p:nvSpPr>
          <p:cNvPr id="63" name="Text 61"/>
          <p:cNvSpPr/>
          <p:nvPr/>
        </p:nvSpPr>
        <p:spPr>
          <a:xfrm>
            <a:off x="585216" y="4133088"/>
            <a:ext cx="2377440" cy="27432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Audio Layer  (Tone.js + Web Audio API)</a:t>
            </a:r>
            <a:endParaRPr lang="en-US" sz="1100" dirty="0"/>
          </a:p>
        </p:txBody>
      </p:sp>
      <p:sp>
        <p:nvSpPr>
          <p:cNvPr id="64" name="Shape 62"/>
          <p:cNvSpPr/>
          <p:nvPr/>
        </p:nvSpPr>
        <p:spPr>
          <a:xfrm>
            <a:off x="594360" y="4462272"/>
            <a:ext cx="64008" cy="64008"/>
          </a:xfrm>
          <a:prstGeom prst="ellipse">
            <a:avLst/>
          </a:prstGeom>
          <a:solidFill>
            <a:srgbClr val="0891B2"/>
          </a:solidFill>
          <a:ln w="12700">
            <a:solidFill>
              <a:srgbClr val="0891B2"/>
            </a:solidFill>
            <a:prstDash val="solid"/>
          </a:ln>
        </p:spPr>
      </p:sp>
      <p:sp>
        <p:nvSpPr>
          <p:cNvPr id="65" name="Text 63"/>
          <p:cNvSpPr/>
          <p:nvPr/>
        </p:nvSpPr>
        <p:spPr>
          <a:xfrm>
            <a:off x="713232" y="4407408"/>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AudioContext — low-level mic capture at 44.1kHz sample rate</a:t>
            </a:r>
            <a:endParaRPr lang="en-US" sz="880" dirty="0"/>
          </a:p>
        </p:txBody>
      </p:sp>
      <p:sp>
        <p:nvSpPr>
          <p:cNvPr id="66" name="Shape 64"/>
          <p:cNvSpPr/>
          <p:nvPr/>
        </p:nvSpPr>
        <p:spPr>
          <a:xfrm>
            <a:off x="594360" y="4622292"/>
            <a:ext cx="64008" cy="64008"/>
          </a:xfrm>
          <a:prstGeom prst="ellipse">
            <a:avLst/>
          </a:prstGeom>
          <a:solidFill>
            <a:srgbClr val="0891B2"/>
          </a:solidFill>
          <a:ln w="12700">
            <a:solidFill>
              <a:srgbClr val="0891B2"/>
            </a:solidFill>
            <a:prstDash val="solid"/>
          </a:ln>
        </p:spPr>
      </p:sp>
      <p:sp>
        <p:nvSpPr>
          <p:cNvPr id="67" name="Text 65"/>
          <p:cNvSpPr/>
          <p:nvPr/>
        </p:nvSpPr>
        <p:spPr>
          <a:xfrm>
            <a:off x="713232" y="4567428"/>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Autocorrelation (YIN) — real-time pitch detection from mic stream</a:t>
            </a:r>
            <a:endParaRPr lang="en-US" sz="880" dirty="0"/>
          </a:p>
        </p:txBody>
      </p:sp>
      <p:sp>
        <p:nvSpPr>
          <p:cNvPr id="68" name="Shape 66"/>
          <p:cNvSpPr/>
          <p:nvPr/>
        </p:nvSpPr>
        <p:spPr>
          <a:xfrm>
            <a:off x="594360" y="4782312"/>
            <a:ext cx="64008" cy="64008"/>
          </a:xfrm>
          <a:prstGeom prst="ellipse">
            <a:avLst/>
          </a:prstGeom>
          <a:solidFill>
            <a:srgbClr val="0891B2"/>
          </a:solidFill>
          <a:ln w="12700">
            <a:solidFill>
              <a:srgbClr val="0891B2"/>
            </a:solidFill>
            <a:prstDash val="solid"/>
          </a:ln>
        </p:spPr>
      </p:sp>
      <p:sp>
        <p:nvSpPr>
          <p:cNvPr id="69" name="Text 67"/>
          <p:cNvSpPr/>
          <p:nvPr/>
        </p:nvSpPr>
        <p:spPr>
          <a:xfrm>
            <a:off x="713232" y="4727448"/>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Tone.js Synths — Piano, Guitar, Flute, Bell, Hum instruments</a:t>
            </a:r>
            <a:endParaRPr lang="en-US" sz="880" dirty="0"/>
          </a:p>
        </p:txBody>
      </p:sp>
      <p:sp>
        <p:nvSpPr>
          <p:cNvPr id="70" name="Shape 68"/>
          <p:cNvSpPr/>
          <p:nvPr/>
        </p:nvSpPr>
        <p:spPr>
          <a:xfrm>
            <a:off x="4754880" y="4462272"/>
            <a:ext cx="64008" cy="64008"/>
          </a:xfrm>
          <a:prstGeom prst="ellipse">
            <a:avLst/>
          </a:prstGeom>
          <a:solidFill>
            <a:srgbClr val="0891B2"/>
          </a:solidFill>
          <a:ln w="12700">
            <a:solidFill>
              <a:srgbClr val="0891B2"/>
            </a:solidFill>
            <a:prstDash val="solid"/>
          </a:ln>
        </p:spPr>
      </p:sp>
      <p:sp>
        <p:nvSpPr>
          <p:cNvPr id="71" name="Text 69"/>
          <p:cNvSpPr/>
          <p:nvPr/>
        </p:nvSpPr>
        <p:spPr>
          <a:xfrm>
            <a:off x="4873752" y="4407408"/>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Effect chain — Reverb + Chorus + Compressor + EQ per instrument</a:t>
            </a:r>
            <a:endParaRPr lang="en-US" sz="880" dirty="0"/>
          </a:p>
        </p:txBody>
      </p:sp>
      <p:sp>
        <p:nvSpPr>
          <p:cNvPr id="72" name="Shape 70"/>
          <p:cNvSpPr/>
          <p:nvPr/>
        </p:nvSpPr>
        <p:spPr>
          <a:xfrm>
            <a:off x="4754880" y="4622292"/>
            <a:ext cx="64008" cy="64008"/>
          </a:xfrm>
          <a:prstGeom prst="ellipse">
            <a:avLst/>
          </a:prstGeom>
          <a:solidFill>
            <a:srgbClr val="0891B2"/>
          </a:solidFill>
          <a:ln w="12700">
            <a:solidFill>
              <a:srgbClr val="0891B2"/>
            </a:solidFill>
            <a:prstDash val="solid"/>
          </a:ln>
        </p:spPr>
      </p:sp>
      <p:sp>
        <p:nvSpPr>
          <p:cNvPr id="73" name="Text 71"/>
          <p:cNvSpPr/>
          <p:nvPr/>
        </p:nvSpPr>
        <p:spPr>
          <a:xfrm>
            <a:off x="4873752" y="4567428"/>
            <a:ext cx="3749040" cy="182880"/>
          </a:xfrm>
          <a:prstGeom prst="rect">
            <a:avLst/>
          </a:prstGeom>
          <a:noFill/>
          <a:ln/>
        </p:spPr>
        <p:txBody>
          <a:bodyPr wrap="square" rtlCol="0" anchor="ctr"/>
          <a:lstStyle/>
          <a:p>
            <a:pPr indent="0" marL="0">
              <a:buNone/>
            </a:pPr>
            <a:r>
              <a:rPr lang="en-US" sz="880" dirty="0">
                <a:solidFill>
                  <a:srgbClr val="374151"/>
                </a:solidFill>
                <a:latin typeface="Calibri" pitchFamily="34" charset="0"/>
                <a:ea typeface="Calibri" pitchFamily="34" charset="-122"/>
                <a:cs typeface="Calibri" pitchFamily="34" charset="-120"/>
              </a:rPr>
              <a:t>MediaRecorder API — capture live synthesis output to WAV/MP4</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B2777"/>
          </a:solidFill>
          <a:ln w="12700">
            <a:solidFill>
              <a:srgbClr val="DB2777"/>
            </a:solidFill>
            <a:prstDash val="solid"/>
          </a:ln>
        </p:spPr>
      </p:sp>
      <p:sp>
        <p:nvSpPr>
          <p:cNvPr id="3" name="Text 1"/>
          <p:cNvSpPr/>
          <p:nvPr/>
        </p:nvSpPr>
        <p:spPr>
          <a:xfrm>
            <a:off x="411480" y="0"/>
            <a:ext cx="8321040" cy="65836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Meet The Team</a:t>
            </a:r>
            <a:endParaRPr lang="en-US" sz="2600" dirty="0"/>
          </a:p>
        </p:txBody>
      </p:sp>
      <p:sp>
        <p:nvSpPr>
          <p:cNvPr id="4" name="Shape 2"/>
          <p:cNvSpPr/>
          <p:nvPr/>
        </p:nvSpPr>
        <p:spPr>
          <a:xfrm>
            <a:off x="0" y="4873752"/>
            <a:ext cx="9144000" cy="269748"/>
          </a:xfrm>
          <a:prstGeom prst="rect">
            <a:avLst/>
          </a:prstGeom>
          <a:solidFill>
            <a:srgbClr val="EDE9FE"/>
          </a:solidFill>
          <a:ln w="12700">
            <a:solidFill>
              <a:srgbClr val="EDE9FE"/>
            </a:solidFill>
            <a:prstDash val="solid"/>
          </a:ln>
        </p:spPr>
      </p:sp>
      <p:sp>
        <p:nvSpPr>
          <p:cNvPr id="5" name="Text 3"/>
          <p:cNvSpPr/>
          <p:nvPr/>
        </p:nvSpPr>
        <p:spPr>
          <a:xfrm>
            <a:off x="365760" y="4873752"/>
            <a:ext cx="8412480" cy="26974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CodePilot  ·  AI Music &amp; Sound Therapy Studio  ·  PS-11 Hackathon 2026</a:t>
            </a:r>
            <a:endParaRPr lang="en-US" sz="800" dirty="0"/>
          </a:p>
        </p:txBody>
      </p:sp>
      <p:sp>
        <p:nvSpPr>
          <p:cNvPr id="6" name="Shape 4"/>
          <p:cNvSpPr/>
          <p:nvPr/>
        </p:nvSpPr>
        <p:spPr>
          <a:xfrm>
            <a:off x="384048" y="804672"/>
            <a:ext cx="8375904" cy="384048"/>
          </a:xfrm>
          <a:prstGeom prst="rect">
            <a:avLst/>
          </a:prstGeom>
          <a:solidFill>
            <a:srgbClr val="EDE9FE"/>
          </a:solidFill>
          <a:ln w="12700">
            <a:solidFill>
              <a:srgbClr val="DDD6FE"/>
            </a:solidFill>
            <a:prstDash val="solid"/>
          </a:ln>
        </p:spPr>
      </p:sp>
      <p:sp>
        <p:nvSpPr>
          <p:cNvPr id="7" name="Shape 5"/>
          <p:cNvSpPr/>
          <p:nvPr/>
        </p:nvSpPr>
        <p:spPr>
          <a:xfrm>
            <a:off x="384048" y="804672"/>
            <a:ext cx="50292" cy="384048"/>
          </a:xfrm>
          <a:prstGeom prst="rect">
            <a:avLst/>
          </a:prstGeom>
          <a:solidFill>
            <a:srgbClr val="D97706"/>
          </a:solidFill>
          <a:ln w="12700">
            <a:solidFill>
              <a:srgbClr val="D97706"/>
            </a:solidFill>
            <a:prstDash val="solid"/>
          </a:ln>
        </p:spPr>
      </p:sp>
      <p:sp>
        <p:nvSpPr>
          <p:cNvPr id="8" name="Text 6"/>
          <p:cNvSpPr/>
          <p:nvPr/>
        </p:nvSpPr>
        <p:spPr>
          <a:xfrm>
            <a:off x="594360" y="804672"/>
            <a:ext cx="8229600" cy="384048"/>
          </a:xfrm>
          <a:prstGeom prst="rect">
            <a:avLst/>
          </a:prstGeom>
          <a:noFill/>
          <a:ln/>
        </p:spPr>
        <p:txBody>
          <a:bodyPr wrap="square" rtlCol="0" anchor="ctr"/>
          <a:lstStyle/>
          <a:p>
            <a:pPr algn="ctr" indent="0" marL="0">
              <a:buNone/>
            </a:pPr>
            <a:r>
              <a:rPr lang="en-US" sz="1100" b="1" spc="100" kern="0" dirty="0">
                <a:solidFill>
                  <a:srgbClr val="5B21B6"/>
                </a:solidFill>
                <a:latin typeface="Consolas" pitchFamily="34" charset="0"/>
                <a:ea typeface="Consolas" pitchFamily="34" charset="-122"/>
                <a:cs typeface="Consolas" pitchFamily="34" charset="-120"/>
              </a:rPr>
              <a:t>PS-11 Hackathon 2.0  ·  BCA 4th Semester  ·  Team CodePilot  ·  2026</a:t>
            </a:r>
            <a:endParaRPr lang="en-US" sz="1100" dirty="0"/>
          </a:p>
        </p:txBody>
      </p:sp>
      <p:sp>
        <p:nvSpPr>
          <p:cNvPr id="9" name="Shape 7"/>
          <p:cNvSpPr/>
          <p:nvPr/>
        </p:nvSpPr>
        <p:spPr>
          <a:xfrm>
            <a:off x="384048" y="1353312"/>
            <a:ext cx="2029968" cy="33649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10" name="Shape 8"/>
          <p:cNvSpPr/>
          <p:nvPr/>
        </p:nvSpPr>
        <p:spPr>
          <a:xfrm>
            <a:off x="384048" y="1353312"/>
            <a:ext cx="2029968" cy="54864"/>
          </a:xfrm>
          <a:prstGeom prst="rect">
            <a:avLst/>
          </a:prstGeom>
          <a:solidFill>
            <a:srgbClr val="7C3AED"/>
          </a:solidFill>
          <a:ln w="12700">
            <a:solidFill>
              <a:srgbClr val="7C3AED"/>
            </a:solidFill>
            <a:prstDash val="solid"/>
          </a:ln>
        </p:spPr>
      </p:sp>
      <p:sp>
        <p:nvSpPr>
          <p:cNvPr id="11" name="Shape 9"/>
          <p:cNvSpPr/>
          <p:nvPr/>
        </p:nvSpPr>
        <p:spPr>
          <a:xfrm>
            <a:off x="960120" y="1554480"/>
            <a:ext cx="877824" cy="877824"/>
          </a:xfrm>
          <a:prstGeom prst="ellipse">
            <a:avLst/>
          </a:prstGeom>
          <a:solidFill>
            <a:srgbClr val="7C3AED"/>
          </a:solidFill>
          <a:ln w="12700">
            <a:solidFill>
              <a:srgbClr val="7C3AED"/>
            </a:solidFill>
            <a:prstDash val="solid"/>
          </a:ln>
          <a:effectLst>
            <a:outerShdw sx="100000" sy="100000" kx="0" ky="0" algn="bl" rotWithShape="0" blurRad="101600" dist="25400" dir="8100000">
              <a:srgbClr val="000000">
                <a:alpha val="18000"/>
              </a:srgbClr>
            </a:outerShdw>
          </a:effectLst>
        </p:spPr>
      </p:sp>
      <p:sp>
        <p:nvSpPr>
          <p:cNvPr id="12" name="Text 10"/>
          <p:cNvSpPr/>
          <p:nvPr/>
        </p:nvSpPr>
        <p:spPr>
          <a:xfrm>
            <a:off x="960120" y="1554480"/>
            <a:ext cx="877824" cy="8778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AK</a:t>
            </a:r>
            <a:endParaRPr lang="en-US" sz="1800" dirty="0"/>
          </a:p>
        </p:txBody>
      </p:sp>
      <p:sp>
        <p:nvSpPr>
          <p:cNvPr id="13" name="Shape 11"/>
          <p:cNvSpPr/>
          <p:nvPr/>
        </p:nvSpPr>
        <p:spPr>
          <a:xfrm>
            <a:off x="512064" y="2523744"/>
            <a:ext cx="1773936" cy="237744"/>
          </a:xfrm>
          <a:prstGeom prst="roundRect">
            <a:avLst>
              <a:gd name="adj" fmla="val 15385"/>
            </a:avLst>
          </a:prstGeom>
          <a:solidFill>
            <a:srgbClr val="7C3AED">
              <a:alpha val="15000"/>
            </a:srgbClr>
          </a:solidFill>
          <a:ln w="12700">
            <a:solidFill>
              <a:srgbClr val="7C3AED"/>
            </a:solidFill>
            <a:prstDash val="solid"/>
          </a:ln>
        </p:spPr>
      </p:sp>
      <p:sp>
        <p:nvSpPr>
          <p:cNvPr id="14" name="Text 12"/>
          <p:cNvSpPr/>
          <p:nvPr/>
        </p:nvSpPr>
        <p:spPr>
          <a:xfrm>
            <a:off x="512064" y="2523744"/>
            <a:ext cx="1773936" cy="237744"/>
          </a:xfrm>
          <a:prstGeom prst="rect">
            <a:avLst/>
          </a:prstGeom>
          <a:noFill/>
          <a:ln/>
        </p:spPr>
        <p:txBody>
          <a:bodyPr wrap="square" lIns="0" tIns="0" rIns="0" bIns="0" rtlCol="0" anchor="ctr"/>
          <a:lstStyle/>
          <a:p>
            <a:pPr algn="ctr" indent="0" marL="0">
              <a:buNone/>
            </a:pPr>
            <a:r>
              <a:rPr lang="en-US" sz="800" b="1" spc="100" kern="0" dirty="0">
                <a:solidFill>
                  <a:srgbClr val="7C3AED"/>
                </a:solidFill>
                <a:latin typeface="Consolas" pitchFamily="34" charset="0"/>
                <a:ea typeface="Consolas" pitchFamily="34" charset="-122"/>
                <a:cs typeface="Consolas" pitchFamily="34" charset="-120"/>
              </a:rPr>
              <a:t>TEAM LEAD</a:t>
            </a:r>
            <a:endParaRPr lang="en-US" sz="800" dirty="0"/>
          </a:p>
        </p:txBody>
      </p:sp>
      <p:sp>
        <p:nvSpPr>
          <p:cNvPr id="15" name="Text 13"/>
          <p:cNvSpPr/>
          <p:nvPr/>
        </p:nvSpPr>
        <p:spPr>
          <a:xfrm>
            <a:off x="475488" y="2834640"/>
            <a:ext cx="1847088" cy="329184"/>
          </a:xfrm>
          <a:prstGeom prst="rect">
            <a:avLst/>
          </a:prstGeom>
          <a:noFill/>
          <a:ln/>
        </p:spPr>
        <p:txBody>
          <a:bodyPr wrap="square" rtlCol="0" anchor="ctr"/>
          <a:lstStyle/>
          <a:p>
            <a:pPr algn="ctr" indent="0" marL="0">
              <a:buNone/>
            </a:pPr>
            <a:r>
              <a:rPr lang="en-US" sz="1200" b="1" dirty="0">
                <a:solidFill>
                  <a:srgbClr val="1E1B4B"/>
                </a:solidFill>
                <a:latin typeface="Calibri" pitchFamily="34" charset="0"/>
                <a:ea typeface="Calibri" pitchFamily="34" charset="-122"/>
                <a:cs typeface="Calibri" pitchFamily="34" charset="-120"/>
              </a:rPr>
              <a:t>Ajay Kushwaha</a:t>
            </a:r>
            <a:endParaRPr lang="en-US" sz="1200" dirty="0"/>
          </a:p>
        </p:txBody>
      </p:sp>
      <p:sp>
        <p:nvSpPr>
          <p:cNvPr id="16" name="Text 14"/>
          <p:cNvSpPr/>
          <p:nvPr/>
        </p:nvSpPr>
        <p:spPr>
          <a:xfrm>
            <a:off x="475488" y="3163824"/>
            <a:ext cx="1847088" cy="310896"/>
          </a:xfrm>
          <a:prstGeom prst="rect">
            <a:avLst/>
          </a:prstGeom>
          <a:noFill/>
          <a:ln/>
        </p:spPr>
        <p:txBody>
          <a:bodyPr wrap="square" rtlCol="0" anchor="ctr"/>
          <a:lstStyle/>
          <a:p>
            <a:pPr algn="ctr" indent="0" marL="0">
              <a:buNone/>
            </a:pPr>
            <a:r>
              <a:rPr lang="en-US" sz="900" i="1" dirty="0">
                <a:solidFill>
                  <a:srgbClr val="7C3AED"/>
                </a:solidFill>
                <a:latin typeface="Calibri" pitchFamily="34" charset="0"/>
                <a:ea typeface="Calibri" pitchFamily="34" charset="-122"/>
                <a:cs typeface="Calibri" pitchFamily="34" charset="-120"/>
              </a:rPr>
              <a:t>Project Lead &amp; Full-Stack Developer</a:t>
            </a:r>
            <a:endParaRPr lang="en-US" sz="900" dirty="0"/>
          </a:p>
        </p:txBody>
      </p:sp>
      <p:sp>
        <p:nvSpPr>
          <p:cNvPr id="17" name="Shape 15"/>
          <p:cNvSpPr/>
          <p:nvPr/>
        </p:nvSpPr>
        <p:spPr>
          <a:xfrm>
            <a:off x="512064" y="3529584"/>
            <a:ext cx="1773936" cy="0"/>
          </a:xfrm>
          <a:prstGeom prst="line">
            <a:avLst/>
          </a:prstGeom>
          <a:noFill/>
          <a:ln w="12700">
            <a:solidFill>
              <a:srgbClr val="E5E7EB"/>
            </a:solidFill>
            <a:prstDash val="solid"/>
          </a:ln>
        </p:spPr>
      </p:sp>
      <p:sp>
        <p:nvSpPr>
          <p:cNvPr id="18" name="Text 16"/>
          <p:cNvSpPr/>
          <p:nvPr/>
        </p:nvSpPr>
        <p:spPr>
          <a:xfrm>
            <a:off x="493776" y="3602736"/>
            <a:ext cx="1810512" cy="1024128"/>
          </a:xfrm>
          <a:prstGeom prst="rect">
            <a:avLst/>
          </a:prstGeom>
          <a:noFill/>
          <a:ln/>
        </p:spPr>
        <p:txBody>
          <a:bodyPr wrap="square" rtlCol="0" anchor="ctr"/>
          <a:lstStyle/>
          <a:p>
            <a:pPr algn="ctr" indent="0" marL="0">
              <a:lnSpc>
                <a:spcPct val="135000"/>
              </a:lnSpc>
              <a:buNone/>
            </a:pPr>
            <a:r>
              <a:rPr lang="en-US" sz="850" dirty="0">
                <a:solidFill>
                  <a:srgbClr val="374151"/>
                </a:solidFill>
                <a:latin typeface="Calibri" pitchFamily="34" charset="0"/>
                <a:ea typeface="Calibri" pitchFamily="34" charset="-122"/>
                <a:cs typeface="Calibri" pitchFamily="34" charset="-120"/>
              </a:rPr>
              <a:t>Architected the entire CodePilot platform — Claude AI melody engine, Tone.js synthesizer, Vercel serverless proxy, multi-page SPA routing, responsive layout system, and all core JavaScript logic.</a:t>
            </a:r>
            <a:endParaRPr lang="en-US" sz="850" dirty="0"/>
          </a:p>
        </p:txBody>
      </p:sp>
      <p:sp>
        <p:nvSpPr>
          <p:cNvPr id="19" name="Shape 17"/>
          <p:cNvSpPr/>
          <p:nvPr/>
        </p:nvSpPr>
        <p:spPr>
          <a:xfrm>
            <a:off x="2560320" y="1353312"/>
            <a:ext cx="2029968" cy="33649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20" name="Shape 18"/>
          <p:cNvSpPr/>
          <p:nvPr/>
        </p:nvSpPr>
        <p:spPr>
          <a:xfrm>
            <a:off x="2560320" y="1353312"/>
            <a:ext cx="2029968" cy="54864"/>
          </a:xfrm>
          <a:prstGeom prst="rect">
            <a:avLst/>
          </a:prstGeom>
          <a:solidFill>
            <a:srgbClr val="DB2777"/>
          </a:solidFill>
          <a:ln w="12700">
            <a:solidFill>
              <a:srgbClr val="DB2777"/>
            </a:solidFill>
            <a:prstDash val="solid"/>
          </a:ln>
        </p:spPr>
      </p:sp>
      <p:sp>
        <p:nvSpPr>
          <p:cNvPr id="21" name="Shape 19"/>
          <p:cNvSpPr/>
          <p:nvPr/>
        </p:nvSpPr>
        <p:spPr>
          <a:xfrm>
            <a:off x="3136392" y="1554480"/>
            <a:ext cx="877824" cy="877824"/>
          </a:xfrm>
          <a:prstGeom prst="ellipse">
            <a:avLst/>
          </a:prstGeom>
          <a:solidFill>
            <a:srgbClr val="DB2777"/>
          </a:solidFill>
          <a:ln w="12700">
            <a:solidFill>
              <a:srgbClr val="DB2777"/>
            </a:solidFill>
            <a:prstDash val="solid"/>
          </a:ln>
          <a:effectLst>
            <a:outerShdw sx="100000" sy="100000" kx="0" ky="0" algn="bl" rotWithShape="0" blurRad="101600" dist="25400" dir="8100000">
              <a:srgbClr val="000000">
                <a:alpha val="18000"/>
              </a:srgbClr>
            </a:outerShdw>
          </a:effectLst>
        </p:spPr>
      </p:sp>
      <p:sp>
        <p:nvSpPr>
          <p:cNvPr id="22" name="Text 20"/>
          <p:cNvSpPr/>
          <p:nvPr/>
        </p:nvSpPr>
        <p:spPr>
          <a:xfrm>
            <a:off x="3136392" y="1554480"/>
            <a:ext cx="877824" cy="8778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FU</a:t>
            </a:r>
            <a:endParaRPr lang="en-US" sz="1800" dirty="0"/>
          </a:p>
        </p:txBody>
      </p:sp>
      <p:sp>
        <p:nvSpPr>
          <p:cNvPr id="23" name="Shape 21"/>
          <p:cNvSpPr/>
          <p:nvPr/>
        </p:nvSpPr>
        <p:spPr>
          <a:xfrm>
            <a:off x="2688336" y="2523744"/>
            <a:ext cx="1773936" cy="237744"/>
          </a:xfrm>
          <a:prstGeom prst="roundRect">
            <a:avLst>
              <a:gd name="adj" fmla="val 15385"/>
            </a:avLst>
          </a:prstGeom>
          <a:solidFill>
            <a:srgbClr val="DB2777">
              <a:alpha val="15000"/>
            </a:srgbClr>
          </a:solidFill>
          <a:ln w="12700">
            <a:solidFill>
              <a:srgbClr val="DB2777"/>
            </a:solidFill>
            <a:prstDash val="solid"/>
          </a:ln>
        </p:spPr>
      </p:sp>
      <p:sp>
        <p:nvSpPr>
          <p:cNvPr id="24" name="Text 22"/>
          <p:cNvSpPr/>
          <p:nvPr/>
        </p:nvSpPr>
        <p:spPr>
          <a:xfrm>
            <a:off x="2688336" y="2523744"/>
            <a:ext cx="1773936" cy="237744"/>
          </a:xfrm>
          <a:prstGeom prst="rect">
            <a:avLst/>
          </a:prstGeom>
          <a:noFill/>
          <a:ln/>
        </p:spPr>
        <p:txBody>
          <a:bodyPr wrap="square" lIns="0" tIns="0" rIns="0" bIns="0" rtlCol="0" anchor="ctr"/>
          <a:lstStyle/>
          <a:p>
            <a:pPr algn="ctr" indent="0" marL="0">
              <a:buNone/>
            </a:pPr>
            <a:r>
              <a:rPr lang="en-US" sz="800" b="1" spc="100" kern="0" dirty="0">
                <a:solidFill>
                  <a:srgbClr val="DB2777"/>
                </a:solidFill>
                <a:latin typeface="Consolas" pitchFamily="34" charset="0"/>
                <a:ea typeface="Consolas" pitchFamily="34" charset="-122"/>
                <a:cs typeface="Consolas" pitchFamily="34" charset="-120"/>
              </a:rPr>
              <a:t>FRONTEND</a:t>
            </a:r>
            <a:endParaRPr lang="en-US" sz="800" dirty="0"/>
          </a:p>
        </p:txBody>
      </p:sp>
      <p:sp>
        <p:nvSpPr>
          <p:cNvPr id="25" name="Text 23"/>
          <p:cNvSpPr/>
          <p:nvPr/>
        </p:nvSpPr>
        <p:spPr>
          <a:xfrm>
            <a:off x="2651760" y="2834640"/>
            <a:ext cx="1847088" cy="329184"/>
          </a:xfrm>
          <a:prstGeom prst="rect">
            <a:avLst/>
          </a:prstGeom>
          <a:noFill/>
          <a:ln/>
        </p:spPr>
        <p:txBody>
          <a:bodyPr wrap="square" rtlCol="0" anchor="ctr"/>
          <a:lstStyle/>
          <a:p>
            <a:pPr algn="ctr" indent="0" marL="0">
              <a:buNone/>
            </a:pPr>
            <a:r>
              <a:rPr lang="en-US" sz="1200" b="1" dirty="0">
                <a:solidFill>
                  <a:srgbClr val="1E1B4B"/>
                </a:solidFill>
                <a:latin typeface="Calibri" pitchFamily="34" charset="0"/>
                <a:ea typeface="Calibri" pitchFamily="34" charset="-122"/>
                <a:cs typeface="Calibri" pitchFamily="34" charset="-120"/>
              </a:rPr>
              <a:t>Foram Upadhyay</a:t>
            </a:r>
            <a:endParaRPr lang="en-US" sz="1200" dirty="0"/>
          </a:p>
        </p:txBody>
      </p:sp>
      <p:sp>
        <p:nvSpPr>
          <p:cNvPr id="26" name="Text 24"/>
          <p:cNvSpPr/>
          <p:nvPr/>
        </p:nvSpPr>
        <p:spPr>
          <a:xfrm>
            <a:off x="2651760" y="3163824"/>
            <a:ext cx="1847088" cy="310896"/>
          </a:xfrm>
          <a:prstGeom prst="rect">
            <a:avLst/>
          </a:prstGeom>
          <a:noFill/>
          <a:ln/>
        </p:spPr>
        <p:txBody>
          <a:bodyPr wrap="square" rtlCol="0" anchor="ctr"/>
          <a:lstStyle/>
          <a:p>
            <a:pPr algn="ctr" indent="0" marL="0">
              <a:buNone/>
            </a:pPr>
            <a:r>
              <a:rPr lang="en-US" sz="900" i="1" dirty="0">
                <a:solidFill>
                  <a:srgbClr val="DB2777"/>
                </a:solidFill>
                <a:latin typeface="Calibri" pitchFamily="34" charset="0"/>
                <a:ea typeface="Calibri" pitchFamily="34" charset="-122"/>
                <a:cs typeface="Calibri" pitchFamily="34" charset="-120"/>
              </a:rPr>
              <a:t>UI/UX &amp; Frontend Developer</a:t>
            </a:r>
            <a:endParaRPr lang="en-US" sz="900" dirty="0"/>
          </a:p>
        </p:txBody>
      </p:sp>
      <p:sp>
        <p:nvSpPr>
          <p:cNvPr id="27" name="Shape 25"/>
          <p:cNvSpPr/>
          <p:nvPr/>
        </p:nvSpPr>
        <p:spPr>
          <a:xfrm>
            <a:off x="2688336" y="3529584"/>
            <a:ext cx="1773936" cy="0"/>
          </a:xfrm>
          <a:prstGeom prst="line">
            <a:avLst/>
          </a:prstGeom>
          <a:noFill/>
          <a:ln w="12700">
            <a:solidFill>
              <a:srgbClr val="E5E7EB"/>
            </a:solidFill>
            <a:prstDash val="solid"/>
          </a:ln>
        </p:spPr>
      </p:sp>
      <p:sp>
        <p:nvSpPr>
          <p:cNvPr id="28" name="Text 26"/>
          <p:cNvSpPr/>
          <p:nvPr/>
        </p:nvSpPr>
        <p:spPr>
          <a:xfrm>
            <a:off x="2670048" y="3602736"/>
            <a:ext cx="1810512" cy="1024128"/>
          </a:xfrm>
          <a:prstGeom prst="rect">
            <a:avLst/>
          </a:prstGeom>
          <a:noFill/>
          <a:ln/>
        </p:spPr>
        <p:txBody>
          <a:bodyPr wrap="square" rtlCol="0" anchor="ctr"/>
          <a:lstStyle/>
          <a:p>
            <a:pPr algn="ctr" indent="0" marL="0">
              <a:lnSpc>
                <a:spcPct val="135000"/>
              </a:lnSpc>
              <a:buNone/>
            </a:pPr>
            <a:r>
              <a:rPr lang="en-US" sz="850" dirty="0">
                <a:solidFill>
                  <a:srgbClr val="374151"/>
                </a:solidFill>
                <a:latin typeface="Calibri" pitchFamily="34" charset="0"/>
                <a:ea typeface="Calibri" pitchFamily="34" charset="-122"/>
                <a:cs typeface="Calibri" pitchFamily="34" charset="-120"/>
              </a:rPr>
              <a:t>Designed and built the responsive visual system — multi-theme engine (Dark/Light/Mystic), animated waveform UI, interactive feedback components, and mobile-first layout across all screen sizes.</a:t>
            </a:r>
            <a:endParaRPr lang="en-US" sz="850" dirty="0"/>
          </a:p>
        </p:txBody>
      </p:sp>
      <p:sp>
        <p:nvSpPr>
          <p:cNvPr id="29" name="Shape 27"/>
          <p:cNvSpPr/>
          <p:nvPr/>
        </p:nvSpPr>
        <p:spPr>
          <a:xfrm>
            <a:off x="4736592" y="1353312"/>
            <a:ext cx="2029968" cy="33649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30" name="Shape 28"/>
          <p:cNvSpPr/>
          <p:nvPr/>
        </p:nvSpPr>
        <p:spPr>
          <a:xfrm>
            <a:off x="4736592" y="1353312"/>
            <a:ext cx="2029968" cy="54864"/>
          </a:xfrm>
          <a:prstGeom prst="rect">
            <a:avLst/>
          </a:prstGeom>
          <a:solidFill>
            <a:srgbClr val="0891B2"/>
          </a:solidFill>
          <a:ln w="12700">
            <a:solidFill>
              <a:srgbClr val="0891B2"/>
            </a:solidFill>
            <a:prstDash val="solid"/>
          </a:ln>
        </p:spPr>
      </p:sp>
      <p:sp>
        <p:nvSpPr>
          <p:cNvPr id="31" name="Shape 29"/>
          <p:cNvSpPr/>
          <p:nvPr/>
        </p:nvSpPr>
        <p:spPr>
          <a:xfrm>
            <a:off x="5312664" y="1554480"/>
            <a:ext cx="877824" cy="877824"/>
          </a:xfrm>
          <a:prstGeom prst="ellipse">
            <a:avLst/>
          </a:prstGeom>
          <a:solidFill>
            <a:srgbClr val="0891B2"/>
          </a:solidFill>
          <a:ln w="12700">
            <a:solidFill>
              <a:srgbClr val="0891B2"/>
            </a:solidFill>
            <a:prstDash val="solid"/>
          </a:ln>
          <a:effectLst>
            <a:outerShdw sx="100000" sy="100000" kx="0" ky="0" algn="bl" rotWithShape="0" blurRad="101600" dist="25400" dir="8100000">
              <a:srgbClr val="000000">
                <a:alpha val="18000"/>
              </a:srgbClr>
            </a:outerShdw>
          </a:effectLst>
        </p:spPr>
      </p:sp>
      <p:sp>
        <p:nvSpPr>
          <p:cNvPr id="32" name="Text 30"/>
          <p:cNvSpPr/>
          <p:nvPr/>
        </p:nvSpPr>
        <p:spPr>
          <a:xfrm>
            <a:off x="5312664" y="1554480"/>
            <a:ext cx="877824" cy="8778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KZ</a:t>
            </a:r>
            <a:endParaRPr lang="en-US" sz="1800" dirty="0"/>
          </a:p>
        </p:txBody>
      </p:sp>
      <p:sp>
        <p:nvSpPr>
          <p:cNvPr id="33" name="Shape 31"/>
          <p:cNvSpPr/>
          <p:nvPr/>
        </p:nvSpPr>
        <p:spPr>
          <a:xfrm>
            <a:off x="4864608" y="2523744"/>
            <a:ext cx="1773936" cy="237744"/>
          </a:xfrm>
          <a:prstGeom prst="roundRect">
            <a:avLst>
              <a:gd name="adj" fmla="val 15385"/>
            </a:avLst>
          </a:prstGeom>
          <a:solidFill>
            <a:srgbClr val="0891B2">
              <a:alpha val="15000"/>
            </a:srgbClr>
          </a:solidFill>
          <a:ln w="12700">
            <a:solidFill>
              <a:srgbClr val="0891B2"/>
            </a:solidFill>
            <a:prstDash val="solid"/>
          </a:ln>
        </p:spPr>
      </p:sp>
      <p:sp>
        <p:nvSpPr>
          <p:cNvPr id="34" name="Text 32"/>
          <p:cNvSpPr/>
          <p:nvPr/>
        </p:nvSpPr>
        <p:spPr>
          <a:xfrm>
            <a:off x="4864608" y="2523744"/>
            <a:ext cx="1773936" cy="237744"/>
          </a:xfrm>
          <a:prstGeom prst="rect">
            <a:avLst/>
          </a:prstGeom>
          <a:noFill/>
          <a:ln/>
        </p:spPr>
        <p:txBody>
          <a:bodyPr wrap="square" lIns="0" tIns="0" rIns="0" bIns="0" rtlCol="0" anchor="ctr"/>
          <a:lstStyle/>
          <a:p>
            <a:pPr algn="ctr" indent="0" marL="0">
              <a:buNone/>
            </a:pPr>
            <a:r>
              <a:rPr lang="en-US" sz="800" b="1" spc="100" kern="0" dirty="0">
                <a:solidFill>
                  <a:srgbClr val="0891B2"/>
                </a:solidFill>
                <a:latin typeface="Consolas" pitchFamily="34" charset="0"/>
                <a:ea typeface="Consolas" pitchFamily="34" charset="-122"/>
                <a:cs typeface="Consolas" pitchFamily="34" charset="-120"/>
              </a:rPr>
              <a:t>AUDIO</a:t>
            </a:r>
            <a:endParaRPr lang="en-US" sz="800" dirty="0"/>
          </a:p>
        </p:txBody>
      </p:sp>
      <p:sp>
        <p:nvSpPr>
          <p:cNvPr id="35" name="Text 33"/>
          <p:cNvSpPr/>
          <p:nvPr/>
        </p:nvSpPr>
        <p:spPr>
          <a:xfrm>
            <a:off x="4828032" y="2834640"/>
            <a:ext cx="1847088" cy="329184"/>
          </a:xfrm>
          <a:prstGeom prst="rect">
            <a:avLst/>
          </a:prstGeom>
          <a:noFill/>
          <a:ln/>
        </p:spPr>
        <p:txBody>
          <a:bodyPr wrap="square" rtlCol="0" anchor="ctr"/>
          <a:lstStyle/>
          <a:p>
            <a:pPr algn="ctr" indent="0" marL="0">
              <a:buNone/>
            </a:pPr>
            <a:r>
              <a:rPr lang="en-US" sz="1200" b="1" dirty="0">
                <a:solidFill>
                  <a:srgbClr val="1E1B4B"/>
                </a:solidFill>
                <a:latin typeface="Calibri" pitchFamily="34" charset="0"/>
                <a:ea typeface="Calibri" pitchFamily="34" charset="-122"/>
                <a:cs typeface="Calibri" pitchFamily="34" charset="-120"/>
              </a:rPr>
              <a:t>Kaushal Zala</a:t>
            </a:r>
            <a:endParaRPr lang="en-US" sz="1200" dirty="0"/>
          </a:p>
        </p:txBody>
      </p:sp>
      <p:sp>
        <p:nvSpPr>
          <p:cNvPr id="36" name="Text 34"/>
          <p:cNvSpPr/>
          <p:nvPr/>
        </p:nvSpPr>
        <p:spPr>
          <a:xfrm>
            <a:off x="4828032" y="3163824"/>
            <a:ext cx="1847088" cy="310896"/>
          </a:xfrm>
          <a:prstGeom prst="rect">
            <a:avLst/>
          </a:prstGeom>
          <a:noFill/>
          <a:ln/>
        </p:spPr>
        <p:txBody>
          <a:bodyPr wrap="square" rtlCol="0" anchor="ctr"/>
          <a:lstStyle/>
          <a:p>
            <a:pPr algn="ctr" indent="0" marL="0">
              <a:buNone/>
            </a:pPr>
            <a:r>
              <a:rPr lang="en-US" sz="900" i="1" dirty="0">
                <a:solidFill>
                  <a:srgbClr val="0891B2"/>
                </a:solidFill>
                <a:latin typeface="Calibri" pitchFamily="34" charset="0"/>
                <a:ea typeface="Calibri" pitchFamily="34" charset="-122"/>
                <a:cs typeface="Calibri" pitchFamily="34" charset="-120"/>
              </a:rPr>
              <a:t>Audio Engineer &amp; Sound Designer</a:t>
            </a:r>
            <a:endParaRPr lang="en-US" sz="900" dirty="0"/>
          </a:p>
        </p:txBody>
      </p:sp>
      <p:sp>
        <p:nvSpPr>
          <p:cNvPr id="37" name="Shape 35"/>
          <p:cNvSpPr/>
          <p:nvPr/>
        </p:nvSpPr>
        <p:spPr>
          <a:xfrm>
            <a:off x="4864608" y="3529584"/>
            <a:ext cx="1773936" cy="0"/>
          </a:xfrm>
          <a:prstGeom prst="line">
            <a:avLst/>
          </a:prstGeom>
          <a:noFill/>
          <a:ln w="12700">
            <a:solidFill>
              <a:srgbClr val="E5E7EB"/>
            </a:solidFill>
            <a:prstDash val="solid"/>
          </a:ln>
        </p:spPr>
      </p:sp>
      <p:sp>
        <p:nvSpPr>
          <p:cNvPr id="38" name="Text 36"/>
          <p:cNvSpPr/>
          <p:nvPr/>
        </p:nvSpPr>
        <p:spPr>
          <a:xfrm>
            <a:off x="4846320" y="3602736"/>
            <a:ext cx="1810512" cy="1024128"/>
          </a:xfrm>
          <a:prstGeom prst="rect">
            <a:avLst/>
          </a:prstGeom>
          <a:noFill/>
          <a:ln/>
        </p:spPr>
        <p:txBody>
          <a:bodyPr wrap="square" rtlCol="0" anchor="ctr"/>
          <a:lstStyle/>
          <a:p>
            <a:pPr algn="ctr" indent="0" marL="0">
              <a:lnSpc>
                <a:spcPct val="135000"/>
              </a:lnSpc>
              <a:buNone/>
            </a:pPr>
            <a:r>
              <a:rPr lang="en-US" sz="850" dirty="0">
                <a:solidFill>
                  <a:srgbClr val="374151"/>
                </a:solidFill>
                <a:latin typeface="Calibri" pitchFamily="34" charset="0"/>
                <a:ea typeface="Calibri" pitchFamily="34" charset="-122"/>
                <a:cs typeface="Calibri" pitchFamily="34" charset="-120"/>
              </a:rPr>
              <a:t>Engineered the complete sound synthesis pipeline and therapy audio system. Tuned every reverb, chorus, and EQ setting across all 5 instrument modes for professional-grade audio quality.</a:t>
            </a:r>
            <a:endParaRPr lang="en-US" sz="850" dirty="0"/>
          </a:p>
        </p:txBody>
      </p:sp>
      <p:sp>
        <p:nvSpPr>
          <p:cNvPr id="39" name="Shape 37"/>
          <p:cNvSpPr/>
          <p:nvPr/>
        </p:nvSpPr>
        <p:spPr>
          <a:xfrm>
            <a:off x="6912864" y="1353312"/>
            <a:ext cx="2029968" cy="336499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8000"/>
              </a:srgbClr>
            </a:outerShdw>
          </a:effectLst>
        </p:spPr>
      </p:sp>
      <p:sp>
        <p:nvSpPr>
          <p:cNvPr id="40" name="Shape 38"/>
          <p:cNvSpPr/>
          <p:nvPr/>
        </p:nvSpPr>
        <p:spPr>
          <a:xfrm>
            <a:off x="6912864" y="1353312"/>
            <a:ext cx="2029968" cy="54864"/>
          </a:xfrm>
          <a:prstGeom prst="rect">
            <a:avLst/>
          </a:prstGeom>
          <a:solidFill>
            <a:srgbClr val="059669"/>
          </a:solidFill>
          <a:ln w="12700">
            <a:solidFill>
              <a:srgbClr val="059669"/>
            </a:solidFill>
            <a:prstDash val="solid"/>
          </a:ln>
        </p:spPr>
      </p:sp>
      <p:sp>
        <p:nvSpPr>
          <p:cNvPr id="41" name="Shape 39"/>
          <p:cNvSpPr/>
          <p:nvPr/>
        </p:nvSpPr>
        <p:spPr>
          <a:xfrm>
            <a:off x="7488936" y="1554480"/>
            <a:ext cx="877824" cy="877824"/>
          </a:xfrm>
          <a:prstGeom prst="ellipse">
            <a:avLst/>
          </a:prstGeom>
          <a:solidFill>
            <a:srgbClr val="059669"/>
          </a:solidFill>
          <a:ln w="12700">
            <a:solidFill>
              <a:srgbClr val="059669"/>
            </a:solidFill>
            <a:prstDash val="solid"/>
          </a:ln>
          <a:effectLst>
            <a:outerShdw sx="100000" sy="100000" kx="0" ky="0" algn="bl" rotWithShape="0" blurRad="101600" dist="25400" dir="8100000">
              <a:srgbClr val="000000">
                <a:alpha val="18000"/>
              </a:srgbClr>
            </a:outerShdw>
          </a:effectLst>
        </p:spPr>
      </p:sp>
      <p:sp>
        <p:nvSpPr>
          <p:cNvPr id="42" name="Text 40"/>
          <p:cNvSpPr/>
          <p:nvPr/>
        </p:nvSpPr>
        <p:spPr>
          <a:xfrm>
            <a:off x="7488936" y="1554480"/>
            <a:ext cx="877824" cy="8778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RS</a:t>
            </a:r>
            <a:endParaRPr lang="en-US" sz="1800" dirty="0"/>
          </a:p>
        </p:txBody>
      </p:sp>
      <p:sp>
        <p:nvSpPr>
          <p:cNvPr id="43" name="Shape 41"/>
          <p:cNvSpPr/>
          <p:nvPr/>
        </p:nvSpPr>
        <p:spPr>
          <a:xfrm>
            <a:off x="7040880" y="2523744"/>
            <a:ext cx="1773936" cy="237744"/>
          </a:xfrm>
          <a:prstGeom prst="roundRect">
            <a:avLst>
              <a:gd name="adj" fmla="val 15385"/>
            </a:avLst>
          </a:prstGeom>
          <a:solidFill>
            <a:srgbClr val="059669">
              <a:alpha val="15000"/>
            </a:srgbClr>
          </a:solidFill>
          <a:ln w="12700">
            <a:solidFill>
              <a:srgbClr val="059669"/>
            </a:solidFill>
            <a:prstDash val="solid"/>
          </a:ln>
        </p:spPr>
      </p:sp>
      <p:sp>
        <p:nvSpPr>
          <p:cNvPr id="44" name="Text 42"/>
          <p:cNvSpPr/>
          <p:nvPr/>
        </p:nvSpPr>
        <p:spPr>
          <a:xfrm>
            <a:off x="7040880" y="2523744"/>
            <a:ext cx="1773936" cy="237744"/>
          </a:xfrm>
          <a:prstGeom prst="rect">
            <a:avLst/>
          </a:prstGeom>
          <a:noFill/>
          <a:ln/>
        </p:spPr>
        <p:txBody>
          <a:bodyPr wrap="square" lIns="0" tIns="0" rIns="0" bIns="0" rtlCol="0" anchor="ctr"/>
          <a:lstStyle/>
          <a:p>
            <a:pPr algn="ctr" indent="0" marL="0">
              <a:buNone/>
            </a:pPr>
            <a:r>
              <a:rPr lang="en-US" sz="800" b="1" spc="100" kern="0" dirty="0">
                <a:solidFill>
                  <a:srgbClr val="059669"/>
                </a:solidFill>
                <a:latin typeface="Consolas" pitchFamily="34" charset="0"/>
                <a:ea typeface="Consolas" pitchFamily="34" charset="-122"/>
                <a:cs typeface="Consolas" pitchFamily="34" charset="-120"/>
              </a:rPr>
              <a:t>AI / RESEARCH</a:t>
            </a:r>
            <a:endParaRPr lang="en-US" sz="800" dirty="0"/>
          </a:p>
        </p:txBody>
      </p:sp>
      <p:sp>
        <p:nvSpPr>
          <p:cNvPr id="45" name="Text 43"/>
          <p:cNvSpPr/>
          <p:nvPr/>
        </p:nvSpPr>
        <p:spPr>
          <a:xfrm>
            <a:off x="7004304" y="2834640"/>
            <a:ext cx="1847088" cy="329184"/>
          </a:xfrm>
          <a:prstGeom prst="rect">
            <a:avLst/>
          </a:prstGeom>
          <a:noFill/>
          <a:ln/>
        </p:spPr>
        <p:txBody>
          <a:bodyPr wrap="square" rtlCol="0" anchor="ctr"/>
          <a:lstStyle/>
          <a:p>
            <a:pPr algn="ctr" indent="0" marL="0">
              <a:buNone/>
            </a:pPr>
            <a:r>
              <a:rPr lang="en-US" sz="1200" b="1" dirty="0">
                <a:solidFill>
                  <a:srgbClr val="1E1B4B"/>
                </a:solidFill>
                <a:latin typeface="Calibri" pitchFamily="34" charset="0"/>
                <a:ea typeface="Calibri" pitchFamily="34" charset="-122"/>
                <a:cs typeface="Calibri" pitchFamily="34" charset="-120"/>
              </a:rPr>
              <a:t>Riya Sakariya</a:t>
            </a:r>
            <a:endParaRPr lang="en-US" sz="1200" dirty="0"/>
          </a:p>
        </p:txBody>
      </p:sp>
      <p:sp>
        <p:nvSpPr>
          <p:cNvPr id="46" name="Text 44"/>
          <p:cNvSpPr/>
          <p:nvPr/>
        </p:nvSpPr>
        <p:spPr>
          <a:xfrm>
            <a:off x="7004304" y="3163824"/>
            <a:ext cx="1847088" cy="310896"/>
          </a:xfrm>
          <a:prstGeom prst="rect">
            <a:avLst/>
          </a:prstGeom>
          <a:noFill/>
          <a:ln/>
        </p:spPr>
        <p:txBody>
          <a:bodyPr wrap="square" rtlCol="0" anchor="ctr"/>
          <a:lstStyle/>
          <a:p>
            <a:pPr algn="ctr" indent="0" marL="0">
              <a:buNone/>
            </a:pPr>
            <a:r>
              <a:rPr lang="en-US" sz="900" i="1" dirty="0">
                <a:solidFill>
                  <a:srgbClr val="059669"/>
                </a:solidFill>
                <a:latin typeface="Calibri" pitchFamily="34" charset="0"/>
                <a:ea typeface="Calibri" pitchFamily="34" charset="-122"/>
                <a:cs typeface="Calibri" pitchFamily="34" charset="-120"/>
              </a:rPr>
              <a:t>AI Integration &amp; Research</a:t>
            </a:r>
            <a:endParaRPr lang="en-US" sz="900" dirty="0"/>
          </a:p>
        </p:txBody>
      </p:sp>
      <p:sp>
        <p:nvSpPr>
          <p:cNvPr id="47" name="Shape 45"/>
          <p:cNvSpPr/>
          <p:nvPr/>
        </p:nvSpPr>
        <p:spPr>
          <a:xfrm>
            <a:off x="7040880" y="3529584"/>
            <a:ext cx="1773936" cy="0"/>
          </a:xfrm>
          <a:prstGeom prst="line">
            <a:avLst/>
          </a:prstGeom>
          <a:noFill/>
          <a:ln w="12700">
            <a:solidFill>
              <a:srgbClr val="E5E7EB"/>
            </a:solidFill>
            <a:prstDash val="solid"/>
          </a:ln>
        </p:spPr>
      </p:sp>
      <p:sp>
        <p:nvSpPr>
          <p:cNvPr id="48" name="Text 46"/>
          <p:cNvSpPr/>
          <p:nvPr/>
        </p:nvSpPr>
        <p:spPr>
          <a:xfrm>
            <a:off x="7022592" y="3602736"/>
            <a:ext cx="1810512" cy="1024128"/>
          </a:xfrm>
          <a:prstGeom prst="rect">
            <a:avLst/>
          </a:prstGeom>
          <a:noFill/>
          <a:ln/>
        </p:spPr>
        <p:txBody>
          <a:bodyPr wrap="square" rtlCol="0" anchor="ctr"/>
          <a:lstStyle/>
          <a:p>
            <a:pPr algn="ctr" indent="0" marL="0">
              <a:lnSpc>
                <a:spcPct val="135000"/>
              </a:lnSpc>
              <a:buNone/>
            </a:pPr>
            <a:r>
              <a:rPr lang="en-US" sz="850" dirty="0">
                <a:solidFill>
                  <a:srgbClr val="374151"/>
                </a:solidFill>
                <a:latin typeface="Calibri" pitchFamily="34" charset="0"/>
                <a:ea typeface="Calibri" pitchFamily="34" charset="-122"/>
                <a:cs typeface="Calibri" pitchFamily="34" charset="-120"/>
              </a:rPr>
              <a:t>Led Claude AI integration and prompt engineering for melody generation. Researched scientific principles of sound therapy to ensure Binaural Beats and Tibetan Bowl modes reflect real therapeutic practice.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B21B6"/>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4C1D95"/>
          </a:solidFill>
          <a:ln w="12700">
            <a:solidFill>
              <a:srgbClr val="4C1D95"/>
            </a:solidFill>
            <a:prstDash val="solid"/>
          </a:ln>
        </p:spPr>
      </p:sp>
      <p:sp>
        <p:nvSpPr>
          <p:cNvPr id="3" name="Shape 1"/>
          <p:cNvSpPr/>
          <p:nvPr/>
        </p:nvSpPr>
        <p:spPr>
          <a:xfrm>
            <a:off x="6080760" y="0"/>
            <a:ext cx="137160" cy="5143500"/>
          </a:xfrm>
          <a:prstGeom prst="rect">
            <a:avLst/>
          </a:prstGeom>
          <a:solidFill>
            <a:srgbClr val="059669"/>
          </a:solidFill>
          <a:ln w="12700">
            <a:solidFill>
              <a:srgbClr val="059669"/>
            </a:solidFill>
            <a:prstDash val="solid"/>
          </a:ln>
        </p:spPr>
      </p:sp>
      <p:sp>
        <p:nvSpPr>
          <p:cNvPr id="4" name="Shape 2"/>
          <p:cNvSpPr/>
          <p:nvPr/>
        </p:nvSpPr>
        <p:spPr>
          <a:xfrm>
            <a:off x="6400800" y="274320"/>
            <a:ext cx="2377440" cy="2377440"/>
          </a:xfrm>
          <a:prstGeom prst="ellipse">
            <a:avLst/>
          </a:prstGeom>
          <a:solidFill>
            <a:srgbClr val="6D28D9">
              <a:alpha val="45000"/>
            </a:srgbClr>
          </a:solidFill>
          <a:ln w="12700">
            <a:solidFill>
              <a:srgbClr val="6D28D9"/>
            </a:solidFill>
            <a:prstDash val="solid"/>
          </a:ln>
        </p:spPr>
      </p:sp>
      <p:sp>
        <p:nvSpPr>
          <p:cNvPr id="5" name="Shape 3"/>
          <p:cNvSpPr/>
          <p:nvPr/>
        </p:nvSpPr>
        <p:spPr>
          <a:xfrm>
            <a:off x="6858000" y="2743200"/>
            <a:ext cx="1645920" cy="1645920"/>
          </a:xfrm>
          <a:prstGeom prst="ellipse">
            <a:avLst/>
          </a:prstGeom>
          <a:solidFill>
            <a:srgbClr val="059669">
              <a:alpha val="30000"/>
            </a:srgbClr>
          </a:solidFill>
          <a:ln w="12700">
            <a:solidFill>
              <a:srgbClr val="059669"/>
            </a:solidFill>
            <a:prstDash val="solid"/>
          </a:ln>
        </p:spPr>
      </p:sp>
      <p:sp>
        <p:nvSpPr>
          <p:cNvPr id="6" name="Text 4"/>
          <p:cNvSpPr/>
          <p:nvPr/>
        </p:nvSpPr>
        <p:spPr>
          <a:xfrm>
            <a:off x="457200" y="502920"/>
            <a:ext cx="5394960" cy="1188720"/>
          </a:xfrm>
          <a:prstGeom prst="rect">
            <a:avLst/>
          </a:prstGeom>
          <a:noFill/>
          <a:ln/>
        </p:spPr>
        <p:txBody>
          <a:bodyPr wrap="square"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7" name="Shape 5"/>
          <p:cNvSpPr/>
          <p:nvPr/>
        </p:nvSpPr>
        <p:spPr>
          <a:xfrm>
            <a:off x="502920" y="1737360"/>
            <a:ext cx="2926080" cy="50292"/>
          </a:xfrm>
          <a:prstGeom prst="rect">
            <a:avLst/>
          </a:prstGeom>
          <a:solidFill>
            <a:srgbClr val="059669"/>
          </a:solidFill>
          <a:ln w="12700">
            <a:solidFill>
              <a:srgbClr val="059669"/>
            </a:solidFill>
            <a:prstDash val="solid"/>
          </a:ln>
        </p:spPr>
      </p:sp>
      <p:sp>
        <p:nvSpPr>
          <p:cNvPr id="8" name="Text 6"/>
          <p:cNvSpPr/>
          <p:nvPr/>
        </p:nvSpPr>
        <p:spPr>
          <a:xfrm>
            <a:off x="502920" y="1828800"/>
            <a:ext cx="5394960" cy="822960"/>
          </a:xfrm>
          <a:prstGeom prst="rect">
            <a:avLst/>
          </a:prstGeom>
          <a:noFill/>
          <a:ln/>
        </p:spPr>
        <p:txBody>
          <a:bodyPr wrap="square" rtlCol="0" anchor="ctr"/>
          <a:lstStyle/>
          <a:p>
            <a:pPr indent="0" marL="0">
              <a:lnSpc>
                <a:spcPct val="150000"/>
              </a:lnSpc>
              <a:buNone/>
            </a:pPr>
            <a:r>
              <a:rPr lang="en-US" sz="1600" i="1" dirty="0">
                <a:solidFill>
                  <a:srgbClr val="C4B5FD"/>
                </a:solidFill>
                <a:latin typeface="Calibri" pitchFamily="34" charset="0"/>
                <a:ea typeface="Calibri" pitchFamily="34" charset="-122"/>
                <a:cs typeface="Calibri" pitchFamily="34" charset="-120"/>
              </a:rPr>
              <a:t>Everyone has music inside them.</a:t>
            </a:r>
            <a:endParaRPr lang="en-US" sz="1600" dirty="0"/>
          </a:p>
          <a:p>
            <a:pPr indent="0" marL="0">
              <a:lnSpc>
                <a:spcPct val="150000"/>
              </a:lnSpc>
              <a:buNone/>
            </a:pPr>
            <a:r>
              <a:rPr lang="en-US" sz="1600" i="1" dirty="0">
                <a:solidFill>
                  <a:srgbClr val="C4B5FD"/>
                </a:solidFill>
                <a:latin typeface="Calibri" pitchFamily="34" charset="0"/>
                <a:ea typeface="Calibri" pitchFamily="34" charset="-122"/>
                <a:cs typeface="Calibri" pitchFamily="34" charset="-120"/>
              </a:rPr>
              <a:t>We built the studio to let it out.</a:t>
            </a:r>
            <a:endParaRPr lang="en-US" sz="1600" dirty="0"/>
          </a:p>
        </p:txBody>
      </p:sp>
      <p:sp>
        <p:nvSpPr>
          <p:cNvPr id="9" name="Shape 7"/>
          <p:cNvSpPr/>
          <p:nvPr/>
        </p:nvSpPr>
        <p:spPr>
          <a:xfrm>
            <a:off x="502920" y="2779776"/>
            <a:ext cx="1572768" cy="310896"/>
          </a:xfrm>
          <a:prstGeom prst="roundRect">
            <a:avLst>
              <a:gd name="adj" fmla="val 11765"/>
            </a:avLst>
          </a:prstGeom>
          <a:solidFill>
            <a:srgbClr val="7C3AED">
              <a:alpha val="80000"/>
            </a:srgbClr>
          </a:solidFill>
          <a:ln w="12700">
            <a:solidFill>
              <a:srgbClr val="7C3AED"/>
            </a:solidFill>
            <a:prstDash val="solid"/>
          </a:ln>
        </p:spPr>
      </p:sp>
      <p:sp>
        <p:nvSpPr>
          <p:cNvPr id="10" name="Text 8"/>
          <p:cNvSpPr/>
          <p:nvPr/>
        </p:nvSpPr>
        <p:spPr>
          <a:xfrm>
            <a:off x="502920" y="2779776"/>
            <a:ext cx="157276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 Training Needed</a:t>
            </a:r>
            <a:endParaRPr lang="en-US" sz="950" dirty="0"/>
          </a:p>
        </p:txBody>
      </p:sp>
      <p:sp>
        <p:nvSpPr>
          <p:cNvPr id="11" name="Shape 9"/>
          <p:cNvSpPr/>
          <p:nvPr/>
        </p:nvSpPr>
        <p:spPr>
          <a:xfrm>
            <a:off x="2240280" y="2779776"/>
            <a:ext cx="1572768" cy="310896"/>
          </a:xfrm>
          <a:prstGeom prst="roundRect">
            <a:avLst>
              <a:gd name="adj" fmla="val 11765"/>
            </a:avLst>
          </a:prstGeom>
          <a:solidFill>
            <a:srgbClr val="0891B2">
              <a:alpha val="80000"/>
            </a:srgbClr>
          </a:solidFill>
          <a:ln w="12700">
            <a:solidFill>
              <a:srgbClr val="0891B2"/>
            </a:solidFill>
            <a:prstDash val="solid"/>
          </a:ln>
        </p:spPr>
      </p:sp>
      <p:sp>
        <p:nvSpPr>
          <p:cNvPr id="12" name="Text 10"/>
          <p:cNvSpPr/>
          <p:nvPr/>
        </p:nvSpPr>
        <p:spPr>
          <a:xfrm>
            <a:off x="2240280" y="2779776"/>
            <a:ext cx="157276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 Download</a:t>
            </a:r>
            <a:endParaRPr lang="en-US" sz="950" dirty="0"/>
          </a:p>
        </p:txBody>
      </p:sp>
      <p:sp>
        <p:nvSpPr>
          <p:cNvPr id="13" name="Shape 11"/>
          <p:cNvSpPr/>
          <p:nvPr/>
        </p:nvSpPr>
        <p:spPr>
          <a:xfrm>
            <a:off x="3977640" y="2779776"/>
            <a:ext cx="1572768" cy="310896"/>
          </a:xfrm>
          <a:prstGeom prst="roundRect">
            <a:avLst>
              <a:gd name="adj" fmla="val 11765"/>
            </a:avLst>
          </a:prstGeom>
          <a:solidFill>
            <a:srgbClr val="059669">
              <a:alpha val="80000"/>
            </a:srgbClr>
          </a:solidFill>
          <a:ln w="12700">
            <a:solidFill>
              <a:srgbClr val="059669"/>
            </a:solidFill>
            <a:prstDash val="solid"/>
          </a:ln>
        </p:spPr>
      </p:sp>
      <p:sp>
        <p:nvSpPr>
          <p:cNvPr id="14" name="Text 12"/>
          <p:cNvSpPr/>
          <p:nvPr/>
        </p:nvSpPr>
        <p:spPr>
          <a:xfrm>
            <a:off x="3977640" y="2779776"/>
            <a:ext cx="157276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Free Forever</a:t>
            </a:r>
            <a:endParaRPr lang="en-US" sz="950" dirty="0"/>
          </a:p>
        </p:txBody>
      </p:sp>
      <p:sp>
        <p:nvSpPr>
          <p:cNvPr id="15" name="Text 13"/>
          <p:cNvSpPr/>
          <p:nvPr/>
        </p:nvSpPr>
        <p:spPr>
          <a:xfrm>
            <a:off x="502920" y="3218688"/>
            <a:ext cx="5394960" cy="256032"/>
          </a:xfrm>
          <a:prstGeom prst="rect">
            <a:avLst/>
          </a:prstGeom>
          <a:noFill/>
          <a:ln/>
        </p:spPr>
        <p:txBody>
          <a:bodyPr wrap="square" rtlCol="0" anchor="ctr"/>
          <a:lstStyle/>
          <a:p>
            <a:pPr indent="0" marL="0">
              <a:buNone/>
            </a:pPr>
            <a:r>
              <a:rPr lang="en-US" sz="1050" b="1" dirty="0">
                <a:solidFill>
                  <a:srgbClr val="A5B4FC"/>
                </a:solidFill>
                <a:latin typeface="Calibri" pitchFamily="34" charset="0"/>
                <a:ea typeface="Calibri" pitchFamily="34" charset="-122"/>
                <a:cs typeface="Calibri" pitchFamily="34" charset="-120"/>
              </a:rPr>
              <a:t>Future Roadmap:</a:t>
            </a:r>
            <a:endParaRPr lang="en-US" sz="1050" dirty="0"/>
          </a:p>
        </p:txBody>
      </p:sp>
      <p:sp>
        <p:nvSpPr>
          <p:cNvPr id="16" name="Shape 14"/>
          <p:cNvSpPr/>
          <p:nvPr/>
        </p:nvSpPr>
        <p:spPr>
          <a:xfrm>
            <a:off x="502920" y="3538728"/>
            <a:ext cx="82296" cy="82296"/>
          </a:xfrm>
          <a:prstGeom prst="ellipse">
            <a:avLst/>
          </a:prstGeom>
          <a:solidFill>
            <a:srgbClr val="059669"/>
          </a:solidFill>
          <a:ln w="12700">
            <a:solidFill>
              <a:srgbClr val="059669"/>
            </a:solidFill>
            <a:prstDash val="solid"/>
          </a:ln>
        </p:spPr>
      </p:sp>
      <p:sp>
        <p:nvSpPr>
          <p:cNvPr id="17" name="Text 15"/>
          <p:cNvSpPr/>
          <p:nvPr/>
        </p:nvSpPr>
        <p:spPr>
          <a:xfrm>
            <a:off x="658368" y="3493008"/>
            <a:ext cx="5230368" cy="237744"/>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v2.0 — Multi-instrument layering + real-time collaboration</a:t>
            </a:r>
            <a:endParaRPr lang="en-US" sz="1000" dirty="0"/>
          </a:p>
        </p:txBody>
      </p:sp>
      <p:sp>
        <p:nvSpPr>
          <p:cNvPr id="18" name="Shape 16"/>
          <p:cNvSpPr/>
          <p:nvPr/>
        </p:nvSpPr>
        <p:spPr>
          <a:xfrm>
            <a:off x="502920" y="3813048"/>
            <a:ext cx="82296" cy="82296"/>
          </a:xfrm>
          <a:prstGeom prst="ellipse">
            <a:avLst/>
          </a:prstGeom>
          <a:solidFill>
            <a:srgbClr val="059669"/>
          </a:solidFill>
          <a:ln w="12700">
            <a:solidFill>
              <a:srgbClr val="059669"/>
            </a:solidFill>
            <a:prstDash val="solid"/>
          </a:ln>
        </p:spPr>
      </p:sp>
      <p:sp>
        <p:nvSpPr>
          <p:cNvPr id="19" name="Text 17"/>
          <p:cNvSpPr/>
          <p:nvPr/>
        </p:nvSpPr>
        <p:spPr>
          <a:xfrm>
            <a:off x="658368" y="3767328"/>
            <a:ext cx="5230368" cy="237744"/>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v2.5 — React Native mobile app for iOS &amp; Android</a:t>
            </a:r>
            <a:endParaRPr lang="en-US" sz="1000" dirty="0"/>
          </a:p>
        </p:txBody>
      </p:sp>
      <p:sp>
        <p:nvSpPr>
          <p:cNvPr id="20" name="Shape 18"/>
          <p:cNvSpPr/>
          <p:nvPr/>
        </p:nvSpPr>
        <p:spPr>
          <a:xfrm>
            <a:off x="502920" y="4087368"/>
            <a:ext cx="82296" cy="82296"/>
          </a:xfrm>
          <a:prstGeom prst="ellipse">
            <a:avLst/>
          </a:prstGeom>
          <a:solidFill>
            <a:srgbClr val="059669"/>
          </a:solidFill>
          <a:ln w="12700">
            <a:solidFill>
              <a:srgbClr val="059669"/>
            </a:solidFill>
            <a:prstDash val="solid"/>
          </a:ln>
        </p:spPr>
      </p:sp>
      <p:sp>
        <p:nvSpPr>
          <p:cNvPr id="21" name="Text 19"/>
          <p:cNvSpPr/>
          <p:nvPr/>
        </p:nvSpPr>
        <p:spPr>
          <a:xfrm>
            <a:off x="658368" y="4041648"/>
            <a:ext cx="5230368" cy="237744"/>
          </a:xfrm>
          <a:prstGeom prst="rect">
            <a:avLst/>
          </a:prstGeom>
          <a:noFill/>
          <a:ln/>
        </p:spPr>
        <p:txBody>
          <a:bodyPr wrap="square" rtlCol="0" anchor="ctr"/>
          <a:lstStyle/>
          <a:p>
            <a:pPr indent="0" marL="0">
              <a:buNone/>
            </a:pPr>
            <a:r>
              <a:rPr lang="en-US" sz="1000" dirty="0">
                <a:solidFill>
                  <a:srgbClr val="A5B4FC"/>
                </a:solidFill>
                <a:latin typeface="Calibri" pitchFamily="34" charset="0"/>
                <a:ea typeface="Calibri" pitchFamily="34" charset="-122"/>
                <a:cs typeface="Calibri" pitchFamily="34" charset="-120"/>
              </a:rPr>
              <a:t>v3.0 — AI-prescribed therapy sessions based on mood detection</a:t>
            </a:r>
            <a:endParaRPr lang="en-US" sz="1000" dirty="0"/>
          </a:p>
        </p:txBody>
      </p:sp>
      <p:sp>
        <p:nvSpPr>
          <p:cNvPr id="22" name="Text 20"/>
          <p:cNvSpPr/>
          <p:nvPr/>
        </p:nvSpPr>
        <p:spPr>
          <a:xfrm>
            <a:off x="6309360" y="777240"/>
            <a:ext cx="2560320" cy="274320"/>
          </a:xfrm>
          <a:prstGeom prst="rect">
            <a:avLst/>
          </a:prstGeom>
          <a:noFill/>
          <a:ln/>
        </p:spPr>
        <p:txBody>
          <a:bodyPr wrap="square" rtlCol="0" anchor="ctr"/>
          <a:lstStyle/>
          <a:p>
            <a:pPr algn="ctr" indent="0" marL="0">
              <a:buNone/>
            </a:pPr>
            <a:r>
              <a:rPr lang="en-US" sz="900" b="1" spc="100" kern="0" dirty="0">
                <a:solidFill>
                  <a:srgbClr val="C4B5FD"/>
                </a:solidFill>
                <a:latin typeface="Consolas" pitchFamily="34" charset="0"/>
                <a:ea typeface="Consolas" pitchFamily="34" charset="-122"/>
                <a:cs typeface="Consolas" pitchFamily="34" charset="-120"/>
              </a:rPr>
              <a:t>Built By</a:t>
            </a:r>
            <a:endParaRPr lang="en-US" sz="900" dirty="0"/>
          </a:p>
        </p:txBody>
      </p:sp>
      <p:sp>
        <p:nvSpPr>
          <p:cNvPr id="23" name="Text 21"/>
          <p:cNvSpPr/>
          <p:nvPr/>
        </p:nvSpPr>
        <p:spPr>
          <a:xfrm>
            <a:off x="6309360" y="1133856"/>
            <a:ext cx="256032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Ajay Kushwaha</a:t>
            </a:r>
            <a:endParaRPr lang="en-US" sz="1150" dirty="0"/>
          </a:p>
        </p:txBody>
      </p:sp>
      <p:sp>
        <p:nvSpPr>
          <p:cNvPr id="24" name="Text 22"/>
          <p:cNvSpPr/>
          <p:nvPr/>
        </p:nvSpPr>
        <p:spPr>
          <a:xfrm>
            <a:off x="6309360" y="1517904"/>
            <a:ext cx="256032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Foram Upadhyay</a:t>
            </a:r>
            <a:endParaRPr lang="en-US" sz="1150" dirty="0"/>
          </a:p>
        </p:txBody>
      </p:sp>
      <p:sp>
        <p:nvSpPr>
          <p:cNvPr id="25" name="Text 23"/>
          <p:cNvSpPr/>
          <p:nvPr/>
        </p:nvSpPr>
        <p:spPr>
          <a:xfrm>
            <a:off x="6309360" y="1901952"/>
            <a:ext cx="256032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Kaushal Zala</a:t>
            </a:r>
            <a:endParaRPr lang="en-US" sz="1150" dirty="0"/>
          </a:p>
        </p:txBody>
      </p:sp>
      <p:sp>
        <p:nvSpPr>
          <p:cNvPr id="26" name="Text 24"/>
          <p:cNvSpPr/>
          <p:nvPr/>
        </p:nvSpPr>
        <p:spPr>
          <a:xfrm>
            <a:off x="6309360" y="2286000"/>
            <a:ext cx="256032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Riya Sakariya</a:t>
            </a:r>
            <a:endParaRPr lang="en-US" sz="1150" dirty="0"/>
          </a:p>
        </p:txBody>
      </p:sp>
      <p:sp>
        <p:nvSpPr>
          <p:cNvPr id="27" name="Shape 25"/>
          <p:cNvSpPr/>
          <p:nvPr/>
        </p:nvSpPr>
        <p:spPr>
          <a:xfrm>
            <a:off x="6400800" y="2889504"/>
            <a:ext cx="2377440" cy="0"/>
          </a:xfrm>
          <a:prstGeom prst="line">
            <a:avLst/>
          </a:prstGeom>
          <a:noFill/>
          <a:ln w="12700">
            <a:solidFill>
              <a:srgbClr val="6D28D9"/>
            </a:solidFill>
            <a:prstDash val="solid"/>
          </a:ln>
        </p:spPr>
      </p:sp>
      <p:sp>
        <p:nvSpPr>
          <p:cNvPr id="28" name="Text 26"/>
          <p:cNvSpPr/>
          <p:nvPr/>
        </p:nvSpPr>
        <p:spPr>
          <a:xfrm>
            <a:off x="6309360" y="2962656"/>
            <a:ext cx="2560320" cy="292608"/>
          </a:xfrm>
          <a:prstGeom prst="rect">
            <a:avLst/>
          </a:prstGeom>
          <a:noFill/>
          <a:ln/>
        </p:spPr>
        <p:txBody>
          <a:bodyPr wrap="square" rtlCol="0" anchor="ctr"/>
          <a:lstStyle/>
          <a:p>
            <a:pPr algn="ctr" indent="0" marL="0">
              <a:buNone/>
            </a:pPr>
            <a:r>
              <a:rPr lang="en-US" sz="1000" dirty="0">
                <a:solidFill>
                  <a:srgbClr val="A5B4FC"/>
                </a:solidFill>
                <a:latin typeface="Calibri" pitchFamily="34" charset="0"/>
                <a:ea typeface="Calibri" pitchFamily="34" charset="-122"/>
                <a:cs typeface="Calibri" pitchFamily="34" charset="-120"/>
              </a:rPr>
              <a:t>BCA 4th Semester</a:t>
            </a:r>
            <a:endParaRPr lang="en-US" sz="1000" dirty="0"/>
          </a:p>
        </p:txBody>
      </p:sp>
      <p:sp>
        <p:nvSpPr>
          <p:cNvPr id="29" name="Text 27"/>
          <p:cNvSpPr/>
          <p:nvPr/>
        </p:nvSpPr>
        <p:spPr>
          <a:xfrm>
            <a:off x="6309360" y="3273552"/>
            <a:ext cx="2560320" cy="292608"/>
          </a:xfrm>
          <a:prstGeom prst="rect">
            <a:avLst/>
          </a:prstGeom>
          <a:noFill/>
          <a:ln/>
        </p:spPr>
        <p:txBody>
          <a:bodyPr wrap="square" rtlCol="0" anchor="ctr"/>
          <a:lstStyle/>
          <a:p>
            <a:pPr algn="ctr" indent="0" marL="0">
              <a:buNone/>
            </a:pPr>
            <a:r>
              <a:rPr lang="en-US" sz="1000" dirty="0">
                <a:solidFill>
                  <a:srgbClr val="A5B4FC"/>
                </a:solidFill>
                <a:latin typeface="Calibri" pitchFamily="34" charset="0"/>
                <a:ea typeface="Calibri" pitchFamily="34" charset="-122"/>
                <a:cs typeface="Calibri" pitchFamily="34" charset="-120"/>
              </a:rPr>
              <a:t>PS-11 Hackathon 2026</a:t>
            </a:r>
            <a:endParaRPr lang="en-US" sz="1000" dirty="0"/>
          </a:p>
        </p:txBody>
      </p:sp>
      <p:sp>
        <p:nvSpPr>
          <p:cNvPr id="30" name="Text 28"/>
          <p:cNvSpPr/>
          <p:nvPr/>
        </p:nvSpPr>
        <p:spPr>
          <a:xfrm>
            <a:off x="6309360" y="3749040"/>
            <a:ext cx="2560320" cy="50292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CodePilot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CodePilot – AI Music &amp; Sound Therapy Studio</dc:title>
  <dc:subject>PptxGenJS Presentation</dc:subject>
  <dc:creator>PptxGenJS</dc:creator>
  <cp:lastModifiedBy>PptxGenJS</cp:lastModifiedBy>
  <cp:revision>1</cp:revision>
  <dcterms:created xsi:type="dcterms:W3CDTF">2026-03-19T05:27:47Z</dcterms:created>
  <dcterms:modified xsi:type="dcterms:W3CDTF">2026-03-19T05:27:47Z</dcterms:modified>
</cp:coreProperties>
</file>